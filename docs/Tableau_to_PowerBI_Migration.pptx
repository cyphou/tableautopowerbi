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4578"/>
            </a:gs>
            <a:gs pos="100000">
              <a:srgbClr val="0078D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Tableau →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2C811"/>
                </a:solidFill>
              </a:rPr>
              <a:t>Automated Migration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Migrate .twb/.twbx workbooks to .pbip projects — fully automated, zero manual rework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150
Focused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90088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133+
DAX Conversions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190
Visual 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1464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6
Reports Migrated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17152" y="5029200"/>
            <a:ext cx="1828800" cy="10972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5/6
Openability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Executive Summary — End-to-End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Full-Stack Migration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34440"/>
            <a:ext cx="5029200" cy="566928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📥 INPUT  —  TWB / TWBX / TDS / Prep / Hyper / Server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7556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874520"/>
            <a:ext cx="5029200" cy="566928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🔍 EXTRACT  —  23 object types → 23 JSON intermediate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957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514600"/>
            <a:ext cx="5029200" cy="566928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🧮 CONVERT  —  133+ DAX formulas • 43 M transforms • 87 connectors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03580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154680"/>
            <a:ext cx="5029200" cy="566928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⚙️ GENERATE  —  TMDL semantic model • PBIR v4.0 report • themes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67588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794760"/>
            <a:ext cx="5029200" cy="566928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🧠 OPTIMIZE  —  DAX AST rewriter • Time Intelligence inject • auto-fix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431596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434840"/>
            <a:ext cx="5029200" cy="566928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✅ VALIDATE  —  QA suite • governance • lineage • comparison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95604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05E5C"/>
                </a:solidFill>
              </a:rP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5074920"/>
            <a:ext cx="5029200" cy="566928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🚀 DEPLOY  —  PBI Service • Fabric • bundle • multi-tenant •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822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Optimization at Every 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1234440"/>
            <a:ext cx="301752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Data Layer
Smart M queries • incremental refresh
connection parameterization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234440"/>
            <a:ext cx="3017520" cy="105156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Semantic Layer
DAX optimizer (IF→SWITCH • COALESCE)
Time Intelligence auto-inject
SortByColumn • displayFolder • isHidden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2423160"/>
            <a:ext cx="3017520" cy="105156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Visual Layer
190 visual mappings • conditional format
theme extraction • responsive layout
reference lines • tooltips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23960" y="2423160"/>
            <a:ext cx="3017520" cy="1051560"/>
          </a:xfrm>
          <a:prstGeom prst="roundRect">
            <a:avLst/>
          </a:prstGeom>
          <a:solidFill>
            <a:srgbClr val="A4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</a:rPr>
              <a:t>Security Layer
RLS roles • USERPRINCIPALNAME()
ZIP slip / XXE defense
credential redaction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57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Migration ROI &amp; Business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⏱️
95%+
Time Saved
vs. manual rework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💰
~$0
Tooling Cost
Python stdlib only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🎯
5/6
Openability
one UC80 blocker 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4114800"/>
            <a:ext cx="1463040" cy="128016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292E"/>
                </a:solidFill>
              </a:rPr>
              <a:t>🔒
0
Runtime Claims
without authorized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05E5C"/>
                </a:solidFill>
              </a:rPr>
              <a:t>Zero external dependencies • Zero manual rework on standard workbooks • Enterprise-grade security (OWASP Top 10) • Full audit trail &amp; governance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Migration Pipeline — 2-Step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286000" cy="146304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Tableau Source
.twb / .twbx / .tds
Prep flows (.tfl)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🔍 EXTRACT
Parse XML → 23 JSON
files (worksheets,
calcs, datasources…)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⚙️ GENERATE
TMDL Semantic Model
PBIR v4.0 Report
Power Query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286000" cy="146304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📊 Power BI
.pbip project
Open in PBI Desktop
(March 2025+)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05E5C"/>
                </a:solidFill>
              </a:rPr>
              <a:t>↓  optional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3931920"/>
            <a:ext cx="2286000" cy="91440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4292E"/>
                </a:solidFill>
              </a:rPr>
              <a:t>🚀 Deploy to PBI Service / Fabric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578"/>
                </a:solidFill>
              </a:rPr>
              <a:t>23 Extracted Object Types: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worksheets • dashboards • datasources • calculations • parameters • filters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stories • actions • sets • groups • bins • hierarchies • sort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05E5C"/>
                </a:solidFill>
              </a:rPr>
              <a:t>aliases • custom SQL • user filters (→ RLS) • hyper file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2286000" cy="14630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🏭 Fabric Mode
Lakehouse + Dataflow
Notebook + DirectLake
+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</a:rPr>
              <a:t>--output-format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🔄 Complete Extraction
23 object types from .twb/.twbx
Prep flows, Hyper files, Server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12801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🧮 133+ DAX Conversions
LOD, table calcs, RANK, WINDOW
cross-table RELATED/LOOKUPVALUE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📊 190 Visual Types
Bar, line, map, treemap, Sankey
combo, gauge, word cloud,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2801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🔌 87 Data Connectors
SQL Server, Snowflake, BigQuery
Databricks, Oracle, Excel, CSV…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803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🧠 Smart Semantic Model
Calendar, hierarchies, calc groups
field params, RLS, perspectives
M identifier auto-quoting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8803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⚡ DAX Optimizer
IF→SWITCH, COALESCE, constant
folding, Time Intelligence inject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8803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🔗 Shared Semantic Model
Multi-WB merge, fingerprint match
Jaccard scoring, thin reports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28803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🔍 QA Suite &amp; Auto-Fix
17 auto-fix patterns, governance
lineage map, comparison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🏭 Fabric-Native Output
Lakehouse, Dataflow Gen2, PySpark
DirectLake, Data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80560"/>
            <a:ext cx="265176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🚀 Deploy Anywhere
PBI Service, Fabric, gateway
bundle deploy, multi-tenant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480560"/>
            <a:ext cx="265176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📈 Assessment &amp; Strategy
9-category readiness scoring
Import/DQ/Composite advisor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4480560"/>
            <a:ext cx="265176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🧪 Runtime Evidence
Injected executor boundary
fixtures, tolerances, mismatch paths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133+ DAX Conversions — Highlights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64592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1188720"/>
            <a:ext cx="411480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45720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DAX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LOD Fixed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69164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{FIXED [customer] : SUM([qty])}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CALCULATE(SUM([qty]),
  ALLEXCEPT('T','T'[customer]))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LOD Exclude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33172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{EXCLUDE [channel] : SUM([rev])}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3172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CALCULATE(SUM([rev]),
  REMOVEFILTERS('T'[channel]))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80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Iterator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297180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SUM(IF [status]="OK" THEN [qty])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7180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SUMX('Tbl',
  IF([status]="OK", [qty], 0))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1188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Table Calc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361188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RUNNING_SUM(SUM([sales]))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61188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CALCULATE(SUM([sales]),
  FILTER(ALL('T'),…))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5196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Rank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425196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RANK(SUM([revenue]))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5196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RANKX(ALL('T'),
  SUM('T'[revenue]))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9204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Cross-Table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489204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[col] from other table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89204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RELATED('Other'[col]) or
  LOOKUPVALUE(…)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532120"/>
            <a:ext cx="164592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3120" y="5532120"/>
            <a:ext cx="41148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USERNAME()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532120"/>
            <a:ext cx="5029200" cy="6400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USERPRINCIPALNAME()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172200"/>
            <a:ext cx="164592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78D4"/>
                </a:solidFill>
              </a:rPr>
              <a:t>Null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03120" y="6172200"/>
            <a:ext cx="41148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97627"/>
                </a:solidFill>
              </a:rPr>
              <a:t>ISNULL / ZN / IFNULL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6172200"/>
            <a:ext cx="50292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07C10"/>
                </a:solidFill>
              </a:rPr>
              <a:t>ISBLANK / IF(ISBLANK,…)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Lineage Map — Source-to-Target Traceability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</a:rPr>
              <a:t>Every migration produces lineage_map.json — visualized in the HTML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286000" cy="118872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Tableau
Datasource.Table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828800"/>
            <a:ext cx="2286000" cy="118872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Calculations
(formulas)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286000" cy="11887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PBI Semantic Model
(tables, measures,
relationships)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78D4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286000" cy="11887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Report Pages
(visuals, filters)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256032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📦 Tables
Tableau datasource.table
→ PBI table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3657600"/>
            <a:ext cx="256032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🧮 Calculations
Tableau calc formula
→ PBI measure/column + 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3657600"/>
            <a:ext cx="256032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🔗 Relationships
From Table[Col]
→ To Table[Col] + cardinality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8824" y="3657600"/>
            <a:ext cx="256032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📊 Worksheets
Tableau worksheet name
→ PBI report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</a:rPr>
              <a:t>HTML Dashboard: searchable/sortable tables per category • flow diagrams • stat cards • multi-workbook aggregation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Shared Semantic Model — Multi-Workbook Merge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1554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40"/>
            <a:ext cx="2011680" cy="914400"/>
          </a:xfrm>
          <a:prstGeom prst="roundRect">
            <a:avLst/>
          </a:prstGeom>
          <a:solidFill>
            <a:srgbClr val="E9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📄 Workbook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9319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828800"/>
            <a:ext cx="2560320" cy="1828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🔗 MERGE
Fingerprint matching
Jaccard scoring
Conflict 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371600"/>
            <a:ext cx="2560320" cy="1097280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📦 Shared
Semantic Model
(ONE model)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18872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A (thin)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325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9456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B (thin)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200400"/>
            <a:ext cx="2286000" cy="73152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292E"/>
                </a:solidFill>
              </a:rPr>
              <a:t>📊 Report C (thin)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337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5E5C"/>
                </a:solidFill>
              </a:rPr>
              <a:t>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05E5C"/>
                </a:solidFill>
              </a:rPr>
              <a:t>byPath → SharedModel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SHA-256 fingerprint-based table matching across workbooks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Jaccard column overlap scoring (0–100 merge score)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Measure, column, relationship deduplication &amp; conflict resolution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Global assessment: pairwise merge scoring + BFS clustering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>
                <a:solidFill>
                  <a:srgbClr val="24292E"/>
                </a:solidFill>
              </a:rPr>
              <a:t>  •  Bundle deployment: shared model + thin reports → Fabric workspace</a:t>
            </a:r>
          </a:p>
        </p:txBody>
      </p:sp>
      <p:pic>
        <p:nvPicPr>
          <p:cNvPr id="20" name="Picture 19" descr="share_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31920"/>
            <a:ext cx="8229600" cy="4174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Current Portfolio — 6 Reports Migrated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13716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6/6
PBIP Projects
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188720"/>
            <a:ext cx="2011680" cy="13716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5/6
Openability
Passed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2011680" cy="1371600"/>
          </a:xfrm>
          <a:prstGeom prst="roundRect">
            <a:avLst/>
          </a:prstGeom>
          <a:solidFill>
            <a:srgbClr val="A42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1
Blocked
(UC80)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188720"/>
            <a:ext cx="2011680" cy="137160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150
Focused
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1188720"/>
            <a:ext cx="2011680" cy="137160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v48
Roadmap
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Migrated reports — openability passed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Salesforce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347472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TDB Maintenance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nba_player_stats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02336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superstore_sales_dashboard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72000"/>
            <a:ext cx="228600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07C10"/>
                </a:solidFill>
              </a:rPr>
              <a:t>World Indicators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4262C"/>
                </a:solidFill>
              </a:rPr>
              <a:t>Blocked but generated: UC80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474720"/>
            <a:ext cx="566928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4262C"/>
                </a:solidFill>
              </a:rPr>
              <a:t>Missing semantic reference: Surveillance IPE Historique vision_domaine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4023360"/>
            <a:ext cx="566928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4262C"/>
                </a:solidFill>
              </a:rPr>
              <a:t>Missing visual measure: Show % (Indicateur Nat) - Domaine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4572000"/>
            <a:ext cx="5669280" cy="41148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7C10"/>
                </a:solidFill>
              </a:rPr>
              <a:t>All other static openability checks passed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4578"/>
                </a:solidFill>
              </a:rPr>
              <a:t>Six PBIP projects generated. Five pass static openability; live Desktop/Fabric evidence remains not_run.</a:t>
            </a:r>
          </a:p>
        </p:txBody>
      </p:sp>
      <p:pic>
        <p:nvPicPr>
          <p:cNvPr id="19" name="Picture 18" descr="migr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846320"/>
            <a:ext cx="5943600" cy="33459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Post-Migration Automation &amp; QA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2011680" cy="10972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Validate
(.pbip JSON/TMDL)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371600"/>
            <a:ext cx="2011680" cy="109728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Auto-Fix
(17 DAX patterns)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456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371600"/>
            <a:ext cx="2011680" cy="1097280"/>
          </a:xfrm>
          <a:prstGeom prst="roundRect">
            <a:avLst/>
          </a:prstGeom>
          <a:solidFill>
            <a:srgbClr val="038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Governance
(naming, PII,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371600"/>
            <a:ext cx="2011680" cy="10972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Compare
(Tableau vs PBI)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554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371600"/>
            <a:ext cx="2011680" cy="10972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qa_report.json
(pass/fail/score)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</a:rPr>
              <a:t>python migrate.py workbook.twbx --qa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🔧 Validator Auto-Fix
17 Tableau→DAX leak patterns:
ISNULL→ISBLANK, ZN→IF(ISBLANK),
ELSEIF→IF, ==→=, or→||, and→&amp;&amp;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📜 RLS PowerShell
Auto-generate .ps1 scripts for
Azure AD RLS role assignment
via Power BI REST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🔑 Credential Template
JSON placeholder file for each
datasource connection — ready
for DevOps pipeline injection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291840"/>
            <a:ext cx="2743200" cy="1828800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4292E"/>
                </a:solidFill>
              </a:rPr>
              <a:t>🔗 Lineage Map
lineage_map.json tracks every
object: tables, calcs, rels,
worksheets → HTML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4578"/>
                </a:solidFill>
              </a:rPr>
              <a:t>Testing &amp; CI/CD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188720"/>
            <a:ext cx="2011680" cy="1280160"/>
          </a:xfrm>
          <a:prstGeom prst="round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🔍 Lint
flake8 + ruff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188720"/>
            <a:ext cx="2011680" cy="128016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🧪 Test
150 focused tests
Python 3.14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456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2011680" cy="12801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✅ Validate
Strict .twbx
migrations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188720"/>
            <a:ext cx="2011680" cy="1280160"/>
          </a:xfrm>
          <a:prstGeom prst="roundRect">
            <a:avLst/>
          </a:prstGeom>
          <a:solidFill>
            <a:srgbClr val="F2C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292E"/>
                </a:solidFill>
              </a:rPr>
              <a:t>📦 Staging
Fabric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05E5C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188720"/>
            <a:ext cx="2011680" cy="12801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🚀 Production
Manual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4578"/>
                </a:solidFill>
              </a:rPr>
              <a:t>Focused release validation: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2860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291840"/>
            <a:ext cx="13716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3291840"/>
            <a:ext cx="4114800" cy="347472"/>
          </a:xfrm>
          <a:prstGeom prst="roundRect">
            <a:avLst/>
          </a:prstGeom>
          <a:solidFill>
            <a:srgbClr val="00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Coverage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Quality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657600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31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657600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Policies, fixtures, runtime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41648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Semantic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041648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6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041648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LOD, partitions, filter context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25696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M validation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425696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42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4425696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Power Query syntax and gates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09744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CLI/refactor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809744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49 tests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0" y="4809744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Batch, flags, migration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193792"/>
            <a:ext cx="22860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Skill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5193792"/>
            <a:ext cx="13716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15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0" y="5193792"/>
            <a:ext cx="4114800" cy="384048"/>
          </a:xfrm>
          <a:prstGeom prst="roundRect">
            <a:avLst/>
          </a:prstGeom>
          <a:solidFill>
            <a:srgbClr val="F3F2F1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Flag and workflow documentation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77840"/>
            <a:ext cx="22860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4292E"/>
                </a:solidFill>
              </a:rPr>
              <a:t>Focused total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577840"/>
            <a:ext cx="13716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8D4"/>
                </a:solidFill>
              </a:rPr>
              <a:t>150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5577840"/>
            <a:ext cx="411480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</a:rPr>
              <a:t>All selected release checks green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4578"/>
            </a:gs>
            <a:gs pos="100000">
              <a:srgbClr val="0078D4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1.  Open the five passing .pbip projects in Power BI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2.  Review and remediate the two UC80 reference blockers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3.  Run quality with --quality-policy enterprise or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49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4.  Load sanitized semantic fixtures with expected rows and tolerances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5.  Connect an authorized Power BI/Fabric semantic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6.  Run Desktop reopen, refresh, and Fabric post-deploy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5486400"/>
            <a:ext cx="8229600" cy="640080"/>
          </a:xfrm>
          <a:prstGeom prst="roundRect">
            <a:avLst/>
          </a:prstGeom>
          <a:solidFill>
            <a:srgbClr val="0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2C811"/>
                </a:solidFill>
              </a:rPr>
              <a:t>python migrate.py quality WORKBOOK --quality-policy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