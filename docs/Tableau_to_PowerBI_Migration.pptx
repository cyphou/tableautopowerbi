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Support en français. Aucun résultat client ni gain de temps mesuré n'est présenté. Les schémas sont des formes PowerPoint éditables.</a:t>
            </a:r>
          </a:p>
          <a:p/>
          <a:p>
            <a:r>
              <a:t>Sources de contenu (checkout de travail ; pas une certification) :</a:t>
            </a:r>
          </a:p>
          <a:p>
            <a:r>
              <a:t>Architecture et modes de source: https://github.com/cyphou/TableauToPowerBI/blob/main/docs/ARCHITECTURE.md</a:t>
            </a:r>
          </a:p>
          <a:p>
            <a:r>
              <a:t>Contrôles et critères de recette: https://github.com/cyphou/TableauToPowerBI/blob/main/docs/MIGRATION_CHECKLIST.md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Fonctionnalités et preuves datées: https://github.com/cyphou/TableauToPowerBI/blob/main/README.md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Fonctionnalités et preuves datées: https://github.com/cyphou/TableauToPowerBI/blob/main/README.md</a:t>
            </a:r>
          </a:p>
          <a:p>
            <a:r>
              <a:t>Inventaire des correspondances: https://github.com/cyphou/TableauToPowerBI/blob/main/docs/MAPPING_REFERENCE.md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Hyper &lt;= 10 * 1024 * 1024 octets : CSV + Import. Strictement au-dessus : Parquet natif + Import, SDK Hyper optionnel requis. Sans Hyper, DirectQuery si le connecteur le permet, sinon Import. L'utilisateur peut forcer Import. L'Import natif ne déclenche aucune extraction/copie de lignes par l'outil. Exception explicite : un classeur Excel réellement embarqué dans le TWBX est copié sans modification dans Data/ et lié par chemin absolu ; ce n'est pas une extraction de lignes, elle ne couvre ni les jobs téléversés ni les modèles partagés, et le chemin absolu local figure dans le projet. Fabric conserve un contrat de staging distinct.</a:t>
            </a:r>
          </a:p>
          <a:p/>
          <a:p>
            <a:r>
              <a:t>Sources de contenu (checkout de travail ; pas une certification) :</a:t>
            </a:r>
          </a:p>
          <a:p>
            <a:r>
              <a:t>Architecture et modes de source: https://github.com/cyphou/TableauToPowerBI/blob/main/docs/ARCHITECTURE.md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Commandes et exploitation: https://github.com/cyphou/TableauToPowerBI/blob/main/docs/USER_MANUAL.md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CLI Microsoft powerbi-report-author 0.5.0, validation avec schémas activés : 4/10 avant, 22 erreurs ; 10/10 après, zéro erreur et zéro avertissement CLI. Qualité unifiée : 4 PASS, 6 WARN, 0 FAIL. Suite locale historique : 11 850 passed, 66 skipped, 1 xfailed, 1 warning. Ne pas confondre ces résultats avec la CI courante, le moteur DAX, Desktop, refresh ou des gains de temps.</a:t>
            </a:r>
          </a:p>
          <a:p/>
          <a:p>
            <a:r>
              <a:t>Sources de contenu (checkout de travail ; pas une certification) :</a:t>
            </a:r>
          </a:p>
          <a:p>
            <a:r>
              <a:t>Fonctionnalités et preuves datées: https://github.com/cyphou/TableauToPowerBI/blob/main/README.md</a:t>
            </a:r>
          </a:p>
          <a:p>
            <a:r>
              <a:t>Validation Microsoft optionnelle: https://github.com/cyphou/TableauToPowerBI/blob/main/docs/POWERBI_PROJECT_GUIDE.md</a:t>
            </a:r>
          </a:p>
          <a:p>
            <a:r>
              <a:t>Tests et portée des résultats: https://github.com/cyphou/TableauToPowerBI/blob/main/tests/README.md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Les efforts assistés incluent revue humaine, remédiation et validation. 80 heures de setup sont ajoutées une seule fois. Jours-personnes de 8 heures, pas un délai calendaire. Le taux chargé de 100 euros/heure valorise une capacité de travail et n'établit pas une économie de trésorerie.</a:t>
            </a:r>
          </a:p>
          <a:p/>
          <a:p>
            <a:r>
              <a:t>Sources de contenu (checkout de travail ; pas une certification) :</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Référence : 1 600 h. Prudent : 80 + 100*8 = 880 h. Central : 80 + 100*5 = 580 h. Ambitieux : 80 + 100*3 = 380 h. Aucune de ces valeurs n'est un résultat de mesure terrain.</a:t>
            </a:r>
          </a:p>
          <a:p/>
          <a:p>
            <a:r>
              <a:t>Sources de contenu (checkout de travail ; pas une certification) :</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Prudent: manual=1600h, assisted=880h, saved=720h (45.0%), person_days=90.0, labor_value=72000 EUR.</a:t>
            </a:r>
          </a:p>
          <a:p>
            <a:r>
              <a:t>Central: manual=1600h, assisted=580h, saved=1020h (63.74999999999999%), person_days=127.5, labor_value=102000 EUR.</a:t>
            </a:r>
          </a:p>
          <a:p>
            <a:r>
              <a:t>Ambitieux: manual=1600h, assisted=380h, saved=1220h (76.25%), person_days=152.5, labor_value=122000 EUR.</a:t>
            </a:r>
          </a:p>
          <a:p/>
          <a:p>
            <a:r>
              <a:t>Sources de contenu (checkout de travail ; pas une certification) :</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r>
              <a:t>Le setup de 80 h et l'effort assisté incluent déjà la main-d'œuvre du scénario : ne pas les déduire une seconde fois. Définir C comme les coûts additionnels hors de cette main-d'œuvre (licences/capacité incrémentales, stockage, gateway, services non comptés, etc.). Valeur nette différentielle centrale = 102 000 EUR - C. ROI comparatif = (coût manuel - coût assisté total) / coût assisté total ; la référence, le périmètre et l'horizon doivent rester identiques.</a:t>
            </a:r>
          </a:p>
          <a:p/>
          <a:p>
            <a:r>
              <a:t>Sources de contenu (checkout de travail ; pas une certification) :</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Limites et approximations: https://github.com/cyphou/TableauToPowerBI/blob/main/docs/KNOWN_LIMITATIONS.md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Contrôles et critères de recette: https://github.com/cyphou/TableauToPowerBI/blob/main/docs/MIGRATION_CHECKLIST.md</a:t>
            </a:r>
          </a:p>
          <a:p>
            <a:r>
              <a:t>Publication séparément autorisée: https://github.com/cyphou/TableauToPowerBI/blob/main/docs/DEPLOYMENT_GUIDE.md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Architecture et modes de source: https://github.com/cyphou/TableauToPowerBI/blob/main/docs/ARCHITECTURE.md</a:t>
            </a:r>
          </a:p>
          <a:p>
            <a:r>
              <a:t>Fonctionnalités et preuves datées: https://github.com/cyphou/TableauToPowerBI/blob/main/README.md</a:t>
            </a:r>
          </a:p>
          <a:p>
            <a:r>
              <a:t>Contrôles et critères de recette: https://github.com/cyphou/TableauToPowerBI/blob/main/docs/MIGRATION_CHECKLIST.md</a:t>
            </a:r>
          </a:p>
          <a:p>
            <a:r>
              <a:t>Limites et approximations: https://github.com/cyphou/TableauToPowerBI/blob/main/docs/KNOWN_LIMITATIONS.md</a:t>
            </a:r>
          </a:p>
          <a:p>
            <a:r>
              <a:t>Validation Microsoft optionnelle: https://github.com/cyphou/TableauToPowerBI/blob/main/docs/POWERBI_PROJECT_GUIDE.md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Édition du 26.10.2026. Les preuves historiques sont datées séparément.</a:t>
            </a:r>
          </a:p>
          <a:p/>
          <a:p/>
          <a:p>
            <a:r>
              <a:t>Sources de contenu (checkout de travail ; pas une certification) :</a:t>
            </a:r>
          </a:p>
          <a:p>
            <a:r>
              <a:t>Contrôles et critères de recette: https://github.com/cyphou/TableauToPowerBI/blob/main/docs/MIGRATION_CHECKLIST.md</a:t>
            </a:r>
          </a:p>
          <a:p>
            <a:r>
              <a:t>Commandes et exploitation: https://github.com/cyphou/TableauToPowerBI/blob/main/docs/USER_MANUAL.md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github.com/cyphou/TableauToPowerBI/blob/main/docs/ARCHITECTURE.md" TargetMode="External"/><Relationship Id="rId4" Type="http://schemas.openxmlformats.org/officeDocument/2006/relationships/hyperlink" Target="https://github.com/cyphou/TableauToPowerBI/blob/main/README.md" TargetMode="External"/><Relationship Id="rId5" Type="http://schemas.openxmlformats.org/officeDocument/2006/relationships/hyperlink" Target="https://github.com/cyphou/TableauToPowerBI/blob/main/docs/MIGRATION_CHECKLIST.md" TargetMode="External"/><Relationship Id="rId6" Type="http://schemas.openxmlformats.org/officeDocument/2006/relationships/hyperlink" Target="https://github.com/cyphou/TableauToPowerBI/blob/main/docs/POWERBI_PROJECT_GUIDE.m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D26"/>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F2C811"/>
                </a:solidFill>
                <a:latin typeface="Aptos"/>
              </a:rPr>
              <a:t>VISION &amp; VALEUR</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FFFFFF"/>
                </a:solidFill>
                <a:latin typeface="Aptos Display"/>
              </a:rPr>
              <a:t/>
            </a:r>
          </a:p>
        </p:txBody>
      </p:sp>
      <p:sp>
        <p:nvSpPr>
          <p:cNvPr id="4" name="TextBox 3"/>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C9D8DF"/>
                </a:solidFill>
                <a:latin typeface="Aptos"/>
              </a:rPr>
              <a:t>Tableau to Power BI  |  Édition 26.10.2026  |  Vision &amp; valeur</a:t>
            </a:r>
          </a:p>
        </p:txBody>
      </p:sp>
      <p:sp>
        <p:nvSpPr>
          <p:cNvPr id="5" name="TextBox 4"/>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C9D8DF"/>
                </a:solidFill>
                <a:latin typeface="Aptos"/>
              </a:rPr>
              <a:t>01</a:t>
            </a:r>
          </a:p>
        </p:txBody>
      </p:sp>
      <p:sp>
        <p:nvSpPr>
          <p:cNvPr id="6" name="TextBox 5"/>
          <p:cNvSpPr txBox="1"/>
          <p:nvPr/>
        </p:nvSpPr>
        <p:spPr>
          <a:xfrm>
            <a:off x="594360" y="1243584"/>
            <a:ext cx="7498079" cy="411480"/>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F2C811"/>
                </a:solidFill>
                <a:latin typeface="Aptos"/>
              </a:rPr>
              <a:t>TABLEAU  →  POWER BI</a:t>
            </a:r>
          </a:p>
        </p:txBody>
      </p:sp>
      <p:sp>
        <p:nvSpPr>
          <p:cNvPr id="7" name="Deck title"/>
          <p:cNvSpPr txBox="1"/>
          <p:nvPr/>
        </p:nvSpPr>
        <p:spPr>
          <a:xfrm>
            <a:off x="594360" y="2029968"/>
            <a:ext cx="7772400" cy="1554480"/>
          </a:xfrm>
          <a:prstGeom prst="rect">
            <a:avLst/>
          </a:prstGeom>
          <a:noFill/>
        </p:spPr>
        <p:txBody>
          <a:bodyPr wrap="square" lIns="0" rIns="0" tIns="0" bIns="0" anchor="t">
            <a:noAutofit/>
          </a:bodyPr>
          <a:lstStyle/>
          <a:p>
            <a:pPr algn="l">
              <a:lnSpc>
                <a:spcPct val="108000"/>
              </a:lnSpc>
              <a:spcBef>
                <a:spcPts val="0"/>
              </a:spcBef>
              <a:spcAft>
                <a:spcPts val="500"/>
              </a:spcAft>
            </a:pPr>
            <a:r>
              <a:rPr sz="4200" b="1">
                <a:solidFill>
                  <a:srgbClr val="FFFFFF"/>
                </a:solidFill>
                <a:latin typeface="Aptos Display"/>
              </a:rPr>
              <a:t>Accélérer la migration.</a:t>
            </a:r>
          </a:p>
          <a:p>
            <a:pPr algn="l">
              <a:lnSpc>
                <a:spcPct val="108000"/>
              </a:lnSpc>
              <a:spcBef>
                <a:spcPts val="0"/>
              </a:spcBef>
              <a:spcAft>
                <a:spcPts val="500"/>
              </a:spcAft>
            </a:pPr>
            <a:r>
              <a:rPr sz="4200" b="1">
                <a:solidFill>
                  <a:srgbClr val="FFFFFF"/>
                </a:solidFill>
                <a:latin typeface="Aptos Display"/>
              </a:rPr>
              <a:t>Garder le contrôle.</a:t>
            </a:r>
          </a:p>
        </p:txBody>
      </p:sp>
      <p:sp>
        <p:nvSpPr>
          <p:cNvPr id="8" name="TextBox 7"/>
          <p:cNvSpPr txBox="1"/>
          <p:nvPr/>
        </p:nvSpPr>
        <p:spPr>
          <a:xfrm>
            <a:off x="594360" y="3977639"/>
            <a:ext cx="7589520" cy="749808"/>
          </a:xfrm>
          <a:prstGeom prst="rect">
            <a:avLst/>
          </a:prstGeom>
          <a:noFill/>
        </p:spPr>
        <p:txBody>
          <a:bodyPr wrap="square" lIns="0" rIns="0" tIns="0" bIns="0" anchor="t">
            <a:noAutofit/>
          </a:bodyPr>
          <a:lstStyle/>
          <a:p>
            <a:pPr algn="l">
              <a:lnSpc>
                <a:spcPct val="108000"/>
              </a:lnSpc>
              <a:spcBef>
                <a:spcPts val="0"/>
              </a:spcBef>
              <a:spcAft>
                <a:spcPts val="500"/>
              </a:spcAft>
            </a:pPr>
            <a:r>
              <a:rPr sz="1900" b="0">
                <a:solidFill>
                  <a:srgbClr val="C9D8DF"/>
                </a:solidFill>
                <a:latin typeface="Aptos"/>
              </a:rPr>
              <a:t>Industrialiser les tâches répétitives ;</a:t>
            </a:r>
          </a:p>
          <a:p>
            <a:pPr algn="l">
              <a:lnSpc>
                <a:spcPct val="108000"/>
              </a:lnSpc>
              <a:spcBef>
                <a:spcPts val="0"/>
              </a:spcBef>
              <a:spcAft>
                <a:spcPts val="500"/>
              </a:spcAft>
            </a:pPr>
            <a:r>
              <a:rPr sz="1900" b="0">
                <a:solidFill>
                  <a:srgbClr val="C9D8DF"/>
                </a:solidFill>
                <a:latin typeface="Aptos"/>
              </a:rPr>
              <a:t>réserver l'expertise à la validation métier.</a:t>
            </a:r>
          </a:p>
        </p:txBody>
      </p:sp>
      <p:pic>
        <p:nvPicPr>
          <p:cNvPr id="9" name="Picture 8" descr="logo-migration-dashboards.png"/>
          <p:cNvPicPr>
            <a:picLocks noChangeAspect="1"/>
          </p:cNvPicPr>
          <p:nvPr/>
        </p:nvPicPr>
        <p:blipFill>
          <a:blip r:embed="rId3"/>
          <a:stretch>
            <a:fillRect/>
          </a:stretch>
        </p:blipFill>
        <p:spPr>
          <a:xfrm>
            <a:off x="8732520" y="2066543"/>
            <a:ext cx="2423160" cy="2423160"/>
          </a:xfrm>
          <a:prstGeom prst="rect">
            <a:avLst/>
          </a:prstGeom>
        </p:spPr>
      </p:pic>
      <p:sp>
        <p:nvSpPr>
          <p:cNvPr id="10" name="Rounded Rectangle 9"/>
          <p:cNvSpPr/>
          <p:nvPr/>
        </p:nvSpPr>
        <p:spPr>
          <a:xfrm>
            <a:off x="594360" y="5294376"/>
            <a:ext cx="3200400" cy="320040"/>
          </a:xfrm>
          <a:prstGeom prst="roundRect">
            <a:avLst>
              <a:gd name="adj" fmla="val 12000"/>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330952"/>
            <a:ext cx="301752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182630"/>
                </a:solidFill>
                <a:latin typeface="Aptos"/>
              </a:rPr>
              <a:t>PROJETS ÉDITABLES</a:t>
            </a:r>
          </a:p>
        </p:txBody>
      </p:sp>
      <p:sp>
        <p:nvSpPr>
          <p:cNvPr id="12" name="Rounded Rectangle 11"/>
          <p:cNvSpPr/>
          <p:nvPr/>
        </p:nvSpPr>
        <p:spPr>
          <a:xfrm>
            <a:off x="4069080" y="5294376"/>
            <a:ext cx="33832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60520" y="5330952"/>
            <a:ext cx="32004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DÉCISION HUMAINE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VISION &amp; VALEUR</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Déplacer l'effort vers ce qui compte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Automatiser la reconstruction répétitive, sans masquer le travail d'acceptation.</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Vision &amp; valeur</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02</a:t>
            </a:r>
          </a:p>
        </p:txBody>
      </p:sp>
      <p:sp>
        <p:nvSpPr>
          <p:cNvPr id="7" name="Rounded Rectangle 6"/>
          <p:cNvSpPr/>
          <p:nvPr/>
        </p:nvSpPr>
        <p:spPr>
          <a:xfrm>
            <a:off x="594360" y="2468880"/>
            <a:ext cx="3429000" cy="27157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4672" y="267004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70205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01</a:t>
            </a:r>
          </a:p>
        </p:txBody>
      </p:sp>
      <p:sp>
        <p:nvSpPr>
          <p:cNvPr id="10" name="TextBox 9"/>
          <p:cNvSpPr txBox="1"/>
          <p:nvPr/>
        </p:nvSpPr>
        <p:spPr>
          <a:xfrm>
            <a:off x="1289304" y="263347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Réduire la répétition</a:t>
            </a:r>
          </a:p>
        </p:txBody>
      </p:sp>
      <p:sp>
        <p:nvSpPr>
          <p:cNvPr id="11" name="TextBox 10"/>
          <p:cNvSpPr txBox="1"/>
          <p:nvPr/>
        </p:nvSpPr>
        <p:spPr>
          <a:xfrm>
            <a:off x="804672" y="3355848"/>
            <a:ext cx="3008376" cy="173736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Extraire les métadonnées et générer un socle commun, plutôt que tout recréer à la main.</a:t>
            </a:r>
          </a:p>
        </p:txBody>
      </p:sp>
      <p:sp>
        <p:nvSpPr>
          <p:cNvPr id="12" name="Rounded Rectangle 11"/>
          <p:cNvSpPr/>
          <p:nvPr/>
        </p:nvSpPr>
        <p:spPr>
          <a:xfrm>
            <a:off x="4379976" y="2468880"/>
            <a:ext cx="3429000" cy="27157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90288" y="267004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70205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02</a:t>
            </a:r>
          </a:p>
        </p:txBody>
      </p:sp>
      <p:sp>
        <p:nvSpPr>
          <p:cNvPr id="15" name="TextBox 14"/>
          <p:cNvSpPr txBox="1"/>
          <p:nvPr/>
        </p:nvSpPr>
        <p:spPr>
          <a:xfrm>
            <a:off x="5074920" y="263347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Rendre les écarts visibles</a:t>
            </a:r>
          </a:p>
        </p:txBody>
      </p:sp>
      <p:sp>
        <p:nvSpPr>
          <p:cNvPr id="16" name="TextBox 15"/>
          <p:cNvSpPr txBox="1"/>
          <p:nvPr/>
        </p:nvSpPr>
        <p:spPr>
          <a:xfrm>
            <a:off x="4590288" y="3355848"/>
            <a:ext cx="3008376" cy="173736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Afficher avertissements, approximations et vérifications non exécutées.</a:t>
            </a:r>
          </a:p>
        </p:txBody>
      </p:sp>
      <p:sp>
        <p:nvSpPr>
          <p:cNvPr id="17" name="Rounded Rectangle 16"/>
          <p:cNvSpPr/>
          <p:nvPr/>
        </p:nvSpPr>
        <p:spPr>
          <a:xfrm>
            <a:off x="8165592" y="2468880"/>
            <a:ext cx="3429000" cy="271576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75904" y="2670048"/>
            <a:ext cx="347472" cy="34747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75904" y="2702052"/>
            <a:ext cx="347472" cy="219456"/>
          </a:xfrm>
          <a:prstGeom prst="rect">
            <a:avLst/>
          </a:prstGeom>
          <a:noFill/>
        </p:spPr>
        <p:txBody>
          <a:bodyPr wrap="square" lIns="0" rIns="0" tIns="0" bIns="0" anchor="t">
            <a:noAutofit/>
          </a:bodyPr>
          <a:lstStyle/>
          <a:p>
            <a:pPr algn="ctr">
              <a:lnSpc>
                <a:spcPct val="108000"/>
              </a:lnSpc>
              <a:spcBef>
                <a:spcPts val="0"/>
              </a:spcBef>
              <a:spcAft>
                <a:spcPts val="500"/>
              </a:spcAft>
            </a:pPr>
            <a:r>
              <a:rPr sz="1200" b="1">
                <a:solidFill>
                  <a:srgbClr val="FFFFFF"/>
                </a:solidFill>
                <a:latin typeface="Aptos"/>
              </a:rPr>
              <a:t>03</a:t>
            </a:r>
          </a:p>
        </p:txBody>
      </p:sp>
      <p:sp>
        <p:nvSpPr>
          <p:cNvPr id="20" name="TextBox 19"/>
          <p:cNvSpPr txBox="1"/>
          <p:nvPr/>
        </p:nvSpPr>
        <p:spPr>
          <a:xfrm>
            <a:off x="8860536" y="2633472"/>
            <a:ext cx="2523744"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Réutiliser le patrimoine</a:t>
            </a:r>
          </a:p>
        </p:txBody>
      </p:sp>
      <p:sp>
        <p:nvSpPr>
          <p:cNvPr id="21" name="TextBox 20"/>
          <p:cNvSpPr txBox="1"/>
          <p:nvPr/>
        </p:nvSpPr>
        <p:spPr>
          <a:xfrm>
            <a:off x="8375904" y="3355848"/>
            <a:ext cx="3008376" cy="173736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Consolider les modèles et préparer des vagues cohérentes, avec arbitrage des conflits.</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La valeur recherchée : de la capacité libérée et un processus plus reproductible.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VISION &amp; VALEUR</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Deux étapes, des livrables inspectables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L'extraction de métadonnées est distincte de l'export des données Hyper.</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Vision &amp; valeur</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03</a:t>
            </a:r>
          </a:p>
        </p:txBody>
      </p:sp>
      <p:sp>
        <p:nvSpPr>
          <p:cNvPr id="7" name="Rounded Rectangle 6"/>
          <p:cNvSpPr/>
          <p:nvPr/>
        </p:nvSpPr>
        <p:spPr>
          <a:xfrm>
            <a:off x="594360" y="2587752"/>
            <a:ext cx="2468880" cy="1261872"/>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Sources Tableau</a:t>
            </a:r>
          </a:p>
        </p:txBody>
      </p:sp>
      <p:sp>
        <p:nvSpPr>
          <p:cNvPr id="9" name="TextBox 8"/>
          <p:cNvSpPr txBox="1"/>
          <p:nvPr/>
        </p:nvSpPr>
        <p:spPr>
          <a:xfrm>
            <a:off x="75895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.twb / .twbx</a:t>
            </a:r>
          </a:p>
        </p:txBody>
      </p:sp>
      <p:sp>
        <p:nvSpPr>
          <p:cNvPr id="10" name="Chevron 9"/>
          <p:cNvSpPr/>
          <p:nvPr/>
        </p:nvSpPr>
        <p:spPr>
          <a:xfrm>
            <a:off x="314553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2587752"/>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Extraction</a:t>
            </a:r>
          </a:p>
        </p:txBody>
      </p:sp>
      <p:sp>
        <p:nvSpPr>
          <p:cNvPr id="13" name="TextBox 12"/>
          <p:cNvSpPr txBox="1"/>
          <p:nvPr/>
        </p:nvSpPr>
        <p:spPr>
          <a:xfrm>
            <a:off x="359359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XML et métadonnées</a:t>
            </a:r>
          </a:p>
        </p:txBody>
      </p:sp>
      <p:sp>
        <p:nvSpPr>
          <p:cNvPr id="14" name="Chevron 13"/>
          <p:cNvSpPr/>
          <p:nvPr/>
        </p:nvSpPr>
        <p:spPr>
          <a:xfrm>
            <a:off x="598017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2587752"/>
            <a:ext cx="246888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23 JSON</a:t>
            </a:r>
          </a:p>
        </p:txBody>
      </p:sp>
      <p:sp>
        <p:nvSpPr>
          <p:cNvPr id="17" name="TextBox 16"/>
          <p:cNvSpPr txBox="1"/>
          <p:nvPr/>
        </p:nvSpPr>
        <p:spPr>
          <a:xfrm>
            <a:off x="642823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Contrat intermédiaire</a:t>
            </a:r>
          </a:p>
        </p:txBody>
      </p:sp>
      <p:sp>
        <p:nvSpPr>
          <p:cNvPr id="18" name="Chevron 17"/>
          <p:cNvSpPr/>
          <p:nvPr/>
        </p:nvSpPr>
        <p:spPr>
          <a:xfrm>
            <a:off x="8814816" y="3108960"/>
            <a:ext cx="201168" cy="201168"/>
          </a:xfrm>
          <a:prstGeom prst="chevron">
            <a:avLst/>
          </a:prstGeom>
          <a:solidFill>
            <a:srgbClr val="526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98280" y="2587752"/>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2872" y="2761488"/>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Génération</a:t>
            </a:r>
          </a:p>
        </p:txBody>
      </p:sp>
      <p:sp>
        <p:nvSpPr>
          <p:cNvPr id="21" name="TextBox 20"/>
          <p:cNvSpPr txBox="1"/>
          <p:nvPr/>
        </p:nvSpPr>
        <p:spPr>
          <a:xfrm>
            <a:off x="9262872" y="3264408"/>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TMDL + PBIR + M</a:t>
            </a:r>
          </a:p>
        </p:txBody>
      </p:sp>
      <p:sp>
        <p:nvSpPr>
          <p:cNvPr id="22" name="Rounded Rectangle 21"/>
          <p:cNvSpPr/>
          <p:nvPr/>
        </p:nvSpPr>
        <p:spPr>
          <a:xfrm>
            <a:off x="594360" y="4270248"/>
            <a:ext cx="5312664"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453128"/>
            <a:ext cx="4892040" cy="548640"/>
          </a:xfrm>
          <a:prstGeom prst="rect">
            <a:avLst/>
          </a:prstGeom>
          <a:noFill/>
        </p:spPr>
        <p:txBody>
          <a:bodyPr wrap="square" lIns="0" rIns="0" tIns="0" bIns="0" anchor="ctr">
            <a:noAutofit/>
          </a:bodyPr>
          <a:lstStyle/>
          <a:p>
            <a:pPr algn="l">
              <a:lnSpc>
                <a:spcPct val="108000"/>
              </a:lnSpc>
              <a:spcBef>
                <a:spcPts val="0"/>
              </a:spcBef>
              <a:spcAft>
                <a:spcPts val="500"/>
              </a:spcAft>
            </a:pPr>
            <a:r>
              <a:rPr sz="2100" b="1">
                <a:solidFill>
                  <a:srgbClr val="007F79"/>
                </a:solidFill>
                <a:latin typeface="Aptos"/>
              </a:rPr>
              <a:t>PBIP / PBIR v4.0 / TMDL</a:t>
            </a:r>
          </a:p>
        </p:txBody>
      </p:sp>
      <p:sp>
        <p:nvSpPr>
          <p:cNvPr id="24" name="Rounded Rectangle 23"/>
          <p:cNvSpPr/>
          <p:nvPr/>
        </p:nvSpPr>
        <p:spPr>
          <a:xfrm>
            <a:off x="6272784" y="4270248"/>
            <a:ext cx="5312664"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3096" y="4453128"/>
            <a:ext cx="4892040" cy="548640"/>
          </a:xfrm>
          <a:prstGeom prst="rect">
            <a:avLst/>
          </a:prstGeom>
          <a:noFill/>
        </p:spPr>
        <p:txBody>
          <a:bodyPr wrap="square" lIns="0" rIns="0" tIns="0" bIns="0" anchor="ctr">
            <a:noAutofit/>
          </a:bodyPr>
          <a:lstStyle/>
          <a:p>
            <a:pPr algn="l">
              <a:lnSpc>
                <a:spcPct val="108000"/>
              </a:lnSpc>
              <a:spcBef>
                <a:spcPts val="0"/>
              </a:spcBef>
              <a:spcAft>
                <a:spcPts val="500"/>
              </a:spcAft>
            </a:pPr>
            <a:r>
              <a:rPr sz="2100" b="1">
                <a:solidFill>
                  <a:srgbClr val="007F79"/>
                </a:solidFill>
                <a:latin typeface="Aptos"/>
              </a:rPr>
              <a:t>Sources + preuves de qualité</a:t>
            </a:r>
          </a:p>
        </p:txBody>
      </p:sp>
      <p:sp>
        <p:nvSpPr>
          <p:cNvPr id="26" name="Rounded Rectangle 25"/>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Générer n'est ni actualiser les données, ni certifier la parité, ni publier.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FONCTIONNALITÉS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Six leviers fonctionnels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Des capacités de génération et d'analyse ; pas une équivalence universelle.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Fonctionnalités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04</a:t>
            </a:r>
          </a:p>
        </p:txBody>
      </p:sp>
      <p:sp>
        <p:nvSpPr>
          <p:cNvPr id="7" name="Rounded Rectangle 6"/>
          <p:cNvSpPr/>
          <p:nvPr/>
        </p:nvSpPr>
        <p:spPr>
          <a:xfrm>
            <a:off x="594360"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Évaluer</a:t>
            </a:r>
          </a:p>
        </p:txBody>
      </p:sp>
      <p:sp>
        <p:nvSpPr>
          <p:cNvPr id="9" name="TextBox 8"/>
          <p:cNvSpPr txBox="1"/>
          <p:nvPr/>
        </p:nvSpPr>
        <p:spPr>
          <a:xfrm>
            <a:off x="804672"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Complexité, risques, dépendances et préparation des vagues.</a:t>
            </a:r>
          </a:p>
        </p:txBody>
      </p:sp>
      <p:sp>
        <p:nvSpPr>
          <p:cNvPr id="10" name="Rounded Rectangle 9"/>
          <p:cNvSpPr/>
          <p:nvPr/>
        </p:nvSpPr>
        <p:spPr>
          <a:xfrm>
            <a:off x="4379976"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Convertir</a:t>
            </a:r>
          </a:p>
        </p:txBody>
      </p:sp>
      <p:sp>
        <p:nvSpPr>
          <p:cNvPr id="12" name="TextBox 11"/>
          <p:cNvSpPr txBox="1"/>
          <p:nvPr/>
        </p:nvSpPr>
        <p:spPr>
          <a:xfrm>
            <a:off x="4590288"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Modèle TMDL, expressions DAX, requêtes M et rapport PBIR.</a:t>
            </a:r>
          </a:p>
        </p:txBody>
      </p:sp>
      <p:sp>
        <p:nvSpPr>
          <p:cNvPr id="13" name="Rounded Rectangle 12"/>
          <p:cNvSpPr/>
          <p:nvPr/>
        </p:nvSpPr>
        <p:spPr>
          <a:xfrm>
            <a:off x="8165592" y="2322576"/>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5904" y="2487168"/>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Consolider</a:t>
            </a:r>
          </a:p>
        </p:txBody>
      </p:sp>
      <p:sp>
        <p:nvSpPr>
          <p:cNvPr id="15" name="TextBox 14"/>
          <p:cNvSpPr txBox="1"/>
          <p:nvPr/>
        </p:nvSpPr>
        <p:spPr>
          <a:xfrm>
            <a:off x="8375904" y="2926080"/>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Modèle partagé et rapports fins ; conflits à arbitrer.</a:t>
            </a:r>
          </a:p>
        </p:txBody>
      </p:sp>
      <p:sp>
        <p:nvSpPr>
          <p:cNvPr id="16" name="Rounded Rectangle 15"/>
          <p:cNvSpPr/>
          <p:nvPr/>
        </p:nvSpPr>
        <p:spPr>
          <a:xfrm>
            <a:off x="594360"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Préparer</a:t>
            </a:r>
          </a:p>
        </p:txBody>
      </p:sp>
      <p:sp>
        <p:nvSpPr>
          <p:cNvPr id="18" name="TextBox 17"/>
          <p:cNvSpPr txBox="1"/>
          <p:nvPr/>
        </p:nvSpPr>
        <p:spPr>
          <a:xfrm>
            <a:off x="804672"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Prep vers M, sources et lignage ; périmètre borné.</a:t>
            </a:r>
          </a:p>
        </p:txBody>
      </p:sp>
      <p:sp>
        <p:nvSpPr>
          <p:cNvPr id="19" name="Rounded Rectangle 18"/>
          <p:cNvSpPr/>
          <p:nvPr/>
        </p:nvSpPr>
        <p:spPr>
          <a:xfrm>
            <a:off x="4379976"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0288"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Contrôler</a:t>
            </a:r>
          </a:p>
        </p:txBody>
      </p:sp>
      <p:sp>
        <p:nvSpPr>
          <p:cNvPr id="21" name="TextBox 20"/>
          <p:cNvSpPr txBox="1"/>
          <p:nvPr/>
        </p:nvSpPr>
        <p:spPr>
          <a:xfrm>
            <a:off x="4590288"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Rapports de qualité, preuves, écarts et reprises.</a:t>
            </a:r>
          </a:p>
        </p:txBody>
      </p:sp>
      <p:sp>
        <p:nvSpPr>
          <p:cNvPr id="22" name="Rounded Rectangle 21"/>
          <p:cNvSpPr/>
          <p:nvPr/>
        </p:nvSpPr>
        <p:spPr>
          <a:xfrm>
            <a:off x="8165592" y="4032504"/>
            <a:ext cx="3429000" cy="1463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4" y="4197096"/>
            <a:ext cx="3008376" cy="393192"/>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Accompagner</a:t>
            </a:r>
          </a:p>
        </p:txBody>
      </p:sp>
      <p:sp>
        <p:nvSpPr>
          <p:cNvPr id="24" name="TextBox 23"/>
          <p:cNvSpPr txBox="1"/>
          <p:nvPr/>
        </p:nvSpPr>
        <p:spPr>
          <a:xfrm>
            <a:off x="8375904" y="4636008"/>
            <a:ext cx="3008376" cy="768096"/>
          </a:xfrm>
          <a:prstGeom prst="rect">
            <a:avLst/>
          </a:prstGeom>
          <a:noFill/>
        </p:spPr>
        <p:txBody>
          <a:bodyPr wrap="square" lIns="0" rIns="0" tIns="0" bIns="0" anchor="t">
            <a:noAutofit/>
          </a:bodyPr>
          <a:lstStyle/>
          <a:p>
            <a:pPr algn="l">
              <a:lnSpc>
                <a:spcPct val="108000"/>
              </a:lnSpc>
              <a:spcBef>
                <a:spcPts val="0"/>
              </a:spcBef>
              <a:spcAft>
                <a:spcPts val="500"/>
              </a:spcAft>
            </a:pPr>
            <a:r>
              <a:rPr sz="1450" b="0">
                <a:solidFill>
                  <a:srgbClr val="182630"/>
                </a:solidFill>
                <a:latin typeface="Aptos"/>
              </a:rPr>
              <a:t>Navigateur local, CLI et assistance IA optionnelle.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STRATÉGIE DES SOURCES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Hyper ou source native : une règle simple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Politique PBIP automatique ; la taille Hyper est mesurée décompressée.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Stratégie des sources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05</a:t>
            </a:r>
          </a:p>
        </p:txBody>
      </p:sp>
      <p:sp>
        <p:nvSpPr>
          <p:cNvPr id="7" name="Rounded Rectangle 6"/>
          <p:cNvSpPr/>
          <p:nvPr/>
        </p:nvSpPr>
        <p:spPr>
          <a:xfrm>
            <a:off x="594360" y="2313432"/>
            <a:ext cx="5303520" cy="320040"/>
          </a:xfrm>
          <a:prstGeom prst="roundRect">
            <a:avLst>
              <a:gd name="adj" fmla="val 12000"/>
            </a:avLst>
          </a:prstGeom>
          <a:solidFill>
            <a:srgbClr val="FCED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50008"/>
            <a:ext cx="51206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C85A17"/>
                </a:solidFill>
                <a:latin typeface="Aptos"/>
              </a:rPr>
              <a:t>HYPER PRÉSENT : EXPORT DU SNAPSHOT</a:t>
            </a:r>
          </a:p>
        </p:txBody>
      </p:sp>
      <p:sp>
        <p:nvSpPr>
          <p:cNvPr id="9" name="Rounded Rectangle 8"/>
          <p:cNvSpPr/>
          <p:nvPr/>
        </p:nvSpPr>
        <p:spPr>
          <a:xfrm>
            <a:off x="6263640" y="2313432"/>
            <a:ext cx="53035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79" y="2350008"/>
            <a:ext cx="51206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SANS HYPER : SOURCE CONSERVÉE</a:t>
            </a:r>
          </a:p>
        </p:txBody>
      </p:sp>
      <p:sp>
        <p:nvSpPr>
          <p:cNvPr id="11" name="Rounded Rectangle 10"/>
          <p:cNvSpPr/>
          <p:nvPr/>
        </p:nvSpPr>
        <p:spPr>
          <a:xfrm>
            <a:off x="594360" y="2916936"/>
            <a:ext cx="2468880" cy="1261872"/>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09067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 10 MiB</a:t>
            </a:r>
          </a:p>
        </p:txBody>
      </p:sp>
      <p:sp>
        <p:nvSpPr>
          <p:cNvPr id="13" name="TextBox 12"/>
          <p:cNvSpPr txBox="1"/>
          <p:nvPr/>
        </p:nvSpPr>
        <p:spPr>
          <a:xfrm>
            <a:off x="758952" y="3593591"/>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CSV + Import</a:t>
            </a:r>
          </a:p>
        </p:txBody>
      </p:sp>
      <p:sp>
        <p:nvSpPr>
          <p:cNvPr id="14" name="Rounded Rectangle 13"/>
          <p:cNvSpPr/>
          <p:nvPr/>
        </p:nvSpPr>
        <p:spPr>
          <a:xfrm>
            <a:off x="3429000" y="2916936"/>
            <a:ext cx="2468880" cy="1261872"/>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3090672"/>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&gt; 10 MiB</a:t>
            </a:r>
          </a:p>
        </p:txBody>
      </p:sp>
      <p:sp>
        <p:nvSpPr>
          <p:cNvPr id="16" name="TextBox 15"/>
          <p:cNvSpPr txBox="1"/>
          <p:nvPr/>
        </p:nvSpPr>
        <p:spPr>
          <a:xfrm>
            <a:off x="3593592" y="3593591"/>
            <a:ext cx="213969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Parquet + Import</a:t>
            </a:r>
          </a:p>
        </p:txBody>
      </p:sp>
      <p:sp>
        <p:nvSpPr>
          <p:cNvPr id="17" name="Rounded Rectangle 16"/>
          <p:cNvSpPr/>
          <p:nvPr/>
        </p:nvSpPr>
        <p:spPr>
          <a:xfrm>
            <a:off x="6263640" y="2916936"/>
            <a:ext cx="5303520" cy="1261872"/>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1" y="3090672"/>
            <a:ext cx="497433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DirectQuery si compatible</a:t>
            </a:r>
          </a:p>
        </p:txBody>
      </p:sp>
      <p:sp>
        <p:nvSpPr>
          <p:cNvPr id="19" name="TextBox 18"/>
          <p:cNvSpPr txBox="1"/>
          <p:nvPr/>
        </p:nvSpPr>
        <p:spPr>
          <a:xfrm>
            <a:off x="6428231" y="3593591"/>
            <a:ext cx="4974336" cy="521207"/>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Sinon Import</a:t>
            </a:r>
          </a:p>
        </p:txBody>
      </p:sp>
      <p:sp>
        <p:nvSpPr>
          <p:cNvPr id="20" name="TextBox 19"/>
          <p:cNvSpPr txBox="1"/>
          <p:nvPr/>
        </p:nvSpPr>
        <p:spPr>
          <a:xfrm>
            <a:off x="658368" y="4389120"/>
            <a:ext cx="5120640" cy="100584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Export réel des données Hyper.</a:t>
            </a:r>
          </a:p>
          <a:p>
            <a:pPr algn="l">
              <a:lnSpc>
                <a:spcPct val="108000"/>
              </a:lnSpc>
              <a:spcBef>
                <a:spcPts val="0"/>
              </a:spcBef>
              <a:spcAft>
                <a:spcPts val="500"/>
              </a:spcAft>
            </a:pPr>
            <a:r>
              <a:rPr sz="1600" b="0">
                <a:solidFill>
                  <a:srgbClr val="182630"/>
                </a:solidFill>
                <a:latin typeface="Aptos"/>
              </a:rPr>
              <a:t>Parquet : SDK Hyper optionnel requis.</a:t>
            </a:r>
          </a:p>
        </p:txBody>
      </p:sp>
      <p:sp>
        <p:nvSpPr>
          <p:cNvPr id="21" name="TextBox 20"/>
          <p:cNvSpPr txBox="1"/>
          <p:nvPr/>
        </p:nvSpPr>
        <p:spPr>
          <a:xfrm>
            <a:off x="6327648" y="4389120"/>
            <a:ext cx="5120640" cy="1005840"/>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Connexion, schéma et M uniquement.</a:t>
            </a:r>
          </a:p>
          <a:p>
            <a:pPr algn="l">
              <a:lnSpc>
                <a:spcPct val="108000"/>
              </a:lnSpc>
              <a:spcBef>
                <a:spcPts val="0"/>
              </a:spcBef>
              <a:spcAft>
                <a:spcPts val="500"/>
              </a:spcAft>
            </a:pPr>
            <a:r>
              <a:rPr sz="1600" b="0">
                <a:solidFill>
                  <a:srgbClr val="182630"/>
                </a:solidFill>
                <a:latin typeface="Aptos"/>
              </a:rPr>
              <a:t>Aucune extraction des données natives.</a:t>
            </a:r>
          </a:p>
          <a:p>
            <a:pPr algn="l">
              <a:lnSpc>
                <a:spcPct val="108000"/>
              </a:lnSpc>
              <a:spcBef>
                <a:spcPts val="0"/>
              </a:spcBef>
              <a:spcAft>
                <a:spcPts val="500"/>
              </a:spcAft>
            </a:pPr>
            <a:r>
              <a:rPr sz="1600" b="0">
                <a:solidFill>
                  <a:srgbClr val="182630"/>
                </a:solidFill>
                <a:latin typeface="Aptos"/>
              </a:rPr>
              <a:t>Excel embarqué : copié tel quel dans Data/.</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L'utilisateur garde la main : passer de DirectQuery à Import reste possible.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MODÈLE DE DELIVERY</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Un workflow avec des décisions humaines</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L'outil prépare ; le responsable métier et la plateforme acceptent le résultat.</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Modèle de delivery</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06</a:t>
            </a:r>
          </a:p>
        </p:txBody>
      </p:sp>
      <p:sp>
        <p:nvSpPr>
          <p:cNvPr id="7" name="Oval 6"/>
          <p:cNvSpPr/>
          <p:nvPr/>
        </p:nvSpPr>
        <p:spPr>
          <a:xfrm>
            <a:off x="143560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3560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1</a:t>
            </a:r>
          </a:p>
        </p:txBody>
      </p:sp>
      <p:sp>
        <p:nvSpPr>
          <p:cNvPr id="9" name="Chevron 8"/>
          <p:cNvSpPr/>
          <p:nvPr/>
        </p:nvSpPr>
        <p:spPr>
          <a:xfrm>
            <a:off x="294436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Inventorier</a:t>
            </a:r>
          </a:p>
        </p:txBody>
      </p:sp>
      <p:sp>
        <p:nvSpPr>
          <p:cNvPr id="11" name="TextBox 10"/>
          <p:cNvSpPr txBox="1"/>
          <p:nvPr/>
        </p:nvSpPr>
        <p:spPr>
          <a:xfrm>
            <a:off x="59436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Sources, dépendances,</a:t>
            </a:r>
          </a:p>
          <a:p>
            <a:pPr algn="l">
              <a:lnSpc>
                <a:spcPct val="108000"/>
              </a:lnSpc>
              <a:spcBef>
                <a:spcPts val="0"/>
              </a:spcBef>
              <a:spcAft>
                <a:spcPts val="500"/>
              </a:spcAft>
            </a:pPr>
            <a:r>
              <a:rPr sz="1700" b="0">
                <a:solidFill>
                  <a:srgbClr val="52616C"/>
                </a:solidFill>
                <a:latin typeface="Aptos"/>
              </a:rPr>
              <a:t>complexité</a:t>
            </a:r>
          </a:p>
        </p:txBody>
      </p:sp>
      <p:sp>
        <p:nvSpPr>
          <p:cNvPr id="12" name="Oval 11"/>
          <p:cNvSpPr/>
          <p:nvPr/>
        </p:nvSpPr>
        <p:spPr>
          <a:xfrm>
            <a:off x="427024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024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2</a:t>
            </a:r>
          </a:p>
        </p:txBody>
      </p:sp>
      <p:sp>
        <p:nvSpPr>
          <p:cNvPr id="14" name="Chevron 13"/>
          <p:cNvSpPr/>
          <p:nvPr/>
        </p:nvSpPr>
        <p:spPr>
          <a:xfrm>
            <a:off x="577900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Générer</a:t>
            </a:r>
          </a:p>
        </p:txBody>
      </p:sp>
      <p:sp>
        <p:nvSpPr>
          <p:cNvPr id="16" name="TextBox 15"/>
          <p:cNvSpPr txBox="1"/>
          <p:nvPr/>
        </p:nvSpPr>
        <p:spPr>
          <a:xfrm>
            <a:off x="342900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Projet éditable,</a:t>
            </a:r>
          </a:p>
          <a:p>
            <a:pPr algn="l">
              <a:lnSpc>
                <a:spcPct val="108000"/>
              </a:lnSpc>
              <a:spcBef>
                <a:spcPts val="0"/>
              </a:spcBef>
              <a:spcAft>
                <a:spcPts val="500"/>
              </a:spcAft>
            </a:pPr>
            <a:r>
              <a:rPr sz="1700" b="0">
                <a:solidFill>
                  <a:srgbClr val="52616C"/>
                </a:solidFill>
                <a:latin typeface="Aptos"/>
              </a:rPr>
              <a:t>registre des écarts</a:t>
            </a:r>
          </a:p>
        </p:txBody>
      </p:sp>
      <p:sp>
        <p:nvSpPr>
          <p:cNvPr id="17" name="Oval 16"/>
          <p:cNvSpPr/>
          <p:nvPr/>
        </p:nvSpPr>
        <p:spPr>
          <a:xfrm>
            <a:off x="7104888" y="2468880"/>
            <a:ext cx="713232" cy="713232"/>
          </a:xfrm>
          <a:prstGeom prst="ellipse">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0488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182630"/>
                </a:solidFill>
                <a:latin typeface="Aptos"/>
              </a:rPr>
              <a:t>3</a:t>
            </a:r>
          </a:p>
        </p:txBody>
      </p:sp>
      <p:sp>
        <p:nvSpPr>
          <p:cNvPr id="19" name="Chevron 18"/>
          <p:cNvSpPr/>
          <p:nvPr/>
        </p:nvSpPr>
        <p:spPr>
          <a:xfrm>
            <a:off x="8613648" y="2715768"/>
            <a:ext cx="201168" cy="201168"/>
          </a:xfrm>
          <a:prstGeom prst="chevron">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Valider</a:t>
            </a:r>
          </a:p>
        </p:txBody>
      </p:sp>
      <p:sp>
        <p:nvSpPr>
          <p:cNvPr id="21" name="TextBox 20"/>
          <p:cNvSpPr txBox="1"/>
          <p:nvPr/>
        </p:nvSpPr>
        <p:spPr>
          <a:xfrm>
            <a:off x="626364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Refresh, valeurs,</a:t>
            </a:r>
          </a:p>
          <a:p>
            <a:pPr algn="l">
              <a:lnSpc>
                <a:spcPct val="108000"/>
              </a:lnSpc>
              <a:spcBef>
                <a:spcPts val="0"/>
              </a:spcBef>
              <a:spcAft>
                <a:spcPts val="500"/>
              </a:spcAft>
            </a:pPr>
            <a:r>
              <a:rPr sz="1700" b="0">
                <a:solidFill>
                  <a:srgbClr val="52616C"/>
                </a:solidFill>
                <a:latin typeface="Aptos"/>
              </a:rPr>
              <a:t>visuels et sécurité</a:t>
            </a:r>
          </a:p>
        </p:txBody>
      </p:sp>
      <p:sp>
        <p:nvSpPr>
          <p:cNvPr id="22" name="Oval 21"/>
          <p:cNvSpPr/>
          <p:nvPr/>
        </p:nvSpPr>
        <p:spPr>
          <a:xfrm>
            <a:off x="9939528" y="2468880"/>
            <a:ext cx="713232" cy="713232"/>
          </a:xfrm>
          <a:prstGeom prst="ellipse">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39528" y="2615184"/>
            <a:ext cx="713232" cy="393192"/>
          </a:xfrm>
          <a:prstGeom prst="rect">
            <a:avLst/>
          </a:prstGeom>
          <a:noFill/>
        </p:spPr>
        <p:txBody>
          <a:bodyPr wrap="square" lIns="0" rIns="0" tIns="0" bIns="0" anchor="t">
            <a:noAutofit/>
          </a:bodyPr>
          <a:lstStyle/>
          <a:p>
            <a:pPr algn="ctr">
              <a:lnSpc>
                <a:spcPct val="108000"/>
              </a:lnSpc>
              <a:spcBef>
                <a:spcPts val="0"/>
              </a:spcBef>
              <a:spcAft>
                <a:spcPts val="500"/>
              </a:spcAft>
            </a:pPr>
            <a:r>
              <a:rPr sz="2400" b="1">
                <a:solidFill>
                  <a:srgbClr val="FFFFFF"/>
                </a:solidFill>
                <a:latin typeface="Aptos"/>
              </a:rPr>
              <a:t>4</a:t>
            </a:r>
          </a:p>
        </p:txBody>
      </p:sp>
      <p:sp>
        <p:nvSpPr>
          <p:cNvPr id="24" name="TextBox 23"/>
          <p:cNvSpPr txBox="1"/>
          <p:nvPr/>
        </p:nvSpPr>
        <p:spPr>
          <a:xfrm>
            <a:off x="9098280" y="3602736"/>
            <a:ext cx="2468880" cy="384048"/>
          </a:xfrm>
          <a:prstGeom prst="rect">
            <a:avLst/>
          </a:prstGeom>
          <a:noFill/>
        </p:spPr>
        <p:txBody>
          <a:bodyPr wrap="square" lIns="0" rIns="0" tIns="0" bIns="0" anchor="t">
            <a:noAutofit/>
          </a:bodyPr>
          <a:lstStyle/>
          <a:p>
            <a:pPr algn="l">
              <a:lnSpc>
                <a:spcPct val="108000"/>
              </a:lnSpc>
              <a:spcBef>
                <a:spcPts val="0"/>
              </a:spcBef>
              <a:spcAft>
                <a:spcPts val="500"/>
              </a:spcAft>
            </a:pPr>
            <a:r>
              <a:rPr sz="2200" b="1">
                <a:solidFill>
                  <a:srgbClr val="182630"/>
                </a:solidFill>
                <a:latin typeface="Aptos"/>
              </a:rPr>
              <a:t>Industrialiser</a:t>
            </a:r>
          </a:p>
        </p:txBody>
      </p:sp>
      <p:sp>
        <p:nvSpPr>
          <p:cNvPr id="25" name="TextBox 24"/>
          <p:cNvSpPr txBox="1"/>
          <p:nvPr/>
        </p:nvSpPr>
        <p:spPr>
          <a:xfrm>
            <a:off x="9098280" y="4169663"/>
            <a:ext cx="2468880" cy="859536"/>
          </a:xfrm>
          <a:prstGeom prst="rect">
            <a:avLst/>
          </a:prstGeom>
          <a:noFill/>
        </p:spPr>
        <p:txBody>
          <a:bodyPr wrap="square" lIns="0" rIns="0" tIns="0" bIns="0" anchor="t">
            <a:noAutofit/>
          </a:bodyPr>
          <a:lstStyle/>
          <a:p>
            <a:pPr algn="l">
              <a:lnSpc>
                <a:spcPct val="108000"/>
              </a:lnSpc>
              <a:spcBef>
                <a:spcPts val="0"/>
              </a:spcBef>
              <a:spcAft>
                <a:spcPts val="500"/>
              </a:spcAft>
            </a:pPr>
            <a:r>
              <a:rPr sz="1700" b="0">
                <a:solidFill>
                  <a:srgbClr val="52616C"/>
                </a:solidFill>
                <a:latin typeface="Aptos"/>
              </a:rPr>
              <a:t>Vagues, publication,</a:t>
            </a:r>
          </a:p>
          <a:p>
            <a:pPr algn="l">
              <a:lnSpc>
                <a:spcPct val="108000"/>
              </a:lnSpc>
              <a:spcBef>
                <a:spcPts val="0"/>
              </a:spcBef>
              <a:spcAft>
                <a:spcPts val="500"/>
              </a:spcAft>
            </a:pPr>
            <a:r>
              <a:rPr sz="1700" b="0">
                <a:solidFill>
                  <a:srgbClr val="52616C"/>
                </a:solidFill>
                <a:latin typeface="Aptos"/>
              </a:rPr>
              <a:t>support et reprise</a:t>
            </a:r>
          </a:p>
        </p:txBody>
      </p:sp>
      <p:sp>
        <p:nvSpPr>
          <p:cNvPr id="26" name="Rounded Rectangle 25"/>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Une génération réussie ne déclenche pas automatiquement une mise en production.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PREUVES OBSERVÉES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Une preuve statique, pas une promesse de parité</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Observations locales du 23.10.2026 sur un corpus public / synthétique.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Preuves observées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07</a:t>
            </a:r>
          </a:p>
        </p:txBody>
      </p:sp>
      <p:sp>
        <p:nvSpPr>
          <p:cNvPr id="7" name="Rounded Rectangle 6"/>
          <p:cNvSpPr/>
          <p:nvPr/>
        </p:nvSpPr>
        <p:spPr>
          <a:xfrm>
            <a:off x="594360"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4 → 10 / 10</a:t>
            </a:r>
          </a:p>
        </p:txBody>
      </p:sp>
      <p:sp>
        <p:nvSpPr>
          <p:cNvPr id="9" name="TextBox 8"/>
          <p:cNvSpPr txBox="1"/>
          <p:nvPr/>
        </p:nvSpPr>
        <p:spPr>
          <a:xfrm>
            <a:off x="804672"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Rapports validés</a:t>
            </a:r>
          </a:p>
        </p:txBody>
      </p:sp>
      <p:sp>
        <p:nvSpPr>
          <p:cNvPr id="10" name="TextBox 9"/>
          <p:cNvSpPr txBox="1"/>
          <p:nvPr/>
        </p:nvSpPr>
        <p:spPr>
          <a:xfrm>
            <a:off x="804672"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Validation Microsoft PBIR</a:t>
            </a:r>
          </a:p>
        </p:txBody>
      </p:sp>
      <p:sp>
        <p:nvSpPr>
          <p:cNvPr id="11" name="Rounded Rectangle 10"/>
          <p:cNvSpPr/>
          <p:nvPr/>
        </p:nvSpPr>
        <p:spPr>
          <a:xfrm>
            <a:off x="4379976"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22 → 0</a:t>
            </a:r>
          </a:p>
        </p:txBody>
      </p:sp>
      <p:sp>
        <p:nvSpPr>
          <p:cNvPr id="13" name="TextBox 12"/>
          <p:cNvSpPr txBox="1"/>
          <p:nvPr/>
        </p:nvSpPr>
        <p:spPr>
          <a:xfrm>
            <a:off x="4590288"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Erreurs CLI</a:t>
            </a:r>
          </a:p>
        </p:txBody>
      </p:sp>
      <p:sp>
        <p:nvSpPr>
          <p:cNvPr id="14" name="TextBox 13"/>
          <p:cNvSpPr txBox="1"/>
          <p:nvPr/>
        </p:nvSpPr>
        <p:spPr>
          <a:xfrm>
            <a:off x="4590288"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Schémas activés ; 0 warning final</a:t>
            </a:r>
          </a:p>
        </p:txBody>
      </p:sp>
      <p:sp>
        <p:nvSpPr>
          <p:cNvPr id="15" name="Rounded Rectangle 14"/>
          <p:cNvSpPr/>
          <p:nvPr/>
        </p:nvSpPr>
        <p:spPr>
          <a:xfrm>
            <a:off x="8165592" y="2542032"/>
            <a:ext cx="34290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5904" y="2752344"/>
            <a:ext cx="3008376" cy="603504"/>
          </a:xfrm>
          <a:prstGeom prst="rect">
            <a:avLst/>
          </a:prstGeom>
          <a:noFill/>
        </p:spPr>
        <p:txBody>
          <a:bodyPr wrap="square" lIns="0" rIns="0" tIns="0" bIns="0" anchor="t">
            <a:noAutofit/>
          </a:bodyPr>
          <a:lstStyle/>
          <a:p>
            <a:pPr algn="l">
              <a:lnSpc>
                <a:spcPct val="108000"/>
              </a:lnSpc>
              <a:spcBef>
                <a:spcPts val="0"/>
              </a:spcBef>
              <a:spcAft>
                <a:spcPts val="500"/>
              </a:spcAft>
            </a:pPr>
            <a:r>
              <a:rPr sz="3500" b="1">
                <a:solidFill>
                  <a:srgbClr val="007F79"/>
                </a:solidFill>
                <a:latin typeface="Aptos"/>
              </a:rPr>
              <a:t>11 850</a:t>
            </a:r>
          </a:p>
        </p:txBody>
      </p:sp>
      <p:sp>
        <p:nvSpPr>
          <p:cNvPr id="17" name="TextBox 16"/>
          <p:cNvSpPr txBox="1"/>
          <p:nvPr/>
        </p:nvSpPr>
        <p:spPr>
          <a:xfrm>
            <a:off x="8375904" y="3520440"/>
            <a:ext cx="3008376" cy="301752"/>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Tests locaux réussis</a:t>
            </a:r>
          </a:p>
        </p:txBody>
      </p:sp>
      <p:sp>
        <p:nvSpPr>
          <p:cNvPr id="18" name="TextBox 17"/>
          <p:cNvSpPr txBox="1"/>
          <p:nvPr/>
        </p:nvSpPr>
        <p:spPr>
          <a:xfrm>
            <a:off x="8375904" y="3950208"/>
            <a:ext cx="3008376" cy="329184"/>
          </a:xfrm>
          <a:prstGeom prst="rect">
            <a:avLst/>
          </a:prstGeom>
          <a:noFill/>
        </p:spPr>
        <p:txBody>
          <a:bodyPr wrap="square" lIns="0" rIns="0" tIns="0" bIns="0" anchor="t">
            <a:noAutofit/>
          </a:bodyPr>
          <a:lstStyle/>
          <a:p>
            <a:pPr algn="l">
              <a:lnSpc>
                <a:spcPct val="108000"/>
              </a:lnSpc>
              <a:spcBef>
                <a:spcPts val="0"/>
              </a:spcBef>
              <a:spcAft>
                <a:spcPts val="500"/>
              </a:spcAft>
            </a:pPr>
            <a:r>
              <a:rPr sz="1200" b="0">
                <a:solidFill>
                  <a:srgbClr val="52616C"/>
                </a:solidFill>
                <a:latin typeface="Aptos"/>
              </a:rPr>
              <a:t>66 skipped ; 1 xfailed ; 1 warning</a:t>
            </a:r>
          </a:p>
        </p:txBody>
      </p:sp>
      <p:sp>
        <p:nvSpPr>
          <p:cNvPr id="19" name="TextBox 18"/>
          <p:cNvSpPr txBox="1"/>
          <p:nvPr/>
        </p:nvSpPr>
        <p:spPr>
          <a:xfrm>
            <a:off x="658368" y="4818888"/>
            <a:ext cx="10789920" cy="329184"/>
          </a:xfrm>
          <a:prstGeom prst="rect">
            <a:avLst/>
          </a:prstGeom>
          <a:noFill/>
        </p:spPr>
        <p:txBody>
          <a:bodyPr wrap="square" lIns="0" rIns="0" tIns="0" bIns="0" anchor="t">
            <a:noAutofit/>
          </a:bodyPr>
          <a:lstStyle/>
          <a:p>
            <a:pPr algn="l">
              <a:lnSpc>
                <a:spcPct val="108000"/>
              </a:lnSpc>
              <a:spcBef>
                <a:spcPts val="0"/>
              </a:spcBef>
              <a:spcAft>
                <a:spcPts val="500"/>
              </a:spcAft>
            </a:pPr>
            <a:r>
              <a:rPr sz="1700" b="1">
                <a:solidFill>
                  <a:srgbClr val="182630"/>
                </a:solidFill>
                <a:latin typeface="Aptos"/>
              </a:rPr>
              <a:t>Qualité unifiée : 4 PASS / 6 WARN / 0 FAIL — les réserves restent visibles.</a:t>
            </a:r>
          </a:p>
        </p:txBody>
      </p:sp>
      <p:sp>
        <p:nvSpPr>
          <p:cNvPr id="20" name="Rounded Rectangle 19"/>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Moteur modèle, ouverture Desktop, refresh, parité et déploiement : preuves séparées.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HYPOTHÈSES DU BUSINESS CASE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Comparer le même périmètre de travail</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Simulation commerciale ajustable — aucun benchmark de productivité mesuré.</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Hypothèses du business case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08</a:t>
            </a:r>
          </a:p>
        </p:txBody>
      </p:sp>
      <p:sp>
        <p:nvSpPr>
          <p:cNvPr id="7" name="Rounded Rectangle 6"/>
          <p:cNvSpPr/>
          <p:nvPr/>
        </p:nvSpPr>
        <p:spPr>
          <a:xfrm>
            <a:off x="594360" y="2432304"/>
            <a:ext cx="5312664" cy="25694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96896"/>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C85A17"/>
                </a:solidFill>
                <a:latin typeface="Aptos"/>
              </a:rPr>
              <a:t>Référence manuelle</a:t>
            </a:r>
          </a:p>
        </p:txBody>
      </p:sp>
      <p:sp>
        <p:nvSpPr>
          <p:cNvPr id="9" name="TextBox 8"/>
          <p:cNvSpPr txBox="1"/>
          <p:nvPr/>
        </p:nvSpPr>
        <p:spPr>
          <a:xfrm>
            <a:off x="804672" y="3319272"/>
            <a:ext cx="4892040" cy="1591056"/>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100 rapports × 16 h</a:t>
            </a:r>
          </a:p>
          <a:p>
            <a:pPr algn="l">
              <a:lnSpc>
                <a:spcPct val="108000"/>
              </a:lnSpc>
              <a:spcBef>
                <a:spcPts val="0"/>
              </a:spcBef>
              <a:spcAft>
                <a:spcPts val="500"/>
              </a:spcAft>
            </a:pPr>
            <a:r>
              <a:rPr sz="1600" b="0">
                <a:solidFill>
                  <a:srgbClr val="182630"/>
                </a:solidFill>
                <a:latin typeface="Aptos"/>
              </a:rPr>
              <a:t>= 1 600 heures</a:t>
            </a:r>
          </a:p>
          <a:p>
            <a:pPr algn="l">
              <a:lnSpc>
                <a:spcPct val="108000"/>
              </a:lnSpc>
              <a:spcBef>
                <a:spcPts val="0"/>
              </a:spcBef>
              <a:spcAft>
                <a:spcPts val="500"/>
              </a:spcAft>
            </a:pPr>
            <a:r>
              <a:rPr sz="1600" b="0">
                <a:solidFill>
                  <a:srgbClr val="182630"/>
                </a:solidFill>
                <a:latin typeface="Aptos"/>
              </a:rPr>
              <a:t>= 200 jours-personnes</a:t>
            </a:r>
          </a:p>
        </p:txBody>
      </p:sp>
      <p:sp>
        <p:nvSpPr>
          <p:cNvPr id="10" name="Rounded Rectangle 9"/>
          <p:cNvSpPr/>
          <p:nvPr/>
        </p:nvSpPr>
        <p:spPr>
          <a:xfrm>
            <a:off x="6272784" y="2432304"/>
            <a:ext cx="5312664" cy="256946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596896"/>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Migration assistée</a:t>
            </a:r>
          </a:p>
        </p:txBody>
      </p:sp>
      <p:sp>
        <p:nvSpPr>
          <p:cNvPr id="12" name="TextBox 11"/>
          <p:cNvSpPr txBox="1"/>
          <p:nvPr/>
        </p:nvSpPr>
        <p:spPr>
          <a:xfrm>
            <a:off x="6483096" y="3319272"/>
            <a:ext cx="4892040" cy="1591056"/>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80 h de mise en place</a:t>
            </a:r>
          </a:p>
          <a:p>
            <a:pPr algn="l">
              <a:lnSpc>
                <a:spcPct val="108000"/>
              </a:lnSpc>
              <a:spcBef>
                <a:spcPts val="0"/>
              </a:spcBef>
              <a:spcAft>
                <a:spcPts val="500"/>
              </a:spcAft>
            </a:pPr>
            <a:r>
              <a:rPr sz="1600" b="0">
                <a:solidFill>
                  <a:srgbClr val="182630"/>
                </a:solidFill>
                <a:latin typeface="Aptos"/>
              </a:rPr>
              <a:t>+ 100 × effort assisté par rapport</a:t>
            </a:r>
          </a:p>
          <a:p>
            <a:pPr algn="l">
              <a:lnSpc>
                <a:spcPct val="108000"/>
              </a:lnSpc>
              <a:spcBef>
                <a:spcPts val="0"/>
              </a:spcBef>
              <a:spcAft>
                <a:spcPts val="500"/>
              </a:spcAft>
            </a:pPr>
            <a:r>
              <a:rPr sz="1600" b="0">
                <a:solidFill>
                  <a:srgbClr val="182630"/>
                </a:solidFill>
                <a:latin typeface="Aptos"/>
              </a:rPr>
              <a:t>Revue et validation humaines incluses.</a:t>
            </a:r>
          </a:p>
        </p:txBody>
      </p:sp>
      <p:sp>
        <p:nvSpPr>
          <p:cNvPr id="13" name="Rounded Rectangle 1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Taux chargé illustratif : 100 €/h  |  1 jour-personne = 8 h, pas un délai de livraison.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SIMULATION ILLUSTRATIVE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Trois scénarios, pas une promesse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Charge totale en heures ; les 80 h de mise en place sont incluses dans chaque scénario.</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Simulation illustrative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09</a:t>
            </a:r>
          </a:p>
        </p:txBody>
      </p:sp>
      <p:sp>
        <p:nvSpPr>
          <p:cNvPr id="7" name="TextBox 6"/>
          <p:cNvSpPr txBox="1"/>
          <p:nvPr/>
        </p:nvSpPr>
        <p:spPr>
          <a:xfrm>
            <a:off x="594360" y="2560320"/>
            <a:ext cx="1920240" cy="36576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182630"/>
                </a:solidFill>
                <a:latin typeface="Aptos"/>
              </a:rPr>
              <a:t>Manuel</a:t>
            </a:r>
          </a:p>
        </p:txBody>
      </p:sp>
      <p:sp>
        <p:nvSpPr>
          <p:cNvPr id="8" name="Rounded Rectangle 7"/>
          <p:cNvSpPr/>
          <p:nvPr/>
        </p:nvSpPr>
        <p:spPr>
          <a:xfrm>
            <a:off x="2761488" y="2532888"/>
            <a:ext cx="6583680" cy="402336"/>
          </a:xfrm>
          <a:prstGeom prst="roundRect">
            <a:avLst>
              <a:gd name="adj" fmla="val 12000"/>
            </a:avLst>
          </a:prstGeom>
          <a:solidFill>
            <a:srgbClr val="C85A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551176"/>
            <a:ext cx="1828800" cy="356616"/>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C85A17"/>
                </a:solidFill>
                <a:latin typeface="Aptos"/>
              </a:rPr>
              <a:t>1 600 h</a:t>
            </a:r>
          </a:p>
        </p:txBody>
      </p:sp>
      <p:sp>
        <p:nvSpPr>
          <p:cNvPr id="10" name="TextBox 9"/>
          <p:cNvSpPr txBox="1"/>
          <p:nvPr/>
        </p:nvSpPr>
        <p:spPr>
          <a:xfrm>
            <a:off x="594360" y="3264408"/>
            <a:ext cx="1920240" cy="36576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182630"/>
                </a:solidFill>
                <a:latin typeface="Aptos"/>
              </a:rPr>
              <a:t>Prudent</a:t>
            </a:r>
          </a:p>
        </p:txBody>
      </p:sp>
      <p:sp>
        <p:nvSpPr>
          <p:cNvPr id="11" name="Rounded Rectangle 10"/>
          <p:cNvSpPr/>
          <p:nvPr/>
        </p:nvSpPr>
        <p:spPr>
          <a:xfrm>
            <a:off x="2761488" y="3236976"/>
            <a:ext cx="3621024" cy="402336"/>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0" y="3255264"/>
            <a:ext cx="1828800" cy="356616"/>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880 h</a:t>
            </a:r>
          </a:p>
        </p:txBody>
      </p:sp>
      <p:sp>
        <p:nvSpPr>
          <p:cNvPr id="13" name="TextBox 12"/>
          <p:cNvSpPr txBox="1"/>
          <p:nvPr/>
        </p:nvSpPr>
        <p:spPr>
          <a:xfrm>
            <a:off x="594360" y="3968496"/>
            <a:ext cx="1920240" cy="36576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182630"/>
                </a:solidFill>
                <a:latin typeface="Aptos"/>
              </a:rPr>
              <a:t>Central</a:t>
            </a:r>
          </a:p>
        </p:txBody>
      </p:sp>
      <p:sp>
        <p:nvSpPr>
          <p:cNvPr id="14" name="Rounded Rectangle 13"/>
          <p:cNvSpPr/>
          <p:nvPr/>
        </p:nvSpPr>
        <p:spPr>
          <a:xfrm>
            <a:off x="2761488" y="3941064"/>
            <a:ext cx="2386584" cy="402336"/>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3959352"/>
            <a:ext cx="1828800" cy="356616"/>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182630"/>
                </a:solidFill>
                <a:latin typeface="Aptos"/>
              </a:rPr>
              <a:t>580 h</a:t>
            </a:r>
          </a:p>
        </p:txBody>
      </p:sp>
      <p:sp>
        <p:nvSpPr>
          <p:cNvPr id="16" name="TextBox 15"/>
          <p:cNvSpPr txBox="1"/>
          <p:nvPr/>
        </p:nvSpPr>
        <p:spPr>
          <a:xfrm>
            <a:off x="594360" y="4672584"/>
            <a:ext cx="1920240" cy="36576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182630"/>
                </a:solidFill>
                <a:latin typeface="Aptos"/>
              </a:rPr>
              <a:t>Ambitieux</a:t>
            </a:r>
          </a:p>
        </p:txBody>
      </p:sp>
      <p:sp>
        <p:nvSpPr>
          <p:cNvPr id="17" name="Rounded Rectangle 16"/>
          <p:cNvSpPr/>
          <p:nvPr/>
        </p:nvSpPr>
        <p:spPr>
          <a:xfrm>
            <a:off x="2761488" y="4645152"/>
            <a:ext cx="1563624" cy="402336"/>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4663440"/>
            <a:ext cx="1828800" cy="356616"/>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380 h</a:t>
            </a:r>
          </a:p>
        </p:txBody>
      </p:sp>
      <p:sp>
        <p:nvSpPr>
          <p:cNvPr id="19" name="Rounded Rectangle 18"/>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Effort assisté supposé : prudent 8 h / rapport ; central 5 h ; ambitieux 3 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SIMULATION ILLUSTRATIVE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Valoriser la capacité potentiellement libérée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Équivalent de charge évitée ; ni économie garantie, ni ROI net mesuré.</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Simulation illustrative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10</a:t>
            </a:r>
          </a:p>
        </p:txBody>
      </p:sp>
      <p:sp>
        <p:nvSpPr>
          <p:cNvPr id="7" name="Rounded Rectangle 6"/>
          <p:cNvSpPr/>
          <p:nvPr/>
        </p:nvSpPr>
        <p:spPr>
          <a:xfrm>
            <a:off x="594360" y="2423160"/>
            <a:ext cx="3429000" cy="27797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633472"/>
            <a:ext cx="3008376" cy="310896"/>
          </a:xfrm>
          <a:prstGeom prst="rect">
            <a:avLst/>
          </a:prstGeom>
          <a:noFill/>
        </p:spPr>
        <p:txBody>
          <a:bodyPr wrap="square" lIns="0" rIns="0" tIns="0" bIns="0" anchor="t">
            <a:noAutofit/>
          </a:bodyPr>
          <a:lstStyle/>
          <a:p>
            <a:pPr algn="l">
              <a:lnSpc>
                <a:spcPct val="108000"/>
              </a:lnSpc>
              <a:spcBef>
                <a:spcPts val="0"/>
              </a:spcBef>
              <a:spcAft>
                <a:spcPts val="500"/>
              </a:spcAft>
            </a:pPr>
            <a:r>
              <a:rPr sz="2000" b="1">
                <a:solidFill>
                  <a:srgbClr val="182630"/>
                </a:solidFill>
                <a:latin typeface="Aptos"/>
              </a:rPr>
              <a:t>Prudent</a:t>
            </a:r>
          </a:p>
        </p:txBody>
      </p:sp>
      <p:sp>
        <p:nvSpPr>
          <p:cNvPr id="9" name="TextBox 8"/>
          <p:cNvSpPr txBox="1"/>
          <p:nvPr/>
        </p:nvSpPr>
        <p:spPr>
          <a:xfrm>
            <a:off x="804672" y="3154680"/>
            <a:ext cx="3008376" cy="576072"/>
          </a:xfrm>
          <a:prstGeom prst="rect">
            <a:avLst/>
          </a:prstGeom>
          <a:noFill/>
        </p:spPr>
        <p:txBody>
          <a:bodyPr wrap="square" lIns="0" rIns="0" tIns="0" bIns="0" anchor="t">
            <a:noAutofit/>
          </a:bodyPr>
          <a:lstStyle/>
          <a:p>
            <a:pPr algn="l">
              <a:lnSpc>
                <a:spcPct val="108000"/>
              </a:lnSpc>
              <a:spcBef>
                <a:spcPts val="0"/>
              </a:spcBef>
              <a:spcAft>
                <a:spcPts val="500"/>
              </a:spcAft>
            </a:pPr>
            <a:r>
              <a:rPr sz="3700" b="1">
                <a:solidFill>
                  <a:srgbClr val="007F79"/>
                </a:solidFill>
                <a:latin typeface="Aptos"/>
              </a:rPr>
              <a:t>720 h</a:t>
            </a:r>
          </a:p>
        </p:txBody>
      </p:sp>
      <p:sp>
        <p:nvSpPr>
          <p:cNvPr id="10" name="TextBox 9"/>
          <p:cNvSpPr txBox="1"/>
          <p:nvPr/>
        </p:nvSpPr>
        <p:spPr>
          <a:xfrm>
            <a:off x="804672" y="3867912"/>
            <a:ext cx="3008376" cy="365760"/>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82630"/>
                </a:solidFill>
                <a:latin typeface="Aptos"/>
              </a:rPr>
              <a:t>45 % de charge évitée</a:t>
            </a:r>
          </a:p>
        </p:txBody>
      </p:sp>
      <p:sp>
        <p:nvSpPr>
          <p:cNvPr id="11" name="TextBox 10"/>
          <p:cNvSpPr txBox="1"/>
          <p:nvPr/>
        </p:nvSpPr>
        <p:spPr>
          <a:xfrm>
            <a:off x="804672" y="4498848"/>
            <a:ext cx="3008376" cy="356616"/>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72 000 € à 100 €/h</a:t>
            </a:r>
          </a:p>
        </p:txBody>
      </p:sp>
      <p:sp>
        <p:nvSpPr>
          <p:cNvPr id="12" name="Rounded Rectangle 11"/>
          <p:cNvSpPr/>
          <p:nvPr/>
        </p:nvSpPr>
        <p:spPr>
          <a:xfrm>
            <a:off x="4379976" y="2423160"/>
            <a:ext cx="3429000" cy="2779776"/>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633472"/>
            <a:ext cx="3008376" cy="310896"/>
          </a:xfrm>
          <a:prstGeom prst="rect">
            <a:avLst/>
          </a:prstGeom>
          <a:noFill/>
        </p:spPr>
        <p:txBody>
          <a:bodyPr wrap="square" lIns="0" rIns="0" tIns="0" bIns="0" anchor="t">
            <a:noAutofit/>
          </a:bodyPr>
          <a:lstStyle/>
          <a:p>
            <a:pPr algn="l">
              <a:lnSpc>
                <a:spcPct val="108000"/>
              </a:lnSpc>
              <a:spcBef>
                <a:spcPts val="0"/>
              </a:spcBef>
              <a:spcAft>
                <a:spcPts val="500"/>
              </a:spcAft>
            </a:pPr>
            <a:r>
              <a:rPr sz="2000" b="1">
                <a:solidFill>
                  <a:srgbClr val="FFFFFF"/>
                </a:solidFill>
                <a:latin typeface="Aptos"/>
              </a:rPr>
              <a:t>Central</a:t>
            </a:r>
          </a:p>
        </p:txBody>
      </p:sp>
      <p:sp>
        <p:nvSpPr>
          <p:cNvPr id="14" name="TextBox 13"/>
          <p:cNvSpPr txBox="1"/>
          <p:nvPr/>
        </p:nvSpPr>
        <p:spPr>
          <a:xfrm>
            <a:off x="4590288" y="3154680"/>
            <a:ext cx="3008376" cy="576072"/>
          </a:xfrm>
          <a:prstGeom prst="rect">
            <a:avLst/>
          </a:prstGeom>
          <a:noFill/>
        </p:spPr>
        <p:txBody>
          <a:bodyPr wrap="square" lIns="0" rIns="0" tIns="0" bIns="0" anchor="t">
            <a:noAutofit/>
          </a:bodyPr>
          <a:lstStyle/>
          <a:p>
            <a:pPr algn="l">
              <a:lnSpc>
                <a:spcPct val="108000"/>
              </a:lnSpc>
              <a:spcBef>
                <a:spcPts val="0"/>
              </a:spcBef>
              <a:spcAft>
                <a:spcPts val="500"/>
              </a:spcAft>
            </a:pPr>
            <a:r>
              <a:rPr sz="3700" b="1">
                <a:solidFill>
                  <a:srgbClr val="F2C811"/>
                </a:solidFill>
                <a:latin typeface="Aptos"/>
              </a:rPr>
              <a:t>1 020 h</a:t>
            </a:r>
          </a:p>
        </p:txBody>
      </p:sp>
      <p:sp>
        <p:nvSpPr>
          <p:cNvPr id="15" name="TextBox 14"/>
          <p:cNvSpPr txBox="1"/>
          <p:nvPr/>
        </p:nvSpPr>
        <p:spPr>
          <a:xfrm>
            <a:off x="4590288" y="3867912"/>
            <a:ext cx="3008376" cy="365760"/>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FFFFFF"/>
                </a:solidFill>
                <a:latin typeface="Aptos"/>
              </a:rPr>
              <a:t>63,75 % de charge évitée</a:t>
            </a:r>
          </a:p>
        </p:txBody>
      </p:sp>
      <p:sp>
        <p:nvSpPr>
          <p:cNvPr id="16" name="TextBox 15"/>
          <p:cNvSpPr txBox="1"/>
          <p:nvPr/>
        </p:nvSpPr>
        <p:spPr>
          <a:xfrm>
            <a:off x="4590288" y="4498848"/>
            <a:ext cx="3008376" cy="356616"/>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FFFFFF"/>
                </a:solidFill>
                <a:latin typeface="Aptos"/>
              </a:rPr>
              <a:t>102 000 € à 100 €/h</a:t>
            </a:r>
          </a:p>
        </p:txBody>
      </p:sp>
      <p:sp>
        <p:nvSpPr>
          <p:cNvPr id="17" name="Rounded Rectangle 16"/>
          <p:cNvSpPr/>
          <p:nvPr/>
        </p:nvSpPr>
        <p:spPr>
          <a:xfrm>
            <a:off x="8165592" y="2423160"/>
            <a:ext cx="3429000" cy="277977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2633472"/>
            <a:ext cx="3008376" cy="310896"/>
          </a:xfrm>
          <a:prstGeom prst="rect">
            <a:avLst/>
          </a:prstGeom>
          <a:noFill/>
        </p:spPr>
        <p:txBody>
          <a:bodyPr wrap="square" lIns="0" rIns="0" tIns="0" bIns="0" anchor="t">
            <a:noAutofit/>
          </a:bodyPr>
          <a:lstStyle/>
          <a:p>
            <a:pPr algn="l">
              <a:lnSpc>
                <a:spcPct val="108000"/>
              </a:lnSpc>
              <a:spcBef>
                <a:spcPts val="0"/>
              </a:spcBef>
              <a:spcAft>
                <a:spcPts val="500"/>
              </a:spcAft>
            </a:pPr>
            <a:r>
              <a:rPr sz="2000" b="1">
                <a:solidFill>
                  <a:srgbClr val="182630"/>
                </a:solidFill>
                <a:latin typeface="Aptos"/>
              </a:rPr>
              <a:t>Ambitieux</a:t>
            </a:r>
          </a:p>
        </p:txBody>
      </p:sp>
      <p:sp>
        <p:nvSpPr>
          <p:cNvPr id="19" name="TextBox 18"/>
          <p:cNvSpPr txBox="1"/>
          <p:nvPr/>
        </p:nvSpPr>
        <p:spPr>
          <a:xfrm>
            <a:off x="8375904" y="3154680"/>
            <a:ext cx="3008376" cy="576072"/>
          </a:xfrm>
          <a:prstGeom prst="rect">
            <a:avLst/>
          </a:prstGeom>
          <a:noFill/>
        </p:spPr>
        <p:txBody>
          <a:bodyPr wrap="square" lIns="0" rIns="0" tIns="0" bIns="0" anchor="t">
            <a:noAutofit/>
          </a:bodyPr>
          <a:lstStyle/>
          <a:p>
            <a:pPr algn="l">
              <a:lnSpc>
                <a:spcPct val="108000"/>
              </a:lnSpc>
              <a:spcBef>
                <a:spcPts val="0"/>
              </a:spcBef>
              <a:spcAft>
                <a:spcPts val="500"/>
              </a:spcAft>
            </a:pPr>
            <a:r>
              <a:rPr sz="3700" b="1">
                <a:solidFill>
                  <a:srgbClr val="007F79"/>
                </a:solidFill>
                <a:latin typeface="Aptos"/>
              </a:rPr>
              <a:t>1 220 h</a:t>
            </a:r>
          </a:p>
        </p:txBody>
      </p:sp>
      <p:sp>
        <p:nvSpPr>
          <p:cNvPr id="20" name="TextBox 19"/>
          <p:cNvSpPr txBox="1"/>
          <p:nvPr/>
        </p:nvSpPr>
        <p:spPr>
          <a:xfrm>
            <a:off x="8375904" y="3867912"/>
            <a:ext cx="3008376" cy="365760"/>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82630"/>
                </a:solidFill>
                <a:latin typeface="Aptos"/>
              </a:rPr>
              <a:t>76,25 % de charge évitée</a:t>
            </a:r>
          </a:p>
        </p:txBody>
      </p:sp>
      <p:sp>
        <p:nvSpPr>
          <p:cNvPr id="21" name="TextBox 20"/>
          <p:cNvSpPr txBox="1"/>
          <p:nvPr/>
        </p:nvSpPr>
        <p:spPr>
          <a:xfrm>
            <a:off x="8375904" y="4498848"/>
            <a:ext cx="3008376" cy="356616"/>
          </a:xfrm>
          <a:prstGeom prst="rect">
            <a:avLst/>
          </a:prstGeom>
          <a:noFill/>
        </p:spPr>
        <p:txBody>
          <a:bodyPr wrap="square" lIns="0" rIns="0" tIns="0" bIns="0" anchor="t">
            <a:noAutofit/>
          </a:bodyPr>
          <a:lstStyle/>
          <a:p>
            <a:pPr algn="l">
              <a:lnSpc>
                <a:spcPct val="108000"/>
              </a:lnSpc>
              <a:spcBef>
                <a:spcPts val="0"/>
              </a:spcBef>
              <a:spcAft>
                <a:spcPts val="500"/>
              </a:spcAft>
            </a:pPr>
            <a:r>
              <a:rPr sz="1800" b="1">
                <a:solidFill>
                  <a:srgbClr val="182630"/>
                </a:solidFill>
                <a:latin typeface="Aptos"/>
              </a:rPr>
              <a:t>122 000 € à 100 €/h</a:t>
            </a:r>
          </a:p>
        </p:txBody>
      </p:sp>
      <p:sp>
        <p:nvSpPr>
          <p:cNvPr id="22" name="Rounded Rectangle 21"/>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Cas central : 1 020 h = 127,5 jours-personnes de capacité, pas 127,5 jours de délai.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LECTURE ÉCONOMIQUE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Du gain brut au coût total du projet</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 code ouvert n'annule ni les licences, ni l'infrastructure, ni le travail humain.</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Lecture économique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11</a:t>
            </a:r>
          </a:p>
        </p:txBody>
      </p:sp>
      <p:sp>
        <p:nvSpPr>
          <p:cNvPr id="7" name="Rounded Rectangle 6"/>
          <p:cNvSpPr/>
          <p:nvPr/>
        </p:nvSpPr>
        <p:spPr>
          <a:xfrm>
            <a:off x="594360" y="2404872"/>
            <a:ext cx="5312664" cy="2688336"/>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24328"/>
            <a:ext cx="4855464" cy="347472"/>
          </a:xfrm>
          <a:prstGeom prst="rect">
            <a:avLst/>
          </a:prstGeom>
          <a:noFill/>
        </p:spPr>
        <p:txBody>
          <a:bodyPr wrap="square" lIns="0" rIns="0" tIns="0" bIns="0" anchor="t">
            <a:noAutofit/>
          </a:bodyPr>
          <a:lstStyle/>
          <a:p>
            <a:pPr algn="l">
              <a:lnSpc>
                <a:spcPct val="108000"/>
              </a:lnSpc>
              <a:spcBef>
                <a:spcPts val="0"/>
              </a:spcBef>
              <a:spcAft>
                <a:spcPts val="500"/>
              </a:spcAft>
            </a:pPr>
            <a:r>
              <a:rPr sz="2000" b="1">
                <a:solidFill>
                  <a:srgbClr val="FFFFFF"/>
                </a:solidFill>
                <a:latin typeface="Aptos"/>
              </a:rPr>
              <a:t>Cas central illustratif</a:t>
            </a:r>
          </a:p>
        </p:txBody>
      </p:sp>
      <p:sp>
        <p:nvSpPr>
          <p:cNvPr id="9" name="TextBox 8"/>
          <p:cNvSpPr txBox="1"/>
          <p:nvPr/>
        </p:nvSpPr>
        <p:spPr>
          <a:xfrm>
            <a:off x="822960" y="3017520"/>
            <a:ext cx="4855464" cy="347472"/>
          </a:xfrm>
          <a:prstGeom prst="rect">
            <a:avLst/>
          </a:prstGeom>
          <a:noFill/>
        </p:spPr>
        <p:txBody>
          <a:bodyPr wrap="square" lIns="0" rIns="0" tIns="0" bIns="0" anchor="t">
            <a:noAutofit/>
          </a:bodyPr>
          <a:lstStyle/>
          <a:p>
            <a:pPr algn="l">
              <a:lnSpc>
                <a:spcPct val="108000"/>
              </a:lnSpc>
              <a:spcBef>
                <a:spcPts val="0"/>
              </a:spcBef>
              <a:spcAft>
                <a:spcPts val="500"/>
              </a:spcAft>
            </a:pPr>
            <a:r>
              <a:rPr sz="1900" b="0">
                <a:solidFill>
                  <a:srgbClr val="FFFFFF"/>
                </a:solidFill>
                <a:latin typeface="Aptos"/>
              </a:rPr>
              <a:t>Capacité valorisée − coûts</a:t>
            </a:r>
          </a:p>
        </p:txBody>
      </p:sp>
      <p:sp>
        <p:nvSpPr>
          <p:cNvPr id="10" name="TextBox 9"/>
          <p:cNvSpPr txBox="1"/>
          <p:nvPr/>
        </p:nvSpPr>
        <p:spPr>
          <a:xfrm>
            <a:off x="822960" y="3502152"/>
            <a:ext cx="4855464" cy="603504"/>
          </a:xfrm>
          <a:prstGeom prst="rect">
            <a:avLst/>
          </a:prstGeom>
          <a:noFill/>
        </p:spPr>
        <p:txBody>
          <a:bodyPr wrap="square" lIns="0" rIns="0" tIns="0" bIns="0" anchor="t">
            <a:noAutofit/>
          </a:bodyPr>
          <a:lstStyle/>
          <a:p>
            <a:pPr algn="l">
              <a:lnSpc>
                <a:spcPct val="108000"/>
              </a:lnSpc>
              <a:spcBef>
                <a:spcPts val="0"/>
              </a:spcBef>
              <a:spcAft>
                <a:spcPts val="500"/>
              </a:spcAft>
            </a:pPr>
            <a:r>
              <a:rPr sz="3800" b="1">
                <a:solidFill>
                  <a:srgbClr val="F2C811"/>
                </a:solidFill>
                <a:latin typeface="Aptos"/>
              </a:rPr>
              <a:t>102 000 € − C</a:t>
            </a:r>
          </a:p>
        </p:txBody>
      </p:sp>
      <p:sp>
        <p:nvSpPr>
          <p:cNvPr id="11" name="TextBox 10"/>
          <p:cNvSpPr txBox="1"/>
          <p:nvPr/>
        </p:nvSpPr>
        <p:spPr>
          <a:xfrm>
            <a:off x="822960" y="4297680"/>
            <a:ext cx="4855464" cy="292608"/>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Aptos"/>
              </a:rPr>
              <a:t>C = coûts additionnels non déjà comptés.</a:t>
            </a:r>
          </a:p>
        </p:txBody>
      </p:sp>
      <p:sp>
        <p:nvSpPr>
          <p:cNvPr id="12" name="TextBox 11"/>
          <p:cNvSpPr txBox="1"/>
          <p:nvPr/>
        </p:nvSpPr>
        <p:spPr>
          <a:xfrm>
            <a:off x="822960" y="4690872"/>
            <a:ext cx="4855464" cy="274320"/>
          </a:xfrm>
          <a:prstGeom prst="rect">
            <a:avLst/>
          </a:prstGeom>
          <a:noFill/>
        </p:spPr>
        <p:txBody>
          <a:bodyPr wrap="square" lIns="0" rIns="0" tIns="0" bIns="0" anchor="t">
            <a:noAutofit/>
          </a:bodyPr>
          <a:lstStyle/>
          <a:p>
            <a:pPr algn="l">
              <a:lnSpc>
                <a:spcPct val="108000"/>
              </a:lnSpc>
              <a:spcBef>
                <a:spcPts val="0"/>
              </a:spcBef>
              <a:spcAft>
                <a:spcPts val="500"/>
              </a:spcAft>
            </a:pPr>
            <a:r>
              <a:rPr sz="1300" b="0">
                <a:solidFill>
                  <a:srgbClr val="FFFFFF"/>
                </a:solidFill>
                <a:latin typeface="Aptos"/>
              </a:rPr>
              <a:t>Ni économie de trésorerie garantie, ni ROI mesuré.</a:t>
            </a:r>
          </a:p>
        </p:txBody>
      </p:sp>
      <p:sp>
        <p:nvSpPr>
          <p:cNvPr id="13" name="TextBox 12"/>
          <p:cNvSpPr txBox="1"/>
          <p:nvPr/>
        </p:nvSpPr>
        <p:spPr>
          <a:xfrm>
            <a:off x="6272784" y="2514600"/>
            <a:ext cx="5312664" cy="374904"/>
          </a:xfrm>
          <a:prstGeom prst="rect">
            <a:avLst/>
          </a:prstGeom>
          <a:noFill/>
        </p:spPr>
        <p:txBody>
          <a:bodyPr wrap="square" lIns="0" rIns="0" tIns="0" bIns="0" anchor="t">
            <a:noAutofit/>
          </a:bodyPr>
          <a:lstStyle/>
          <a:p>
            <a:pPr algn="l">
              <a:lnSpc>
                <a:spcPct val="108000"/>
              </a:lnSpc>
              <a:spcBef>
                <a:spcPts val="0"/>
              </a:spcBef>
              <a:spcAft>
                <a:spcPts val="500"/>
              </a:spcAft>
            </a:pPr>
            <a:r>
              <a:rPr sz="2300" b="1">
                <a:solidFill>
                  <a:srgbClr val="182630"/>
                </a:solidFill>
                <a:latin typeface="Aptos"/>
              </a:rPr>
              <a:t>À budgéter explicitement</a:t>
            </a:r>
          </a:p>
        </p:txBody>
      </p:sp>
      <p:sp>
        <p:nvSpPr>
          <p:cNvPr id="14" name="Rounded Rectangle 13"/>
          <p:cNvSpPr/>
          <p:nvPr/>
        </p:nvSpPr>
        <p:spPr>
          <a:xfrm>
            <a:off x="6272784" y="3136392"/>
            <a:ext cx="36576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3172968"/>
            <a:ext cx="18288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1</a:t>
            </a:r>
          </a:p>
        </p:txBody>
      </p:sp>
      <p:sp>
        <p:nvSpPr>
          <p:cNvPr id="16" name="TextBox 15"/>
          <p:cNvSpPr txBox="1"/>
          <p:nvPr/>
        </p:nvSpPr>
        <p:spPr>
          <a:xfrm>
            <a:off x="6903720" y="3145536"/>
            <a:ext cx="4663440" cy="338328"/>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Licences Power BI / capacité Fabric</a:t>
            </a:r>
          </a:p>
        </p:txBody>
      </p:sp>
      <p:sp>
        <p:nvSpPr>
          <p:cNvPr id="17" name="Rounded Rectangle 16"/>
          <p:cNvSpPr/>
          <p:nvPr/>
        </p:nvSpPr>
        <p:spPr>
          <a:xfrm>
            <a:off x="6272784" y="3639312"/>
            <a:ext cx="36576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675888"/>
            <a:ext cx="18288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2</a:t>
            </a:r>
          </a:p>
        </p:txBody>
      </p:sp>
      <p:sp>
        <p:nvSpPr>
          <p:cNvPr id="19" name="TextBox 18"/>
          <p:cNvSpPr txBox="1"/>
          <p:nvPr/>
        </p:nvSpPr>
        <p:spPr>
          <a:xfrm>
            <a:off x="6903720" y="3648456"/>
            <a:ext cx="4663440" cy="338328"/>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Stockage, gateways et exploitation</a:t>
            </a:r>
          </a:p>
        </p:txBody>
      </p:sp>
      <p:sp>
        <p:nvSpPr>
          <p:cNvPr id="20" name="Rounded Rectangle 19"/>
          <p:cNvSpPr/>
          <p:nvPr/>
        </p:nvSpPr>
        <p:spPr>
          <a:xfrm>
            <a:off x="6272784" y="4142232"/>
            <a:ext cx="36576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4178808"/>
            <a:ext cx="18288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3</a:t>
            </a:r>
          </a:p>
        </p:txBody>
      </p:sp>
      <p:sp>
        <p:nvSpPr>
          <p:cNvPr id="22" name="TextBox 21"/>
          <p:cNvSpPr txBox="1"/>
          <p:nvPr/>
        </p:nvSpPr>
        <p:spPr>
          <a:xfrm>
            <a:off x="6903720" y="4151376"/>
            <a:ext cx="4663440" cy="338328"/>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Intégration, formation et support</a:t>
            </a:r>
          </a:p>
        </p:txBody>
      </p:sp>
      <p:sp>
        <p:nvSpPr>
          <p:cNvPr id="23" name="Rounded Rectangle 22"/>
          <p:cNvSpPr/>
          <p:nvPr/>
        </p:nvSpPr>
        <p:spPr>
          <a:xfrm>
            <a:off x="6272784" y="4645152"/>
            <a:ext cx="36576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4681728"/>
            <a:ext cx="18288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4</a:t>
            </a:r>
          </a:p>
        </p:txBody>
      </p:sp>
      <p:sp>
        <p:nvSpPr>
          <p:cNvPr id="25" name="TextBox 24"/>
          <p:cNvSpPr txBox="1"/>
          <p:nvPr/>
        </p:nvSpPr>
        <p:spPr>
          <a:xfrm>
            <a:off x="6903720" y="4654296"/>
            <a:ext cx="4663440" cy="338328"/>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Validation ou remédiation hors scénario</a:t>
            </a:r>
          </a:p>
        </p:txBody>
      </p:sp>
      <p:sp>
        <p:nvSpPr>
          <p:cNvPr id="26" name="Rounded Rectangle 25"/>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ROI comparatif = (coût manuel − coût assisté total) / coût assisté total ; même périmètre.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APPROCHE COMMERCIALE</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Mesurer d'abord sur un pilote représentatif</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Calibrer les hypothèses avant toute extrapolation au portefeuille.</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Approche commerciale</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12</a:t>
            </a:r>
          </a:p>
        </p:txBody>
      </p:sp>
      <p:sp>
        <p:nvSpPr>
          <p:cNvPr id="7" name="Rounded Rectangle 6"/>
          <p:cNvSpPr/>
          <p:nvPr/>
        </p:nvSpPr>
        <p:spPr>
          <a:xfrm>
            <a:off x="594360" y="2423160"/>
            <a:ext cx="5312664" cy="270662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Mesurer la charge réelle</a:t>
            </a:r>
          </a:p>
        </p:txBody>
      </p:sp>
      <p:sp>
        <p:nvSpPr>
          <p:cNvPr id="9" name="TextBox 8"/>
          <p:cNvSpPr txBox="1"/>
          <p:nvPr/>
        </p:nvSpPr>
        <p:spPr>
          <a:xfrm>
            <a:off x="804672" y="3310128"/>
            <a:ext cx="4892040" cy="1728216"/>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Échantillon de 5 à 10 rapports variés.</a:t>
            </a:r>
          </a:p>
          <a:p>
            <a:pPr algn="l">
              <a:lnSpc>
                <a:spcPct val="108000"/>
              </a:lnSpc>
              <a:spcBef>
                <a:spcPts val="0"/>
              </a:spcBef>
              <a:spcAft>
                <a:spcPts val="500"/>
              </a:spcAft>
            </a:pPr>
            <a:r>
              <a:rPr sz="1600" b="0">
                <a:solidFill>
                  <a:srgbClr val="182630"/>
                </a:solidFill>
                <a:latin typeface="Aptos"/>
              </a:rPr>
              <a:t>Effort : préparation, conversion,</a:t>
            </a:r>
          </a:p>
          <a:p>
            <a:pPr algn="l">
              <a:lnSpc>
                <a:spcPct val="108000"/>
              </a:lnSpc>
              <a:spcBef>
                <a:spcPts val="0"/>
              </a:spcBef>
              <a:spcAft>
                <a:spcPts val="500"/>
              </a:spcAft>
            </a:pPr>
            <a:r>
              <a:rPr sz="1600" b="0">
                <a:solidFill>
                  <a:srgbClr val="182630"/>
                </a:solidFill>
                <a:latin typeface="Aptos"/>
              </a:rPr>
              <a:t>remédiation et recette.</a:t>
            </a:r>
          </a:p>
          <a:p>
            <a:pPr algn="l">
              <a:lnSpc>
                <a:spcPct val="108000"/>
              </a:lnSpc>
              <a:spcBef>
                <a:spcPts val="0"/>
              </a:spcBef>
              <a:spcAft>
                <a:spcPts val="500"/>
              </a:spcAft>
            </a:pPr>
            <a:r>
              <a:rPr sz="1600" b="0">
                <a:solidFill>
                  <a:srgbClr val="182630"/>
                </a:solidFill>
                <a:latin typeface="Aptos"/>
              </a:rPr>
              <a:t>Comparer le même périmètre.</a:t>
            </a:r>
          </a:p>
        </p:txBody>
      </p:sp>
      <p:sp>
        <p:nvSpPr>
          <p:cNvPr id="10" name="Rounded Rectangle 9"/>
          <p:cNvSpPr/>
          <p:nvPr/>
        </p:nvSpPr>
        <p:spPr>
          <a:xfrm>
            <a:off x="6272784" y="2423160"/>
            <a:ext cx="5312664" cy="270662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2587752"/>
            <a:ext cx="4892040" cy="640080"/>
          </a:xfrm>
          <a:prstGeom prst="rect">
            <a:avLst/>
          </a:prstGeom>
          <a:noFill/>
        </p:spPr>
        <p:txBody>
          <a:bodyPr wrap="square" lIns="0" rIns="0" tIns="0" bIns="0" anchor="t">
            <a:noAutofit/>
          </a:bodyPr>
          <a:lstStyle/>
          <a:p>
            <a:pPr algn="l">
              <a:lnSpc>
                <a:spcPct val="108000"/>
              </a:lnSpc>
              <a:spcBef>
                <a:spcPts val="0"/>
              </a:spcBef>
              <a:spcAft>
                <a:spcPts val="500"/>
              </a:spcAft>
            </a:pPr>
            <a:r>
              <a:rPr sz="1900" b="1">
                <a:solidFill>
                  <a:srgbClr val="007F79"/>
                </a:solidFill>
                <a:latin typeface="Aptos"/>
              </a:rPr>
              <a:t>Décider sur des critères acceptés</a:t>
            </a:r>
          </a:p>
        </p:txBody>
      </p:sp>
      <p:sp>
        <p:nvSpPr>
          <p:cNvPr id="12" name="TextBox 11"/>
          <p:cNvSpPr txBox="1"/>
          <p:nvPr/>
        </p:nvSpPr>
        <p:spPr>
          <a:xfrm>
            <a:off x="6483096" y="3310128"/>
            <a:ext cx="4892040" cy="1728216"/>
          </a:xfrm>
          <a:prstGeom prst="rect">
            <a:avLst/>
          </a:prstGeom>
          <a:noFill/>
        </p:spPr>
        <p:txBody>
          <a:bodyPr wrap="square" lIns="0" rIns="0" tIns="0" bIns="0" anchor="t">
            <a:noAutofit/>
          </a:bodyPr>
          <a:lstStyle/>
          <a:p>
            <a:pPr algn="l">
              <a:lnSpc>
                <a:spcPct val="108000"/>
              </a:lnSpc>
              <a:spcBef>
                <a:spcPts val="0"/>
              </a:spcBef>
              <a:spcAft>
                <a:spcPts val="500"/>
              </a:spcAft>
            </a:pPr>
            <a:r>
              <a:rPr sz="1600" b="0">
                <a:solidFill>
                  <a:srgbClr val="182630"/>
                </a:solidFill>
                <a:latin typeface="Aptos"/>
              </a:rPr>
              <a:t>Refresh et accès aux sources.</a:t>
            </a:r>
          </a:p>
          <a:p>
            <a:pPr algn="l">
              <a:lnSpc>
                <a:spcPct val="108000"/>
              </a:lnSpc>
              <a:spcBef>
                <a:spcPts val="0"/>
              </a:spcBef>
              <a:spcAft>
                <a:spcPts val="500"/>
              </a:spcAft>
            </a:pPr>
            <a:r>
              <a:rPr sz="1600" b="0">
                <a:solidFill>
                  <a:srgbClr val="182630"/>
                </a:solidFill>
                <a:latin typeface="Aptos"/>
              </a:rPr>
              <a:t>Tolérances métier sur les valeurs.</a:t>
            </a:r>
          </a:p>
          <a:p>
            <a:pPr algn="l">
              <a:lnSpc>
                <a:spcPct val="108000"/>
              </a:lnSpc>
              <a:spcBef>
                <a:spcPts val="0"/>
              </a:spcBef>
              <a:spcAft>
                <a:spcPts val="500"/>
              </a:spcAft>
            </a:pPr>
            <a:r>
              <a:rPr sz="1600" b="0">
                <a:solidFill>
                  <a:srgbClr val="182630"/>
                </a:solidFill>
                <a:latin typeface="Aptos"/>
              </a:rPr>
              <a:t>Visuels, interactions et RLS.</a:t>
            </a:r>
          </a:p>
          <a:p>
            <a:pPr algn="l">
              <a:lnSpc>
                <a:spcPct val="108000"/>
              </a:lnSpc>
              <a:spcBef>
                <a:spcPts val="0"/>
              </a:spcBef>
              <a:spcAft>
                <a:spcPts val="500"/>
              </a:spcAft>
            </a:pPr>
            <a:r>
              <a:rPr sz="1600" b="0">
                <a:solidFill>
                  <a:srgbClr val="182630"/>
                </a:solidFill>
                <a:latin typeface="Aptos"/>
              </a:rPr>
              <a:t>Coûts, dépendances et exceptions.</a:t>
            </a:r>
          </a:p>
        </p:txBody>
      </p:sp>
      <p:sp>
        <p:nvSpPr>
          <p:cNvPr id="13" name="Rounded Rectangle 12"/>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Sortie du pilote : effort observé, risques ouverts, TCO affiné, décision GO / NO GO.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LIVRABLES &amp; RESPONSABILITÉ</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Livrer un patrimoine exploitable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Un fichier généré ne suffit pas : la transmission fait partie du projet.</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Livrables &amp; responsabilité</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13</a:t>
            </a:r>
          </a:p>
        </p:txBody>
      </p:sp>
      <p:sp>
        <p:nvSpPr>
          <p:cNvPr id="7" name="Rounded Rectangle 6"/>
          <p:cNvSpPr/>
          <p:nvPr/>
        </p:nvSpPr>
        <p:spPr>
          <a:xfrm>
            <a:off x="594360" y="2697480"/>
            <a:ext cx="2468880" cy="184708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2871216"/>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Projets éditables</a:t>
            </a:r>
          </a:p>
        </p:txBody>
      </p:sp>
      <p:sp>
        <p:nvSpPr>
          <p:cNvPr id="9" name="TextBox 8"/>
          <p:cNvSpPr txBox="1"/>
          <p:nvPr/>
        </p:nvSpPr>
        <p:spPr>
          <a:xfrm>
            <a:off x="758952" y="3374136"/>
            <a:ext cx="2139696" cy="1106424"/>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PBIP, modèle TMDL,</a:t>
            </a:r>
          </a:p>
          <a:p>
            <a:pPr algn="ctr">
              <a:lnSpc>
                <a:spcPct val="108000"/>
              </a:lnSpc>
              <a:spcBef>
                <a:spcPts val="0"/>
              </a:spcBef>
              <a:spcAft>
                <a:spcPts val="500"/>
              </a:spcAft>
            </a:pPr>
            <a:r>
              <a:rPr sz="1400" b="0">
                <a:solidFill>
                  <a:srgbClr val="FFFFFF"/>
                </a:solidFill>
                <a:latin typeface="Aptos"/>
              </a:rPr>
              <a:t>rapport PBIR et M</a:t>
            </a:r>
          </a:p>
        </p:txBody>
      </p:sp>
      <p:sp>
        <p:nvSpPr>
          <p:cNvPr id="10" name="Rounded Rectangle 9"/>
          <p:cNvSpPr/>
          <p:nvPr/>
        </p:nvSpPr>
        <p:spPr>
          <a:xfrm>
            <a:off x="3429000" y="2697480"/>
            <a:ext cx="2468880" cy="184708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2871216"/>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Preuves &amp; écarts</a:t>
            </a:r>
          </a:p>
        </p:txBody>
      </p:sp>
      <p:sp>
        <p:nvSpPr>
          <p:cNvPr id="12" name="TextBox 11"/>
          <p:cNvSpPr txBox="1"/>
          <p:nvPr/>
        </p:nvSpPr>
        <p:spPr>
          <a:xfrm>
            <a:off x="3593592" y="3374136"/>
            <a:ext cx="2139696" cy="1106424"/>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Qualité, réserves,</a:t>
            </a:r>
          </a:p>
          <a:p>
            <a:pPr algn="ctr">
              <a:lnSpc>
                <a:spcPct val="108000"/>
              </a:lnSpc>
              <a:spcBef>
                <a:spcPts val="0"/>
              </a:spcBef>
              <a:spcAft>
                <a:spcPts val="500"/>
              </a:spcAft>
            </a:pPr>
            <a:r>
              <a:rPr sz="1400" b="0">
                <a:solidFill>
                  <a:srgbClr val="FFFFFF"/>
                </a:solidFill>
                <a:latin typeface="Aptos"/>
              </a:rPr>
              <a:t>contrôles non exécutés</a:t>
            </a:r>
          </a:p>
        </p:txBody>
      </p:sp>
      <p:sp>
        <p:nvSpPr>
          <p:cNvPr id="13" name="Rounded Rectangle 12"/>
          <p:cNvSpPr/>
          <p:nvPr/>
        </p:nvSpPr>
        <p:spPr>
          <a:xfrm>
            <a:off x="6263640" y="2697480"/>
            <a:ext cx="2468880" cy="184708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871216"/>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Sources &amp; accès</a:t>
            </a:r>
          </a:p>
        </p:txBody>
      </p:sp>
      <p:sp>
        <p:nvSpPr>
          <p:cNvPr id="15" name="TextBox 14"/>
          <p:cNvSpPr txBox="1"/>
          <p:nvPr/>
        </p:nvSpPr>
        <p:spPr>
          <a:xfrm>
            <a:off x="6428232" y="3374136"/>
            <a:ext cx="2139696" cy="1106424"/>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Bindings, exports Hyper,</a:t>
            </a:r>
          </a:p>
          <a:p>
            <a:pPr algn="ctr">
              <a:lnSpc>
                <a:spcPct val="108000"/>
              </a:lnSpc>
              <a:spcBef>
                <a:spcPts val="0"/>
              </a:spcBef>
              <a:spcAft>
                <a:spcPts val="500"/>
              </a:spcAft>
            </a:pPr>
            <a:r>
              <a:rPr sz="1400" b="0">
                <a:solidFill>
                  <a:srgbClr val="FFFFFF"/>
                </a:solidFill>
                <a:latin typeface="Aptos"/>
              </a:rPr>
              <a:t>credentials hors du dépôt</a:t>
            </a:r>
          </a:p>
        </p:txBody>
      </p:sp>
      <p:sp>
        <p:nvSpPr>
          <p:cNvPr id="16" name="Rounded Rectangle 15"/>
          <p:cNvSpPr/>
          <p:nvPr/>
        </p:nvSpPr>
        <p:spPr>
          <a:xfrm>
            <a:off x="9098280" y="2697480"/>
            <a:ext cx="2468880" cy="1847088"/>
          </a:xfrm>
          <a:prstGeom prst="roundRect">
            <a:avLst>
              <a:gd name="adj" fmla="val 12000"/>
            </a:avLst>
          </a:prstGeom>
          <a:solidFill>
            <a:srgbClr val="007F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2871216"/>
            <a:ext cx="2139696" cy="402336"/>
          </a:xfrm>
          <a:prstGeom prst="rect">
            <a:avLst/>
          </a:prstGeom>
          <a:noFill/>
        </p:spPr>
        <p:txBody>
          <a:bodyPr wrap="square" lIns="0" rIns="0" tIns="0" bIns="0" anchor="t">
            <a:noAutofit/>
          </a:bodyPr>
          <a:lstStyle/>
          <a:p>
            <a:pPr algn="ctr">
              <a:lnSpc>
                <a:spcPct val="108000"/>
              </a:lnSpc>
              <a:spcBef>
                <a:spcPts val="0"/>
              </a:spcBef>
              <a:spcAft>
                <a:spcPts val="500"/>
              </a:spcAft>
            </a:pPr>
            <a:r>
              <a:rPr sz="1900" b="1">
                <a:solidFill>
                  <a:srgbClr val="FFFFFF"/>
                </a:solidFill>
                <a:latin typeface="Aptos"/>
              </a:rPr>
              <a:t>Handoff</a:t>
            </a:r>
          </a:p>
        </p:txBody>
      </p:sp>
      <p:sp>
        <p:nvSpPr>
          <p:cNvPr id="18" name="TextBox 17"/>
          <p:cNvSpPr txBox="1"/>
          <p:nvPr/>
        </p:nvSpPr>
        <p:spPr>
          <a:xfrm>
            <a:off x="9262872" y="3374136"/>
            <a:ext cx="2139696" cy="1106424"/>
          </a:xfrm>
          <a:prstGeom prst="rect">
            <a:avLst/>
          </a:prstGeom>
          <a:noFill/>
        </p:spPr>
        <p:txBody>
          <a:bodyPr wrap="square" lIns="0" rIns="0" tIns="0" bIns="0" anchor="t">
            <a:noAutofit/>
          </a:bodyPr>
          <a:lstStyle/>
          <a:p>
            <a:pPr algn="ctr">
              <a:lnSpc>
                <a:spcPct val="108000"/>
              </a:lnSpc>
              <a:spcBef>
                <a:spcPts val="0"/>
              </a:spcBef>
              <a:spcAft>
                <a:spcPts val="500"/>
              </a:spcAft>
            </a:pPr>
            <a:r>
              <a:rPr sz="1400" b="0">
                <a:solidFill>
                  <a:srgbClr val="FFFFFF"/>
                </a:solidFill>
                <a:latin typeface="Aptos"/>
              </a:rPr>
              <a:t>Recette</a:t>
            </a:r>
          </a:p>
          <a:p>
            <a:pPr algn="ctr">
              <a:lnSpc>
                <a:spcPct val="108000"/>
              </a:lnSpc>
              <a:spcBef>
                <a:spcPts val="0"/>
              </a:spcBef>
              <a:spcAft>
                <a:spcPts val="500"/>
              </a:spcAft>
            </a:pPr>
            <a:r>
              <a:rPr sz="1400" b="0">
                <a:solidFill>
                  <a:srgbClr val="FFFFFF"/>
                </a:solidFill>
                <a:latin typeface="Aptos"/>
              </a:rPr>
              <a:t>Déploiement autorisé</a:t>
            </a:r>
          </a:p>
          <a:p>
            <a:pPr algn="ctr">
              <a:lnSpc>
                <a:spcPct val="108000"/>
              </a:lnSpc>
              <a:spcBef>
                <a:spcPts val="0"/>
              </a:spcBef>
              <a:spcAft>
                <a:spcPts val="500"/>
              </a:spcAft>
            </a:pPr>
            <a:r>
              <a:rPr sz="1400" b="0">
                <a:solidFill>
                  <a:srgbClr val="FFFFFF"/>
                </a:solidFill>
                <a:latin typeface="Aptos"/>
              </a:rPr>
              <a:t>Runbook et support</a:t>
            </a:r>
          </a:p>
        </p:txBody>
      </p:sp>
      <p:sp>
        <p:nvSpPr>
          <p:cNvPr id="19" name="Rounded Rectangle 18"/>
          <p:cNvSpPr/>
          <p:nvPr/>
        </p:nvSpPr>
        <p:spPr>
          <a:xfrm>
            <a:off x="594360" y="5522976"/>
            <a:ext cx="11000232" cy="429768"/>
          </a:xfrm>
          <a:prstGeom prst="roundRect">
            <a:avLst>
              <a:gd name="adj" fmla="val 12000"/>
            </a:avLst>
          </a:prstGeom>
          <a:solidFill>
            <a:srgbClr val="1826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5614416"/>
            <a:ext cx="10616184" cy="256032"/>
          </a:xfrm>
          <a:prstGeom prst="rect">
            <a:avLst/>
          </a:prstGeom>
          <a:noFill/>
        </p:spPr>
        <p:txBody>
          <a:bodyPr wrap="square" lIns="0" rIns="0" tIns="0" bIns="0" anchor="t">
            <a:noAutofit/>
          </a:bodyPr>
          <a:lstStyle/>
          <a:p>
            <a:pPr algn="l">
              <a:lnSpc>
                <a:spcPct val="108000"/>
              </a:lnSpc>
              <a:spcBef>
                <a:spcPts val="0"/>
              </a:spcBef>
              <a:spcAft>
                <a:spcPts val="500"/>
              </a:spcAft>
            </a:pPr>
            <a:r>
              <a:rPr sz="1300" b="1">
                <a:solidFill>
                  <a:srgbClr val="FFFFFF"/>
                </a:solidFill>
                <a:latin typeface="Aptos"/>
              </a:rPr>
              <a:t>La décision de mise en production reste séparée de la génération.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8"/>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007F79"/>
                </a:solidFill>
                <a:latin typeface="Aptos"/>
              </a:rPr>
              <a:t>RÉFÉRENCES</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182630"/>
                </a:solidFill>
                <a:latin typeface="Aptos Display"/>
              </a:rPr>
              <a:t>Sources, hypothèses et périmètre</a:t>
            </a:r>
          </a:p>
        </p:txBody>
      </p:sp>
      <p:sp>
        <p:nvSpPr>
          <p:cNvPr id="4" name="TextBox 3"/>
          <p:cNvSpPr txBox="1"/>
          <p:nvPr/>
        </p:nvSpPr>
        <p:spPr>
          <a:xfrm>
            <a:off x="594360" y="1673352"/>
            <a:ext cx="11000232" cy="493776"/>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Les notes de chaque diapositive conservent les références et précautions utiles.</a:t>
            </a:r>
          </a:p>
        </p:txBody>
      </p:sp>
      <p:sp>
        <p:nvSpPr>
          <p:cNvPr id="5" name="TextBox 4"/>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52616C"/>
                </a:solidFill>
                <a:latin typeface="Aptos"/>
              </a:rPr>
              <a:t>Tableau to Power BI  |  Édition 26.10.2026  |  Références</a:t>
            </a:r>
          </a:p>
        </p:txBody>
      </p:sp>
      <p:sp>
        <p:nvSpPr>
          <p:cNvPr id="6" name="TextBox 5"/>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52616C"/>
                </a:solidFill>
                <a:latin typeface="Aptos"/>
              </a:rPr>
              <a:t>14</a:t>
            </a:r>
          </a:p>
        </p:txBody>
      </p:sp>
      <p:sp>
        <p:nvSpPr>
          <p:cNvPr id="7" name="Rounded Rectangle 6"/>
          <p:cNvSpPr/>
          <p:nvPr/>
        </p:nvSpPr>
        <p:spPr>
          <a:xfrm>
            <a:off x="594360" y="2359152"/>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95728"/>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01</a:t>
            </a:r>
          </a:p>
        </p:txBody>
      </p:sp>
      <p:sp>
        <p:nvSpPr>
          <p:cNvPr id="9" name="TextBox 8"/>
          <p:cNvSpPr txBox="1"/>
          <p:nvPr/>
        </p:nvSpPr>
        <p:spPr>
          <a:xfrm>
            <a:off x="1353312" y="2368296"/>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3"/>
              </a:rPr>
              <a:t>Architecture &amp; modes de source</a:t>
            </a:r>
          </a:p>
        </p:txBody>
      </p:sp>
      <p:sp>
        <p:nvSpPr>
          <p:cNvPr id="10" name="Rounded Rectangle 9"/>
          <p:cNvSpPr/>
          <p:nvPr/>
        </p:nvSpPr>
        <p:spPr>
          <a:xfrm>
            <a:off x="594360" y="2980944"/>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017520"/>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02</a:t>
            </a:r>
          </a:p>
        </p:txBody>
      </p:sp>
      <p:sp>
        <p:nvSpPr>
          <p:cNvPr id="12" name="TextBox 11"/>
          <p:cNvSpPr txBox="1"/>
          <p:nvPr/>
        </p:nvSpPr>
        <p:spPr>
          <a:xfrm>
            <a:off x="1353312" y="2990088"/>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4"/>
              </a:rPr>
              <a:t>Fonctionnalités &amp; preuves du 23.10.2026</a:t>
            </a:r>
          </a:p>
        </p:txBody>
      </p:sp>
      <p:sp>
        <p:nvSpPr>
          <p:cNvPr id="13" name="Rounded Rectangle 12"/>
          <p:cNvSpPr/>
          <p:nvPr/>
        </p:nvSpPr>
        <p:spPr>
          <a:xfrm>
            <a:off x="594360" y="3602736"/>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39312"/>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03</a:t>
            </a:r>
          </a:p>
        </p:txBody>
      </p:sp>
      <p:sp>
        <p:nvSpPr>
          <p:cNvPr id="15" name="TextBox 14"/>
          <p:cNvSpPr txBox="1"/>
          <p:nvPr/>
        </p:nvSpPr>
        <p:spPr>
          <a:xfrm>
            <a:off x="1353312" y="3611880"/>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5"/>
              </a:rPr>
              <a:t>Checklist de recette &amp; limites connues</a:t>
            </a:r>
          </a:p>
        </p:txBody>
      </p:sp>
      <p:sp>
        <p:nvSpPr>
          <p:cNvPr id="16" name="Rounded Rectangle 15"/>
          <p:cNvSpPr/>
          <p:nvPr/>
        </p:nvSpPr>
        <p:spPr>
          <a:xfrm>
            <a:off x="594360" y="4224528"/>
            <a:ext cx="502920" cy="320040"/>
          </a:xfrm>
          <a:prstGeom prst="roundRect">
            <a:avLst>
              <a:gd name="adj" fmla="val 12000"/>
            </a:avLst>
          </a:prstGeom>
          <a:solidFill>
            <a:srgbClr val="E0F1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61104"/>
            <a:ext cx="32004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007F79"/>
                </a:solidFill>
                <a:latin typeface="Aptos"/>
              </a:rPr>
              <a:t>04</a:t>
            </a:r>
          </a:p>
        </p:txBody>
      </p:sp>
      <p:sp>
        <p:nvSpPr>
          <p:cNvPr id="18" name="TextBox 17"/>
          <p:cNvSpPr txBox="1"/>
          <p:nvPr/>
        </p:nvSpPr>
        <p:spPr>
          <a:xfrm>
            <a:off x="1353312" y="4233672"/>
            <a:ext cx="9966960" cy="310896"/>
          </a:xfrm>
          <a:prstGeom prst="rect">
            <a:avLst/>
          </a:prstGeom>
          <a:noFill/>
        </p:spPr>
        <p:txBody>
          <a:bodyPr wrap="square" lIns="0" rIns="0" tIns="0" bIns="0" anchor="t">
            <a:noAutofit/>
          </a:bodyPr>
          <a:lstStyle/>
          <a:p>
            <a:pPr algn="l">
              <a:lnSpc>
                <a:spcPct val="108000"/>
              </a:lnSpc>
              <a:spcBef>
                <a:spcPts val="0"/>
              </a:spcBef>
              <a:spcAft>
                <a:spcPts val="500"/>
              </a:spcAft>
            </a:pPr>
            <a:r>
              <a:rPr sz="1800" b="0">
                <a:solidFill>
                  <a:srgbClr val="1266A0"/>
                </a:solidFill>
                <a:latin typeface="Aptos"/>
                <a:hlinkClick r:id="rId6"/>
              </a:rPr>
              <a:t>Validation Microsoft optionnelle</a:t>
            </a:r>
          </a:p>
        </p:txBody>
      </p:sp>
      <p:sp>
        <p:nvSpPr>
          <p:cNvPr id="19" name="TextBox 18"/>
          <p:cNvSpPr txBox="1"/>
          <p:nvPr/>
        </p:nvSpPr>
        <p:spPr>
          <a:xfrm>
            <a:off x="594360" y="5138928"/>
            <a:ext cx="11000232" cy="658368"/>
          </a:xfrm>
          <a:prstGeom prst="rect">
            <a:avLst/>
          </a:prstGeom>
          <a:noFill/>
        </p:spPr>
        <p:txBody>
          <a:bodyPr wrap="square" lIns="0" rIns="0" tIns="0" bIns="0" anchor="t">
            <a:noAutofit/>
          </a:bodyPr>
          <a:lstStyle/>
          <a:p>
            <a:pPr algn="l">
              <a:lnSpc>
                <a:spcPct val="108000"/>
              </a:lnSpc>
              <a:spcBef>
                <a:spcPts val="0"/>
              </a:spcBef>
              <a:spcAft>
                <a:spcPts val="500"/>
              </a:spcAft>
            </a:pPr>
            <a:r>
              <a:rPr sz="1500" b="0">
                <a:solidFill>
                  <a:srgbClr val="52616C"/>
                </a:solidFill>
                <a:latin typeface="Aptos"/>
              </a:rPr>
              <a:t>100 rapports ; 16 h manuelles ; 8 / 5 / 3 h assistées ; 80 h de mise en place ; 100 €/h.</a:t>
            </a:r>
          </a:p>
          <a:p>
            <a:pPr algn="l">
              <a:lnSpc>
                <a:spcPct val="108000"/>
              </a:lnSpc>
              <a:spcBef>
                <a:spcPts val="0"/>
              </a:spcBef>
              <a:spcAft>
                <a:spcPts val="500"/>
              </a:spcAft>
            </a:pPr>
            <a:r>
              <a:rPr sz="1500" b="0">
                <a:solidFill>
                  <a:srgbClr val="52616C"/>
                </a:solidFill>
                <a:latin typeface="Aptos"/>
              </a:rPr>
              <a:t>Hypothèses illustratives, non benchmarkées.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D26"/>
        </a:solidFill>
        <a:effectLst/>
      </p:bgPr>
    </p:bg>
    <p:spTree>
      <p:nvGrpSpPr>
        <p:cNvPr id="1" name=""/>
        <p:cNvGrpSpPr/>
        <p:nvPr/>
      </p:nvGrpSpPr>
      <p:grpSpPr/>
      <p:sp>
        <p:nvSpPr>
          <p:cNvPr id="2" name="TextBox 1"/>
          <p:cNvSpPr txBox="1"/>
          <p:nvPr/>
        </p:nvSpPr>
        <p:spPr>
          <a:xfrm>
            <a:off x="594360" y="466344"/>
            <a:ext cx="10789920" cy="201168"/>
          </a:xfrm>
          <a:prstGeom prst="rect">
            <a:avLst/>
          </a:prstGeom>
          <a:noFill/>
        </p:spPr>
        <p:txBody>
          <a:bodyPr wrap="square" lIns="0" rIns="0" tIns="0" bIns="0" anchor="t">
            <a:noAutofit/>
          </a:bodyPr>
          <a:lstStyle/>
          <a:p>
            <a:pPr algn="l">
              <a:lnSpc>
                <a:spcPct val="108000"/>
              </a:lnSpc>
              <a:spcBef>
                <a:spcPts val="0"/>
              </a:spcBef>
              <a:spcAft>
                <a:spcPts val="500"/>
              </a:spcAft>
            </a:pPr>
            <a:r>
              <a:rPr sz="1050" b="1">
                <a:solidFill>
                  <a:srgbClr val="F2C811"/>
                </a:solidFill>
                <a:latin typeface="Aptos"/>
              </a:rPr>
              <a:t>PASSER À L'ACTION</a:t>
            </a:r>
          </a:p>
        </p:txBody>
      </p:sp>
      <p:sp>
        <p:nvSpPr>
          <p:cNvPr id="3" name="Slide title"/>
          <p:cNvSpPr txBox="1"/>
          <p:nvPr/>
        </p:nvSpPr>
        <p:spPr>
          <a:xfrm>
            <a:off x="594360" y="859536"/>
            <a:ext cx="11000232" cy="685800"/>
          </a:xfrm>
          <a:prstGeom prst="rect">
            <a:avLst/>
          </a:prstGeom>
          <a:noFill/>
        </p:spPr>
        <p:txBody>
          <a:bodyPr wrap="square" lIns="0" rIns="0" tIns="0" bIns="0" anchor="t">
            <a:noAutofit/>
          </a:bodyPr>
          <a:lstStyle/>
          <a:p>
            <a:pPr algn="l">
              <a:lnSpc>
                <a:spcPct val="108000"/>
              </a:lnSpc>
              <a:spcBef>
                <a:spcPts val="0"/>
              </a:spcBef>
              <a:spcAft>
                <a:spcPts val="500"/>
              </a:spcAft>
            </a:pPr>
            <a:r>
              <a:rPr sz="3600" b="1">
                <a:solidFill>
                  <a:srgbClr val="FFFFFF"/>
                </a:solidFill>
                <a:latin typeface="Aptos Display"/>
              </a:rPr>
              <a:t/>
            </a:r>
          </a:p>
        </p:txBody>
      </p:sp>
      <p:sp>
        <p:nvSpPr>
          <p:cNvPr id="4" name="TextBox 3"/>
          <p:cNvSpPr txBox="1"/>
          <p:nvPr/>
        </p:nvSpPr>
        <p:spPr>
          <a:xfrm>
            <a:off x="594360" y="6199632"/>
            <a:ext cx="10149840" cy="182880"/>
          </a:xfrm>
          <a:prstGeom prst="rect">
            <a:avLst/>
          </a:prstGeom>
          <a:noFill/>
        </p:spPr>
        <p:txBody>
          <a:bodyPr wrap="square" lIns="0" rIns="0" tIns="0" bIns="0" anchor="t">
            <a:noAutofit/>
          </a:bodyPr>
          <a:lstStyle/>
          <a:p>
            <a:pPr algn="l">
              <a:lnSpc>
                <a:spcPct val="108000"/>
              </a:lnSpc>
              <a:spcBef>
                <a:spcPts val="0"/>
              </a:spcBef>
              <a:spcAft>
                <a:spcPts val="500"/>
              </a:spcAft>
            </a:pPr>
            <a:r>
              <a:rPr sz="1000" b="0">
                <a:solidFill>
                  <a:srgbClr val="C9D8DF"/>
                </a:solidFill>
                <a:latin typeface="Aptos"/>
              </a:rPr>
              <a:t>Tableau to Power BI  |  Édition 26.10.2026  |  Passer à l'action</a:t>
            </a:r>
          </a:p>
        </p:txBody>
      </p:sp>
      <p:sp>
        <p:nvSpPr>
          <p:cNvPr id="5" name="TextBox 4"/>
          <p:cNvSpPr txBox="1"/>
          <p:nvPr/>
        </p:nvSpPr>
        <p:spPr>
          <a:xfrm>
            <a:off x="11000232" y="6181344"/>
            <a:ext cx="594360" cy="210312"/>
          </a:xfrm>
          <a:prstGeom prst="rect">
            <a:avLst/>
          </a:prstGeom>
          <a:noFill/>
        </p:spPr>
        <p:txBody>
          <a:bodyPr wrap="square" lIns="0" rIns="0" tIns="0" bIns="0" anchor="t">
            <a:noAutofit/>
          </a:bodyPr>
          <a:lstStyle/>
          <a:p>
            <a:pPr algn="r">
              <a:lnSpc>
                <a:spcPct val="108000"/>
              </a:lnSpc>
              <a:spcBef>
                <a:spcPts val="0"/>
              </a:spcBef>
              <a:spcAft>
                <a:spcPts val="500"/>
              </a:spcAft>
            </a:pPr>
            <a:r>
              <a:rPr sz="1100" b="0">
                <a:solidFill>
                  <a:srgbClr val="C9D8DF"/>
                </a:solidFill>
                <a:latin typeface="Aptos"/>
              </a:rPr>
              <a:t>15</a:t>
            </a:r>
          </a:p>
        </p:txBody>
      </p:sp>
      <p:sp>
        <p:nvSpPr>
          <p:cNvPr id="6" name="Closing title"/>
          <p:cNvSpPr txBox="1"/>
          <p:nvPr/>
        </p:nvSpPr>
        <p:spPr>
          <a:xfrm>
            <a:off x="594360" y="1417320"/>
            <a:ext cx="10607040" cy="1554480"/>
          </a:xfrm>
          <a:prstGeom prst="rect">
            <a:avLst/>
          </a:prstGeom>
          <a:noFill/>
        </p:spPr>
        <p:txBody>
          <a:bodyPr wrap="square" lIns="0" rIns="0" tIns="0" bIns="0" anchor="t">
            <a:noAutofit/>
          </a:bodyPr>
          <a:lstStyle/>
          <a:p>
            <a:pPr algn="l">
              <a:lnSpc>
                <a:spcPct val="108000"/>
              </a:lnSpc>
              <a:spcBef>
                <a:spcPts val="0"/>
              </a:spcBef>
              <a:spcAft>
                <a:spcPts val="500"/>
              </a:spcAft>
            </a:pPr>
            <a:r>
              <a:rPr sz="4400" b="1">
                <a:solidFill>
                  <a:srgbClr val="FFFFFF"/>
                </a:solidFill>
                <a:latin typeface="Aptos Display"/>
              </a:rPr>
              <a:t>Commencer petit.</a:t>
            </a:r>
          </a:p>
          <a:p>
            <a:pPr algn="l">
              <a:lnSpc>
                <a:spcPct val="108000"/>
              </a:lnSpc>
              <a:spcBef>
                <a:spcPts val="0"/>
              </a:spcBef>
              <a:spcAft>
                <a:spcPts val="500"/>
              </a:spcAft>
            </a:pPr>
            <a:r>
              <a:rPr sz="4400" b="1">
                <a:solidFill>
                  <a:srgbClr val="FFFFFF"/>
                </a:solidFill>
                <a:latin typeface="Aptos Display"/>
              </a:rPr>
              <a:t>Décider sur des preuves.</a:t>
            </a:r>
          </a:p>
        </p:txBody>
      </p:sp>
      <p:sp>
        <p:nvSpPr>
          <p:cNvPr id="7" name="TextBox 6"/>
          <p:cNvSpPr txBox="1"/>
          <p:nvPr/>
        </p:nvSpPr>
        <p:spPr>
          <a:xfrm>
            <a:off x="594360" y="3474720"/>
            <a:ext cx="10607040" cy="521207"/>
          </a:xfrm>
          <a:prstGeom prst="rect">
            <a:avLst/>
          </a:prstGeom>
          <a:noFill/>
        </p:spPr>
        <p:txBody>
          <a:bodyPr wrap="square" lIns="0" rIns="0" tIns="0" bIns="0" anchor="t">
            <a:noAutofit/>
          </a:bodyPr>
          <a:lstStyle/>
          <a:p>
            <a:pPr algn="l">
              <a:lnSpc>
                <a:spcPct val="108000"/>
              </a:lnSpc>
              <a:spcBef>
                <a:spcPts val="0"/>
              </a:spcBef>
              <a:spcAft>
                <a:spcPts val="500"/>
              </a:spcAft>
            </a:pPr>
            <a:r>
              <a:rPr sz="2100" b="0">
                <a:solidFill>
                  <a:srgbClr val="C9D8DF"/>
                </a:solidFill>
                <a:latin typeface="Aptos"/>
              </a:rPr>
              <a:t>Pilote représentatif → mesure de l'effort → recette → migration par vagues.</a:t>
            </a:r>
          </a:p>
        </p:txBody>
      </p:sp>
      <p:sp>
        <p:nvSpPr>
          <p:cNvPr id="8" name="Rounded Rectangle 7"/>
          <p:cNvSpPr/>
          <p:nvPr/>
        </p:nvSpPr>
        <p:spPr>
          <a:xfrm>
            <a:off x="59436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CADRER</a:t>
            </a:r>
          </a:p>
        </p:txBody>
      </p:sp>
      <p:sp>
        <p:nvSpPr>
          <p:cNvPr id="10" name="Rounded Rectangle 9"/>
          <p:cNvSpPr/>
          <p:nvPr/>
        </p:nvSpPr>
        <p:spPr>
          <a:xfrm>
            <a:off x="342900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PILOTER</a:t>
            </a:r>
          </a:p>
        </p:txBody>
      </p:sp>
      <p:sp>
        <p:nvSpPr>
          <p:cNvPr id="12" name="Rounded Rectangle 11"/>
          <p:cNvSpPr/>
          <p:nvPr/>
        </p:nvSpPr>
        <p:spPr>
          <a:xfrm>
            <a:off x="6263640" y="4809744"/>
            <a:ext cx="2468880" cy="320040"/>
          </a:xfrm>
          <a:prstGeom prst="roundRect">
            <a:avLst>
              <a:gd name="adj" fmla="val 12000"/>
            </a:avLst>
          </a:prstGeom>
          <a:solidFill>
            <a:srgbClr val="F2C8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182630"/>
                </a:solidFill>
                <a:latin typeface="Aptos"/>
              </a:rPr>
              <a:t>DÉCIDER</a:t>
            </a:r>
          </a:p>
        </p:txBody>
      </p:sp>
      <p:sp>
        <p:nvSpPr>
          <p:cNvPr id="14" name="Rounded Rectangle 13"/>
          <p:cNvSpPr/>
          <p:nvPr/>
        </p:nvSpPr>
        <p:spPr>
          <a:xfrm>
            <a:off x="9098280" y="4809744"/>
            <a:ext cx="2468880" cy="320040"/>
          </a:xfrm>
          <a:prstGeom prst="roundRect">
            <a:avLst>
              <a:gd name="adj" fmla="val 12000"/>
            </a:avLst>
          </a:prstGeom>
          <a:solidFill>
            <a:srgbClr val="2035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9720" y="4846320"/>
            <a:ext cx="2286000" cy="219456"/>
          </a:xfrm>
          <a:prstGeom prst="rect">
            <a:avLst/>
          </a:prstGeom>
          <a:noFill/>
        </p:spPr>
        <p:txBody>
          <a:bodyPr wrap="square" lIns="0" rIns="0" tIns="0" bIns="0" anchor="t">
            <a:noAutofit/>
          </a:bodyPr>
          <a:lstStyle/>
          <a:p>
            <a:pPr algn="l">
              <a:lnSpc>
                <a:spcPct val="108000"/>
              </a:lnSpc>
              <a:spcBef>
                <a:spcPts val="0"/>
              </a:spcBef>
              <a:spcAft>
                <a:spcPts val="500"/>
              </a:spcAft>
            </a:pPr>
            <a:r>
              <a:rPr sz="1100" b="1">
                <a:solidFill>
                  <a:srgbClr val="FFFFFF"/>
                </a:solidFill>
                <a:latin typeface="Aptos"/>
              </a:rPr>
              <a:t>INDUSTRIALISER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Power BI — Vision et business case</dc:title>
  <dc:subject>Édition 26.10.2026 ; preuves datées ; hypothèses commerciales illustratives</dc:subject>
  <dc:creator>TableauToPowerBI project</dc:creator>
  <cp:keywords>Tableau, Power BI, PBIP, architecture, migration</cp:keywords>
  <dc:description>Generated by docs/generate_pptx.py</dc:description>
  <cp:lastModifiedBy>TableauToPowerBI project</cp:lastModifiedBy>
  <cp:revision>1</cp:revision>
  <dcterms:created xsi:type="dcterms:W3CDTF">2026-10-26T00:00:00Z</dcterms:created>
  <dcterms:modified xsi:type="dcterms:W3CDTF">2026-10-26T00:00:00Z</dcterms:modified>
  <cp:category/>
</cp:coreProperties>
</file>