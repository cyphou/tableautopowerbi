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Édition du 26.10.2026. Les preuves historiques sont datées séparément.</a:t>
            </a:r>
          </a:p>
          <a:p>
            <a:r>
              <a:t>Support en français. Aucun résultat client ni gain de temps mesuré n'est présenté. Les schémas sont des formes PowerPoint éditables.</a:t>
            </a:r>
          </a:p>
          <a:p/>
          <a:p>
            <a:r>
              <a:t>Sources de contenu (checkout de travail ; pas une certification) :</a:t>
            </a:r>
          </a:p>
          <a:p>
            <a:r>
              <a:t>Architecture et modes de source: https://github.com/cyphou/TableauToPowerBI/blob/main/docs/ARCHITECTURE.md</a:t>
            </a:r>
          </a:p>
          <a:p>
            <a:r>
              <a:t>Contrôles et critères de recette: https://github.com/cyphou/TableauToPowerBI/blob/main/docs/MIGRATION_CHECKLIST.md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Édition du 26.10.2026. Les preuves historiques sont datées séparément.</a:t>
            </a:r>
          </a:p>
          <a:p/>
          <a:p/>
          <a:p>
            <a:r>
              <a:t>Sources de contenu (checkout de travail ; pas une certification) :</a:t>
            </a:r>
          </a:p>
          <a:p>
            <a:r>
              <a:t>Architecture et modes de source: https://github.com/cyphou/TableauToPowerBI/blob/main/docs/ARCHITECTURE.md</a:t>
            </a:r>
          </a:p>
          <a:p>
            <a:r>
              <a:t>Périmètre Tableau Prep: https://github.com/cyphou/TableauToPowerBI/blob/main/docs/TABLEAU_PREP_TO_POWERQUERY_REFERENCE.md</a:t>
            </a:r>
          </a:p>
          <a:p>
            <a:r>
              <a:t>Limites et approximations: https://github.com/cyphou/TableauToPowerBI/blob/main/docs/KNOWN_LIMITATIONS.md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Édition du 26.10.2026. Les preuves historiques sont datées séparément.</a:t>
            </a:r>
          </a:p>
          <a:p/>
          <a:p/>
          <a:p>
            <a:r>
              <a:t>Sources de contenu (checkout de travail ; pas une certification) :</a:t>
            </a:r>
          </a:p>
          <a:p>
            <a:r>
              <a:t>Architecture et modes de source: https://github.com/cyphou/TableauToPowerBI/blob/main/docs/ARCHITECTURE.md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Édition du 26.10.2026. Les preuves historiques sont datées séparément.</a:t>
            </a:r>
          </a:p>
          <a:p/>
          <a:p/>
          <a:p>
            <a:r>
              <a:t>Sources de contenu (checkout de travail ; pas une certification) :</a:t>
            </a:r>
          </a:p>
          <a:p>
            <a:r>
              <a:t>Architecture et modes de source: https://github.com/cyphou/TableauToPowerBI/blob/main/docs/ARCHITECTURE.md</a:t>
            </a:r>
          </a:p>
          <a:p>
            <a:r>
              <a:t>Surface MCP et assistance IA: https://github.com/cyphou/TableauToPowerBI/blob/main/docs/AGENT_SURFACE.md</a:t>
            </a:r>
          </a:p>
          <a:p>
            <a:r>
              <a:t>Commandes et exploitation: https://github.com/cyphou/TableauToPowerBI/blob/main/docs/USER_MANUAL.md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Édition du 26.10.2026. Les preuves historiques sont datées séparément.</a:t>
            </a:r>
          </a:p>
          <a:p/>
          <a:p/>
          <a:p>
            <a:r>
              <a:t>Sources de contenu (checkout de travail ; pas une certification) :</a:t>
            </a:r>
          </a:p>
          <a:p>
            <a:r>
              <a:t>Contrôles et critères de recette: https://github.com/cyphou/TableauToPowerBI/blob/main/docs/MIGRATION_CHECKLIST.md</a:t>
            </a:r>
          </a:p>
          <a:p>
            <a:r>
              <a:t>Commandes et exploitation: https://github.com/cyphou/TableauToPowerBI/blob/main/docs/USER_MANUAL.md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Édition du 26.10.2026. Les preuves historiques sont datées séparément.</a:t>
            </a:r>
          </a:p>
          <a:p>
            <a:r>
              <a:t>Hyper &lt;= 10 * 1024 * 1024 octets : CSV + Import. Strictement au-dessus : Parquet natif + Import, SDK Hyper optionnel requis. Sans Hyper, DirectQuery si le connecteur le permet, sinon Import. L'utilisateur peut forcer Import. L'Import natif ne déclenche aucune extraction/copie de lignes par l'outil. Exception explicite : un classeur Excel réellement embarqué dans le TWBX est copié sans modification dans Data/ et lié par chemin absolu ; ce n'est pas une extraction de lignes, elle ne couvre ni les jobs téléversés ni les modèles partagés, et le chemin absolu local figure dans le projet. Fabric conserve un contrat de staging distinct.</a:t>
            </a:r>
          </a:p>
          <a:p/>
          <a:p>
            <a:r>
              <a:t>Sources de contenu (checkout de travail ; pas une certification) :</a:t>
            </a:r>
          </a:p>
          <a:p>
            <a:r>
              <a:t>Architecture et modes de source: https://github.com/cyphou/TableauToPowerBI/blob/main/docs/ARCHITECTURE.md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Édition du 26.10.2026. Les preuves historiques sont datées séparément.</a:t>
            </a:r>
          </a:p>
          <a:p/>
          <a:p/>
          <a:p>
            <a:r>
              <a:t>Sources de contenu (checkout de travail ; pas une certification) :</a:t>
            </a:r>
          </a:p>
          <a:p>
            <a:r>
              <a:t>Architecture et modes de source: https://github.com/cyphou/TableauToPowerBI/blob/main/docs/ARCHITECTURE.md</a:t>
            </a:r>
          </a:p>
          <a:p>
            <a:r>
              <a:t>Validation Microsoft optionnelle: https://github.com/cyphou/TableauToPowerBI/blob/main/docs/POWERBI_PROJECT_GUIDE.md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Édition du 26.10.2026. Les preuves historiques sont datées séparément.</a:t>
            </a:r>
          </a:p>
          <a:p/>
          <a:p/>
          <a:p>
            <a:r>
              <a:t>Sources de contenu (checkout de travail ; pas une certification) :</a:t>
            </a:r>
          </a:p>
          <a:p>
            <a:r>
              <a:t>Fonctionnalités et preuves datées: https://github.com/cyphou/TableauToPowerBI/blob/main/README.md</a:t>
            </a:r>
          </a:p>
          <a:p>
            <a:r>
              <a:t>Limites et approximations: https://github.com/cyphou/TableauToPowerBI/blob/main/docs/KNOWN_LIMITATIONS.md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Édition du 26.10.2026. Les preuves historiques sont datées séparément.</a:t>
            </a:r>
          </a:p>
          <a:p/>
          <a:p/>
          <a:p>
            <a:r>
              <a:t>Sources de contenu (checkout de travail ; pas une certification) :</a:t>
            </a:r>
          </a:p>
          <a:p>
            <a:r>
              <a:t>Inventaire des correspondances: https://github.com/cyphou/TableauToPowerBI/blob/main/docs/MAPPING_REFERENCE.md</a:t>
            </a:r>
          </a:p>
          <a:p>
            <a:r>
              <a:t>Validation Microsoft optionnelle: https://github.com/cyphou/TableauToPowerBI/blob/main/docs/POWERBI_PROJECT_GUIDE.md</a:t>
            </a:r>
          </a:p>
          <a:p>
            <a:r>
              <a:t>Limites et approximations: https://github.com/cyphou/TableauToPowerBI/blob/main/docs/KNOWN_LIMITATIONS.md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Édition du 26.10.2026. Les preuves historiques sont datées séparément.</a:t>
            </a:r>
          </a:p>
          <a:p/>
          <a:p/>
          <a:p>
            <a:r>
              <a:t>Sources de contenu (checkout de travail ; pas une certification) :</a:t>
            </a:r>
          </a:p>
          <a:p>
            <a:r>
              <a:t>Fonctionnalités et preuves datées: https://github.com/cyphou/TableauToPowerBI/blob/main/README.md</a:t>
            </a:r>
          </a:p>
          <a:p>
            <a:r>
              <a:t>Inventaire des correspondances: https://github.com/cyphou/TableauToPowerBI/blob/main/docs/MAPPING_REFERENCE.md</a:t>
            </a:r>
          </a:p>
          <a:p>
            <a:r>
              <a:t>Limites et approximations: https://github.com/cyphou/TableauToPowerBI/blob/main/docs/KNOWN_LIMITATIONS.md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Édition du 26.10.2026. Les preuves historiques sont datées séparément.</a:t>
            </a:r>
          </a:p>
          <a:p/>
          <a:p/>
          <a:p>
            <a:r>
              <a:t>Sources de contenu (checkout de travail ; pas une certification) :</a:t>
            </a:r>
          </a:p>
          <a:p>
            <a:r>
              <a:t>Architecture et modes de source: https://github.com/cyphou/TableauToPowerBI/blob/main/docs/ARCHITECTURE.md</a:t>
            </a:r>
          </a:p>
          <a:p>
            <a:r>
              <a:t>Fonctionnalités et preuves datées: https://github.com/cyphou/TableauToPowerBI/blob/main/README.md</a:t>
            </a:r>
          </a:p>
          <a:p>
            <a:r>
              <a:t>Limites et approximations: https://github.com/cyphou/TableauToPowerBI/blob/main/docs/KNOWN_LIMITATIONS.md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Édition du 26.10.2026. Les preuves historiques sont datées séparément.</a:t>
            </a:r>
          </a:p>
          <a:p/>
          <a:p/>
          <a:p>
            <a:r>
              <a:t>Sources de contenu (checkout de travail ; pas une certification) :</a:t>
            </a:r>
          </a:p>
          <a:p>
            <a:r>
              <a:t>Périmètre Tableau Prep: https://github.com/cyphou/TableauToPowerBI/blob/main/docs/TABLEAU_PREP_TO_POWERQUERY_REFERENCE.md</a:t>
            </a:r>
          </a:p>
          <a:p>
            <a:r>
              <a:t>Architecture et modes de source: https://github.com/cyphou/TableauToPowerBI/blob/main/docs/ARCHITECTURE.md</a:t>
            </a:r>
          </a:p>
          <a:p>
            <a:r>
              <a:t>Limites et approximations: https://github.com/cyphou/TableauToPowerBI/blob/main/docs/KNOWN_LIMITATIONS.md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Édition du 26.10.2026. Les preuves historiques sont datées séparément.</a:t>
            </a:r>
          </a:p>
          <a:p/>
          <a:p/>
          <a:p>
            <a:r>
              <a:t>Sources de contenu (checkout de travail ; pas une certification) :</a:t>
            </a:r>
          </a:p>
          <a:p>
            <a:r>
              <a:t>Architecture et modes de source: https://github.com/cyphou/TableauToPowerBI/blob/main/docs/ARCHITECTURE.md</a:t>
            </a:r>
          </a:p>
          <a:p>
            <a:r>
              <a:t>Publication séparément autorisée: https://github.com/cyphou/TableauToPowerBI/blob/main/docs/DEPLOYMENT_GUIDE.md</a:t>
            </a:r>
          </a:p>
          <a:p>
            <a:r>
              <a:t>Limites et approximations: https://github.com/cyphou/TableauToPowerBI/blob/main/docs/KNOWN_LIMITATIONS.md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Édition du 26.10.2026. Les preuves historiques sont datées séparément.</a:t>
            </a:r>
          </a:p>
          <a:p/>
          <a:p/>
          <a:p>
            <a:r>
              <a:t>Sources de contenu (checkout de travail ; pas une certification) :</a:t>
            </a:r>
          </a:p>
          <a:p>
            <a:r>
              <a:t>Contrôles et critères de recette: https://github.com/cyphou/TableauToPowerBI/blob/main/docs/MIGRATION_CHECKLIST.md</a:t>
            </a:r>
          </a:p>
          <a:p>
            <a:r>
              <a:t>Validation Microsoft optionnelle: https://github.com/cyphou/TableauToPowerBI/blob/main/docs/POWERBI_PROJECT_GUIDE.md</a:t>
            </a:r>
          </a:p>
          <a:p>
            <a:r>
              <a:t>Surface MCP et assistance IA: https://github.com/cyphou/TableauToPowerBI/blob/main/docs/AGENT_SURFACE.md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Édition du 26.10.2026. Les preuves historiques sont datées séparément.</a:t>
            </a:r>
          </a:p>
          <a:p>
            <a:r>
              <a:t>CLI Microsoft powerbi-report-author 0.5.0, validation avec schémas activés : 4/10 avant, 22 erreurs ; 10/10 après, zéro erreur et zéro avertissement CLI. Qualité unifiée : 4 PASS, 6 WARN, 0 FAIL. Suite locale historique : 11 850 passed, 66 skipped, 1 xfailed, 1 warning. Ne pas confondre ces résultats avec la CI courante, le moteur DAX, Desktop, refresh ou des gains de temps.</a:t>
            </a:r>
          </a:p>
          <a:p/>
          <a:p>
            <a:r>
              <a:t>Sources de contenu (checkout de travail ; pas une certification) :</a:t>
            </a:r>
          </a:p>
          <a:p>
            <a:r>
              <a:t>Fonctionnalités et preuves datées: https://github.com/cyphou/TableauToPowerBI/blob/main/README.md</a:t>
            </a:r>
          </a:p>
          <a:p>
            <a:r>
              <a:t>Validation Microsoft optionnelle: https://github.com/cyphou/TableauToPowerBI/blob/main/docs/POWERBI_PROJECT_GUIDE.md</a:t>
            </a:r>
          </a:p>
          <a:p>
            <a:r>
              <a:t>Tests et portée des résultats: https://github.com/cyphou/TableauToPowerBI/blob/main/tests/README.md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Édition du 26.10.2026. Les preuves historiques sont datées séparément.</a:t>
            </a:r>
          </a:p>
          <a:p/>
          <a:p/>
          <a:p>
            <a:r>
              <a:t>Sources de contenu (checkout de travail ; pas une certification) :</a:t>
            </a:r>
          </a:p>
          <a:p>
            <a:r>
              <a:t>Propriété et handoffs des agents: https://github.com/cyphou/TableauToPowerBI/blob/main/docs/AGENTS.md</a:t>
            </a:r>
          </a:p>
          <a:p>
            <a:r>
              <a:t>Surface MCP et assistance IA: https://github.com/cyphou/TableauToPowerBI/blob/main/docs/AGENT_SURFACE.md</a:t>
            </a:r>
          </a:p>
          <a:p>
            <a:r>
              <a:t>Contrôles et critères de recette: https://github.com/cyphou/TableauToPowerBI/blob/main/docs/MIGRATION_CHECKLIST.md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Édition du 26.10.2026. Les preuves historiques sont datées séparément.</a:t>
            </a:r>
          </a:p>
          <a:p>
            <a:r>
              <a:t>L'intégration testée repose sur powerbi-report-author 0.5.0 et ses métadonnées. Le MCP de modélisation reste soumis à une EULA distincte non acceptée ici. Ne pas présenter une vérification de moteur comme exécutée. Les outils d'assistance et de handoff ne déclenchent pas automatiquement tous les agents.</a:t>
            </a:r>
          </a:p>
          <a:p/>
          <a:p>
            <a:r>
              <a:t>Sources de contenu (checkout de travail ; pas une certification) :</a:t>
            </a:r>
          </a:p>
          <a:p>
            <a:r>
              <a:t>Surface MCP et assistance IA: https://github.com/cyphou/TableauToPowerBI/blob/main/docs/AGENT_SURFACE.md</a:t>
            </a:r>
          </a:p>
          <a:p>
            <a:r>
              <a:t>Validation Microsoft optionnelle: https://github.com/cyphou/TableauToPowerBI/blob/main/docs/POWERBI_PROJECT_GUIDE.md</a:t>
            </a:r>
          </a:p>
          <a:p>
            <a:r>
              <a:t>Propriété et handoffs des agents: https://github.com/cyphou/TableauToPowerBI/blob/main/docs/AGENTS.md</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Édition du 26.10.2026. Les preuves historiques sont datées séparément.</a:t>
            </a:r>
          </a:p>
          <a:p/>
          <a:p/>
          <a:p>
            <a:r>
              <a:t>Sources de contenu (checkout de travail ; pas une certification) :</a:t>
            </a:r>
          </a:p>
          <a:p>
            <a:r>
              <a:t>Fonctionnalités et preuves datées: https://github.com/cyphou/TableauToPowerBI/blob/main/README.md</a:t>
            </a:r>
          </a:p>
          <a:p>
            <a:r>
              <a:t>Contrôles et critères de recette: https://github.com/cyphou/TableauToPowerBI/blob/main/docs/MIGRATION_CHECKLIST.md</a:t>
            </a:r>
          </a:p>
          <a:p>
            <a:r>
              <a:t>Publication séparément autorisée: https://github.com/cyphou/TableauToPowerBI/blob/main/docs/DEPLOYMENT_GUIDE.md</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Édition du 26.10.2026. Les preuves historiques sont datées séparément.</a:t>
            </a:r>
          </a:p>
          <a:p/>
          <a:p/>
          <a:p>
            <a:r>
              <a:t>Sources de contenu (checkout de travail ; pas une certification) :</a:t>
            </a:r>
          </a:p>
          <a:p>
            <a:r>
              <a:t>Publication séparément autorisée: https://github.com/cyphou/TableauToPowerBI/blob/main/docs/DEPLOYMENT_GUIDE.md</a:t>
            </a:r>
          </a:p>
          <a:p>
            <a:r>
              <a:t>Contrôles et critères de recette: https://github.com/cyphou/TableauToPowerBI/blob/main/docs/MIGRATION_CHECKLIST.md</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Édition du 26.10.2026. Les preuves historiques sont datées séparément.</a:t>
            </a:r>
          </a:p>
          <a:p/>
          <a:p/>
          <a:p>
            <a:r>
              <a:t>Sources de contenu (checkout de travail ; pas une certification) :</a:t>
            </a:r>
          </a:p>
          <a:p>
            <a:r>
              <a:t>Commandes et exploitation: https://github.com/cyphou/TableauToPowerBI/blob/main/docs/USER_MANUAL.md</a:t>
            </a:r>
          </a:p>
          <a:p>
            <a:r>
              <a:t>Architecture et modes de source: https://github.com/cyphou/TableauToPowerBI/blob/main/docs/ARCHITECTURE.md</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Édition du 26.10.2026. Les preuves historiques sont datées séparément.</a:t>
            </a:r>
          </a:p>
          <a:p/>
          <a:p/>
          <a:p>
            <a:r>
              <a:t>Sources de contenu (checkout de travail ; pas une certification) :</a:t>
            </a:r>
          </a:p>
          <a:p>
            <a:r>
              <a:t>Contrôles et critères de recette: https://github.com/cyphou/TableauToPowerBI/blob/main/docs/MIGRATION_CHECKLIST.md</a:t>
            </a:r>
          </a:p>
          <a:p>
            <a:r>
              <a:t>Limites et approximations: https://github.com/cyphou/TableauToPowerBI/blob/main/docs/KNOWN_LIMITATIONS.md</a:t>
            </a:r>
          </a:p>
          <a:p>
            <a:r>
              <a:t>Inventaire des correspondances: https://github.com/cyphou/TableauToPowerBI/blob/main/docs/MAPPING_REFERENCE.md</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Édition du 26.10.2026. Les preuves historiques sont datées séparément.</a:t>
            </a:r>
          </a:p>
          <a:p/>
          <a:p/>
          <a:p>
            <a:r>
              <a:t>Sources de contenu (checkout de travail ; pas une certification) :</a:t>
            </a:r>
          </a:p>
          <a:p>
            <a:r>
              <a:t>Architecture et modes de source: https://github.com/cyphou/TableauToPowerBI/blob/main/docs/ARCHITECTURE.md</a:t>
            </a:r>
          </a:p>
          <a:p>
            <a:r>
              <a:t>Fonctionnalités et preuves datées: https://github.com/cyphou/TableauToPowerBI/blob/main/README.md</a:t>
            </a:r>
          </a:p>
          <a:p>
            <a:r>
              <a:t>Contrôles et critères de recette: https://github.com/cyphou/TableauToPowerBI/blob/main/docs/MIGRATION_CHECKLIST.md</a:t>
            </a:r>
          </a:p>
          <a:p>
            <a:r>
              <a:t>Limites et approximations: https://github.com/cyphou/TableauToPowerBI/blob/main/docs/KNOWN_LIMITATIONS.md</a:t>
            </a:r>
          </a:p>
          <a:p>
            <a:r>
              <a:t>Validation Microsoft optionnelle: https://github.com/cyphou/TableauToPowerBI/blob/main/docs/POWERBI_PROJECT_GUIDE.md</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Édition du 26.10.2026. Les preuves historiques sont datées séparément.</a:t>
            </a:r>
          </a:p>
          <a:p/>
          <a:p/>
          <a:p>
            <a:r>
              <a:t>Sources de contenu (checkout de travail ; pas une certification) :</a:t>
            </a:r>
          </a:p>
          <a:p>
            <a:r>
              <a:t>Architecture et modes de source: https://github.com/cyphou/TableauToPowerBI/blob/main/docs/ARCHITECTURE.md</a:t>
            </a:r>
          </a:p>
          <a:p>
            <a:r>
              <a:t>Contrôles et critères de recette: https://github.com/cyphou/TableauToPowerBI/blob/main/docs/MIGRATION_CHECKLIST.md</a:t>
            </a:r>
          </a:p>
          <a:p>
            <a:r>
              <a:t>Publication séparément autorisée: https://github.com/cyphou/TableauToPowerBI/blob/main/docs/DEPLOYMENT_GUIDE.md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hyperlink" Target="https://github.com/cyphou/TableauToPowerBI/blob/main/docs/ARCHITECTURE.md" TargetMode="External"/><Relationship Id="rId4" Type="http://schemas.openxmlformats.org/officeDocument/2006/relationships/hyperlink" Target="https://github.com/cyphou/TableauToPowerBI/blob/main/README.md" TargetMode="External"/><Relationship Id="rId5" Type="http://schemas.openxmlformats.org/officeDocument/2006/relationships/hyperlink" Target="https://github.com/cyphou/TableauToPowerBI/blob/main/docs/MIGRATION_CHECKLIST.md" TargetMode="External"/><Relationship Id="rId6" Type="http://schemas.openxmlformats.org/officeDocument/2006/relationships/hyperlink" Target="https://github.com/cyphou/TableauToPowerBI/blob/main/docs/POWERBI_PROJECT_GUIDE.md"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D1D26"/>
        </a:solidFill>
        <a:effectLst/>
      </p:bgPr>
    </p:bg>
    <p:spTree>
      <p:nvGrpSpPr>
        <p:cNvPr id="1" name=""/>
        <p:cNvGrpSpPr/>
        <p:nvPr/>
      </p:nvGrpSpPr>
      <p:grpSpPr/>
      <p:sp>
        <p:nvSpPr>
          <p:cNvPr id="2" name="TextBox 1"/>
          <p:cNvSpPr txBox="1"/>
          <p:nvPr/>
        </p:nvSpPr>
        <p:spPr>
          <a:xfrm>
            <a:off x="594360" y="466344"/>
            <a:ext cx="10789920" cy="201168"/>
          </a:xfrm>
          <a:prstGeom prst="rect">
            <a:avLst/>
          </a:prstGeom>
          <a:noFill/>
        </p:spPr>
        <p:txBody>
          <a:bodyPr wrap="square" lIns="0" rIns="0" tIns="0" bIns="0" anchor="t">
            <a:noAutofit/>
          </a:bodyPr>
          <a:lstStyle/>
          <a:p>
            <a:pPr algn="l">
              <a:lnSpc>
                <a:spcPct val="108000"/>
              </a:lnSpc>
              <a:spcBef>
                <a:spcPts val="0"/>
              </a:spcBef>
              <a:spcAft>
                <a:spcPts val="500"/>
              </a:spcAft>
            </a:pPr>
            <a:r>
              <a:rPr sz="1050" b="1">
                <a:solidFill>
                  <a:srgbClr val="F2C811"/>
                </a:solidFill>
                <a:latin typeface="Aptos"/>
              </a:rPr>
              <a:t>GUIDE TECHNIQUE</a:t>
            </a:r>
          </a:p>
        </p:txBody>
      </p:sp>
      <p:sp>
        <p:nvSpPr>
          <p:cNvPr id="3" name="Slide title"/>
          <p:cNvSpPr txBox="1"/>
          <p:nvPr/>
        </p:nvSpPr>
        <p:spPr>
          <a:xfrm>
            <a:off x="594360" y="859536"/>
            <a:ext cx="11000232" cy="685800"/>
          </a:xfrm>
          <a:prstGeom prst="rect">
            <a:avLst/>
          </a:prstGeom>
          <a:noFill/>
        </p:spPr>
        <p:txBody>
          <a:bodyPr wrap="square" lIns="0" rIns="0" tIns="0" bIns="0" anchor="t">
            <a:noAutofit/>
          </a:bodyPr>
          <a:lstStyle/>
          <a:p>
            <a:pPr algn="l">
              <a:lnSpc>
                <a:spcPct val="108000"/>
              </a:lnSpc>
              <a:spcBef>
                <a:spcPts val="0"/>
              </a:spcBef>
              <a:spcAft>
                <a:spcPts val="500"/>
              </a:spcAft>
            </a:pPr>
            <a:r>
              <a:rPr sz="3600" b="1">
                <a:solidFill>
                  <a:srgbClr val="FFFFFF"/>
                </a:solidFill>
                <a:latin typeface="Aptos Display"/>
              </a:rPr>
              <a:t/>
            </a:r>
          </a:p>
        </p:txBody>
      </p:sp>
      <p:sp>
        <p:nvSpPr>
          <p:cNvPr id="4" name="TextBox 3"/>
          <p:cNvSpPr txBox="1"/>
          <p:nvPr/>
        </p:nvSpPr>
        <p:spPr>
          <a:xfrm>
            <a:off x="594360" y="6199632"/>
            <a:ext cx="10149840" cy="182880"/>
          </a:xfrm>
          <a:prstGeom prst="rect">
            <a:avLst/>
          </a:prstGeom>
          <a:noFill/>
        </p:spPr>
        <p:txBody>
          <a:bodyPr wrap="square" lIns="0" rIns="0" tIns="0" bIns="0" anchor="t">
            <a:noAutofit/>
          </a:bodyPr>
          <a:lstStyle/>
          <a:p>
            <a:pPr algn="l">
              <a:lnSpc>
                <a:spcPct val="108000"/>
              </a:lnSpc>
              <a:spcBef>
                <a:spcPts val="0"/>
              </a:spcBef>
              <a:spcAft>
                <a:spcPts val="500"/>
              </a:spcAft>
            </a:pPr>
            <a:r>
              <a:rPr sz="1000" b="0">
                <a:solidFill>
                  <a:srgbClr val="C9D8DF"/>
                </a:solidFill>
                <a:latin typeface="Aptos"/>
              </a:rPr>
              <a:t>Tableau to Power BI  |  Édition 26.10.2026  |  Guide technique</a:t>
            </a:r>
          </a:p>
        </p:txBody>
      </p:sp>
      <p:sp>
        <p:nvSpPr>
          <p:cNvPr id="5" name="TextBox 4"/>
          <p:cNvSpPr txBox="1"/>
          <p:nvPr/>
        </p:nvSpPr>
        <p:spPr>
          <a:xfrm>
            <a:off x="11000232" y="6181344"/>
            <a:ext cx="594360" cy="210312"/>
          </a:xfrm>
          <a:prstGeom prst="rect">
            <a:avLst/>
          </a:prstGeom>
          <a:noFill/>
        </p:spPr>
        <p:txBody>
          <a:bodyPr wrap="square" lIns="0" rIns="0" tIns="0" bIns="0" anchor="t">
            <a:noAutofit/>
          </a:bodyPr>
          <a:lstStyle/>
          <a:p>
            <a:pPr algn="r">
              <a:lnSpc>
                <a:spcPct val="108000"/>
              </a:lnSpc>
              <a:spcBef>
                <a:spcPts val="0"/>
              </a:spcBef>
              <a:spcAft>
                <a:spcPts val="500"/>
              </a:spcAft>
            </a:pPr>
            <a:r>
              <a:rPr sz="1100" b="0">
                <a:solidFill>
                  <a:srgbClr val="C9D8DF"/>
                </a:solidFill>
                <a:latin typeface="Aptos"/>
              </a:rPr>
              <a:t>01</a:t>
            </a:r>
          </a:p>
        </p:txBody>
      </p:sp>
      <p:sp>
        <p:nvSpPr>
          <p:cNvPr id="6" name="TextBox 5"/>
          <p:cNvSpPr txBox="1"/>
          <p:nvPr/>
        </p:nvSpPr>
        <p:spPr>
          <a:xfrm>
            <a:off x="594360" y="1243584"/>
            <a:ext cx="7498079" cy="411480"/>
          </a:xfrm>
          <a:prstGeom prst="rect">
            <a:avLst/>
          </a:prstGeom>
          <a:noFill/>
        </p:spPr>
        <p:txBody>
          <a:bodyPr wrap="square" lIns="0" rIns="0" tIns="0" bIns="0" anchor="t">
            <a:noAutofit/>
          </a:bodyPr>
          <a:lstStyle/>
          <a:p>
            <a:pPr algn="l">
              <a:lnSpc>
                <a:spcPct val="108000"/>
              </a:lnSpc>
              <a:spcBef>
                <a:spcPts val="0"/>
              </a:spcBef>
              <a:spcAft>
                <a:spcPts val="500"/>
              </a:spcAft>
            </a:pPr>
            <a:r>
              <a:rPr sz="2200" b="1">
                <a:solidFill>
                  <a:srgbClr val="F2C811"/>
                </a:solidFill>
                <a:latin typeface="Aptos"/>
              </a:rPr>
              <a:t>TABLEAU  →  POWER BI</a:t>
            </a:r>
          </a:p>
        </p:txBody>
      </p:sp>
      <p:sp>
        <p:nvSpPr>
          <p:cNvPr id="7" name="Deck title"/>
          <p:cNvSpPr txBox="1"/>
          <p:nvPr/>
        </p:nvSpPr>
        <p:spPr>
          <a:xfrm>
            <a:off x="594360" y="2029968"/>
            <a:ext cx="7772400" cy="1554480"/>
          </a:xfrm>
          <a:prstGeom prst="rect">
            <a:avLst/>
          </a:prstGeom>
          <a:noFill/>
        </p:spPr>
        <p:txBody>
          <a:bodyPr wrap="square" lIns="0" rIns="0" tIns="0" bIns="0" anchor="t">
            <a:noAutofit/>
          </a:bodyPr>
          <a:lstStyle/>
          <a:p>
            <a:pPr algn="l">
              <a:lnSpc>
                <a:spcPct val="108000"/>
              </a:lnSpc>
              <a:spcBef>
                <a:spcPts val="0"/>
              </a:spcBef>
              <a:spcAft>
                <a:spcPts val="500"/>
              </a:spcAft>
            </a:pPr>
            <a:r>
              <a:rPr sz="4200" b="1">
                <a:solidFill>
                  <a:srgbClr val="FFFFFF"/>
                </a:solidFill>
                <a:latin typeface="Aptos Display"/>
              </a:rPr>
              <a:t>Une architecture ouverte,</a:t>
            </a:r>
          </a:p>
          <a:p>
            <a:pPr algn="l">
              <a:lnSpc>
                <a:spcPct val="108000"/>
              </a:lnSpc>
              <a:spcBef>
                <a:spcPts val="0"/>
              </a:spcBef>
              <a:spcAft>
                <a:spcPts val="500"/>
              </a:spcAft>
            </a:pPr>
            <a:r>
              <a:rPr sz="4200" b="1">
                <a:solidFill>
                  <a:srgbClr val="FFFFFF"/>
                </a:solidFill>
                <a:latin typeface="Aptos Display"/>
              </a:rPr>
              <a:t>des contrôles explicites.</a:t>
            </a:r>
          </a:p>
        </p:txBody>
      </p:sp>
      <p:sp>
        <p:nvSpPr>
          <p:cNvPr id="8" name="TextBox 7"/>
          <p:cNvSpPr txBox="1"/>
          <p:nvPr/>
        </p:nvSpPr>
        <p:spPr>
          <a:xfrm>
            <a:off x="594360" y="3977639"/>
            <a:ext cx="7589520" cy="749808"/>
          </a:xfrm>
          <a:prstGeom prst="rect">
            <a:avLst/>
          </a:prstGeom>
          <a:noFill/>
        </p:spPr>
        <p:txBody>
          <a:bodyPr wrap="square" lIns="0" rIns="0" tIns="0" bIns="0" anchor="t">
            <a:noAutofit/>
          </a:bodyPr>
          <a:lstStyle/>
          <a:p>
            <a:pPr algn="l">
              <a:lnSpc>
                <a:spcPct val="108000"/>
              </a:lnSpc>
              <a:spcBef>
                <a:spcPts val="0"/>
              </a:spcBef>
              <a:spcAft>
                <a:spcPts val="500"/>
              </a:spcAft>
            </a:pPr>
            <a:r>
              <a:rPr sz="1900" b="0">
                <a:solidFill>
                  <a:srgbClr val="C9D8DF"/>
                </a:solidFill>
                <a:latin typeface="Aptos"/>
              </a:rPr>
              <a:t>Architecture, workflows, fonctionnalités et exploitation.</a:t>
            </a:r>
          </a:p>
        </p:txBody>
      </p:sp>
      <p:pic>
        <p:nvPicPr>
          <p:cNvPr id="9" name="Picture 8" descr="logo-migration-dashboards.png"/>
          <p:cNvPicPr>
            <a:picLocks noChangeAspect="1"/>
          </p:cNvPicPr>
          <p:nvPr/>
        </p:nvPicPr>
        <p:blipFill>
          <a:blip r:embed="rId3"/>
          <a:stretch>
            <a:fillRect/>
          </a:stretch>
        </p:blipFill>
        <p:spPr>
          <a:xfrm>
            <a:off x="8732520" y="2066543"/>
            <a:ext cx="2423160" cy="2423160"/>
          </a:xfrm>
          <a:prstGeom prst="rect">
            <a:avLst/>
          </a:prstGeom>
        </p:spPr>
      </p:pic>
      <p:sp>
        <p:nvSpPr>
          <p:cNvPr id="10" name="Rounded Rectangle 9"/>
          <p:cNvSpPr/>
          <p:nvPr/>
        </p:nvSpPr>
        <p:spPr>
          <a:xfrm>
            <a:off x="594360" y="5294376"/>
            <a:ext cx="3200400" cy="320040"/>
          </a:xfrm>
          <a:prstGeom prst="roundRect">
            <a:avLst>
              <a:gd name="adj" fmla="val 12000"/>
            </a:avLst>
          </a:prstGeom>
          <a:solidFill>
            <a:srgbClr val="F2C8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5330952"/>
            <a:ext cx="3017520" cy="219456"/>
          </a:xfrm>
          <a:prstGeom prst="rect">
            <a:avLst/>
          </a:prstGeom>
          <a:noFill/>
        </p:spPr>
        <p:txBody>
          <a:bodyPr wrap="square" lIns="0" rIns="0" tIns="0" bIns="0" anchor="t">
            <a:noAutofit/>
          </a:bodyPr>
          <a:lstStyle/>
          <a:p>
            <a:pPr algn="l">
              <a:lnSpc>
                <a:spcPct val="108000"/>
              </a:lnSpc>
              <a:spcBef>
                <a:spcPts val="0"/>
              </a:spcBef>
              <a:spcAft>
                <a:spcPts val="500"/>
              </a:spcAft>
            </a:pPr>
            <a:r>
              <a:rPr sz="1100" b="1">
                <a:solidFill>
                  <a:srgbClr val="182630"/>
                </a:solidFill>
                <a:latin typeface="Aptos"/>
              </a:rPr>
              <a:t>PROJETS ÉDITABLES</a:t>
            </a:r>
          </a:p>
        </p:txBody>
      </p:sp>
      <p:sp>
        <p:nvSpPr>
          <p:cNvPr id="12" name="Rounded Rectangle 11"/>
          <p:cNvSpPr/>
          <p:nvPr/>
        </p:nvSpPr>
        <p:spPr>
          <a:xfrm>
            <a:off x="4069080" y="5294376"/>
            <a:ext cx="3383280" cy="320040"/>
          </a:xfrm>
          <a:prstGeom prst="roundRect">
            <a:avLst>
              <a:gd name="adj" fmla="val 12000"/>
            </a:avLst>
          </a:prstGeom>
          <a:solidFill>
            <a:srgbClr val="2035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160520" y="5330952"/>
            <a:ext cx="3200400" cy="219456"/>
          </a:xfrm>
          <a:prstGeom prst="rect">
            <a:avLst/>
          </a:prstGeom>
          <a:noFill/>
        </p:spPr>
        <p:txBody>
          <a:bodyPr wrap="square" lIns="0" rIns="0" tIns="0" bIns="0" anchor="t">
            <a:noAutofit/>
          </a:bodyPr>
          <a:lstStyle/>
          <a:p>
            <a:pPr algn="l">
              <a:lnSpc>
                <a:spcPct val="108000"/>
              </a:lnSpc>
              <a:spcBef>
                <a:spcPts val="0"/>
              </a:spcBef>
              <a:spcAft>
                <a:spcPts val="500"/>
              </a:spcAft>
            </a:pPr>
            <a:r>
              <a:rPr sz="1100" b="1">
                <a:solidFill>
                  <a:srgbClr val="FFFFFF"/>
                </a:solidFill>
                <a:latin typeface="Aptos"/>
              </a:rPr>
              <a:t>DÉCISION HUMAINE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5F7F8"/>
        </a:solidFill>
        <a:effectLst/>
      </p:bgPr>
    </p:bg>
    <p:spTree>
      <p:nvGrpSpPr>
        <p:cNvPr id="1" name=""/>
        <p:cNvGrpSpPr/>
        <p:nvPr/>
      </p:nvGrpSpPr>
      <p:grpSpPr/>
      <p:sp>
        <p:nvSpPr>
          <p:cNvPr id="2" name="TextBox 1"/>
          <p:cNvSpPr txBox="1"/>
          <p:nvPr/>
        </p:nvSpPr>
        <p:spPr>
          <a:xfrm>
            <a:off x="594360" y="466344"/>
            <a:ext cx="10789920" cy="201168"/>
          </a:xfrm>
          <a:prstGeom prst="rect">
            <a:avLst/>
          </a:prstGeom>
          <a:noFill/>
        </p:spPr>
        <p:txBody>
          <a:bodyPr wrap="square" lIns="0" rIns="0" tIns="0" bIns="0" anchor="t">
            <a:noAutofit/>
          </a:bodyPr>
          <a:lstStyle/>
          <a:p>
            <a:pPr algn="l">
              <a:lnSpc>
                <a:spcPct val="108000"/>
              </a:lnSpc>
              <a:spcBef>
                <a:spcPts val="0"/>
              </a:spcBef>
              <a:spcAft>
                <a:spcPts val="500"/>
              </a:spcAft>
            </a:pPr>
            <a:r>
              <a:rPr sz="1050" b="1">
                <a:solidFill>
                  <a:srgbClr val="007F79"/>
                </a:solidFill>
                <a:latin typeface="Aptos"/>
              </a:rPr>
              <a:t>PÉRIMÈTRE</a:t>
            </a:r>
          </a:p>
        </p:txBody>
      </p:sp>
      <p:sp>
        <p:nvSpPr>
          <p:cNvPr id="3" name="Slide title"/>
          <p:cNvSpPr txBox="1"/>
          <p:nvPr/>
        </p:nvSpPr>
        <p:spPr>
          <a:xfrm>
            <a:off x="594360" y="859536"/>
            <a:ext cx="11000232" cy="685800"/>
          </a:xfrm>
          <a:prstGeom prst="rect">
            <a:avLst/>
          </a:prstGeom>
          <a:noFill/>
        </p:spPr>
        <p:txBody>
          <a:bodyPr wrap="square" lIns="0" rIns="0" tIns="0" bIns="0" anchor="t">
            <a:noAutofit/>
          </a:bodyPr>
          <a:lstStyle/>
          <a:p>
            <a:pPr algn="l">
              <a:lnSpc>
                <a:spcPct val="108000"/>
              </a:lnSpc>
              <a:spcBef>
                <a:spcPts val="0"/>
              </a:spcBef>
              <a:spcAft>
                <a:spcPts val="500"/>
              </a:spcAft>
            </a:pPr>
            <a:r>
              <a:rPr sz="3600" b="1">
                <a:solidFill>
                  <a:srgbClr val="182630"/>
                </a:solidFill>
                <a:latin typeface="Aptos Display"/>
              </a:rPr>
              <a:t>Trois routes de sortie, trois contrats</a:t>
            </a:r>
          </a:p>
        </p:txBody>
      </p:sp>
      <p:sp>
        <p:nvSpPr>
          <p:cNvPr id="4" name="TextBox 3"/>
          <p:cNvSpPr txBox="1"/>
          <p:nvPr/>
        </p:nvSpPr>
        <p:spPr>
          <a:xfrm>
            <a:off x="594360" y="1673352"/>
            <a:ext cx="11000232" cy="493776"/>
          </a:xfrm>
          <a:prstGeom prst="rect">
            <a:avLst/>
          </a:prstGeom>
          <a:noFill/>
        </p:spPr>
        <p:txBody>
          <a:bodyPr wrap="square" lIns="0" rIns="0" tIns="0" bIns="0" anchor="t">
            <a:noAutofit/>
          </a:bodyPr>
          <a:lstStyle/>
          <a:p>
            <a:pPr algn="l">
              <a:lnSpc>
                <a:spcPct val="108000"/>
              </a:lnSpc>
              <a:spcBef>
                <a:spcPts val="0"/>
              </a:spcBef>
              <a:spcAft>
                <a:spcPts val="500"/>
              </a:spcAft>
            </a:pPr>
            <a:r>
              <a:rPr sz="1500" b="0">
                <a:solidFill>
                  <a:srgbClr val="52616C"/>
                </a:solidFill>
                <a:latin typeface="Aptos"/>
              </a:rPr>
              <a:t>Le format dépend du besoin ; un Prep autonome n'est pas un rapport Power BI.</a:t>
            </a:r>
          </a:p>
        </p:txBody>
      </p:sp>
      <p:sp>
        <p:nvSpPr>
          <p:cNvPr id="5" name="TextBox 4"/>
          <p:cNvSpPr txBox="1"/>
          <p:nvPr/>
        </p:nvSpPr>
        <p:spPr>
          <a:xfrm>
            <a:off x="594360" y="6199632"/>
            <a:ext cx="10149840" cy="182880"/>
          </a:xfrm>
          <a:prstGeom prst="rect">
            <a:avLst/>
          </a:prstGeom>
          <a:noFill/>
        </p:spPr>
        <p:txBody>
          <a:bodyPr wrap="square" lIns="0" rIns="0" tIns="0" bIns="0" anchor="t">
            <a:noAutofit/>
          </a:bodyPr>
          <a:lstStyle/>
          <a:p>
            <a:pPr algn="l">
              <a:lnSpc>
                <a:spcPct val="108000"/>
              </a:lnSpc>
              <a:spcBef>
                <a:spcPts val="0"/>
              </a:spcBef>
              <a:spcAft>
                <a:spcPts val="500"/>
              </a:spcAft>
            </a:pPr>
            <a:r>
              <a:rPr sz="1000" b="0">
                <a:solidFill>
                  <a:srgbClr val="52616C"/>
                </a:solidFill>
                <a:latin typeface="Aptos"/>
              </a:rPr>
              <a:t>Tableau to Power BI  |  Édition 26.10.2026  |  Périmètre</a:t>
            </a:r>
          </a:p>
        </p:txBody>
      </p:sp>
      <p:sp>
        <p:nvSpPr>
          <p:cNvPr id="6" name="TextBox 5"/>
          <p:cNvSpPr txBox="1"/>
          <p:nvPr/>
        </p:nvSpPr>
        <p:spPr>
          <a:xfrm>
            <a:off x="11000232" y="6181344"/>
            <a:ext cx="594360" cy="210312"/>
          </a:xfrm>
          <a:prstGeom prst="rect">
            <a:avLst/>
          </a:prstGeom>
          <a:noFill/>
        </p:spPr>
        <p:txBody>
          <a:bodyPr wrap="square" lIns="0" rIns="0" tIns="0" bIns="0" anchor="t">
            <a:noAutofit/>
          </a:bodyPr>
          <a:lstStyle/>
          <a:p>
            <a:pPr algn="r">
              <a:lnSpc>
                <a:spcPct val="108000"/>
              </a:lnSpc>
              <a:spcBef>
                <a:spcPts val="0"/>
              </a:spcBef>
              <a:spcAft>
                <a:spcPts val="500"/>
              </a:spcAft>
            </a:pPr>
            <a:r>
              <a:rPr sz="1100" b="0">
                <a:solidFill>
                  <a:srgbClr val="52616C"/>
                </a:solidFill>
                <a:latin typeface="Aptos"/>
              </a:rPr>
              <a:t>02</a:t>
            </a:r>
          </a:p>
        </p:txBody>
      </p:sp>
      <p:sp>
        <p:nvSpPr>
          <p:cNvPr id="7" name="Rounded Rectangle 6"/>
          <p:cNvSpPr/>
          <p:nvPr/>
        </p:nvSpPr>
        <p:spPr>
          <a:xfrm>
            <a:off x="594360" y="2423160"/>
            <a:ext cx="3429000" cy="274320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04672" y="2624328"/>
            <a:ext cx="347472" cy="347472"/>
          </a:xfrm>
          <a:prstGeom prst="ellipse">
            <a:avLst/>
          </a:prstGeom>
          <a:solidFill>
            <a:srgbClr val="007F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2" y="2656332"/>
            <a:ext cx="347472" cy="219456"/>
          </a:xfrm>
          <a:prstGeom prst="rect">
            <a:avLst/>
          </a:prstGeom>
          <a:noFill/>
        </p:spPr>
        <p:txBody>
          <a:bodyPr wrap="square" lIns="0" rIns="0" tIns="0" bIns="0" anchor="t">
            <a:noAutofit/>
          </a:bodyPr>
          <a:lstStyle/>
          <a:p>
            <a:pPr algn="ctr">
              <a:lnSpc>
                <a:spcPct val="108000"/>
              </a:lnSpc>
              <a:spcBef>
                <a:spcPts val="0"/>
              </a:spcBef>
              <a:spcAft>
                <a:spcPts val="500"/>
              </a:spcAft>
            </a:pPr>
            <a:r>
              <a:rPr sz="1200" b="1">
                <a:solidFill>
                  <a:srgbClr val="FFFFFF"/>
                </a:solidFill>
                <a:latin typeface="Aptos"/>
              </a:rPr>
              <a:t>1</a:t>
            </a:r>
          </a:p>
        </p:txBody>
      </p:sp>
      <p:sp>
        <p:nvSpPr>
          <p:cNvPr id="10" name="TextBox 9"/>
          <p:cNvSpPr txBox="1"/>
          <p:nvPr/>
        </p:nvSpPr>
        <p:spPr>
          <a:xfrm>
            <a:off x="1289304" y="2587752"/>
            <a:ext cx="2523744" cy="640080"/>
          </a:xfrm>
          <a:prstGeom prst="rect">
            <a:avLst/>
          </a:prstGeom>
          <a:noFill/>
        </p:spPr>
        <p:txBody>
          <a:bodyPr wrap="square" lIns="0" rIns="0" tIns="0" bIns="0" anchor="t">
            <a:noAutofit/>
          </a:bodyPr>
          <a:lstStyle/>
          <a:p>
            <a:pPr algn="l">
              <a:lnSpc>
                <a:spcPct val="108000"/>
              </a:lnSpc>
              <a:spcBef>
                <a:spcPts val="0"/>
              </a:spcBef>
              <a:spcAft>
                <a:spcPts val="500"/>
              </a:spcAft>
            </a:pPr>
            <a:r>
              <a:rPr sz="1900" b="1">
                <a:solidFill>
                  <a:srgbClr val="007F79"/>
                </a:solidFill>
                <a:latin typeface="Aptos"/>
              </a:rPr>
              <a:t>Classeurs → PBIP</a:t>
            </a:r>
          </a:p>
        </p:txBody>
      </p:sp>
      <p:sp>
        <p:nvSpPr>
          <p:cNvPr id="11" name="TextBox 10"/>
          <p:cNvSpPr txBox="1"/>
          <p:nvPr/>
        </p:nvSpPr>
        <p:spPr>
          <a:xfrm>
            <a:off x="804672" y="3310128"/>
            <a:ext cx="3008376" cy="1764792"/>
          </a:xfrm>
          <a:prstGeom prst="rect">
            <a:avLst/>
          </a:prstGeom>
          <a:noFill/>
        </p:spPr>
        <p:txBody>
          <a:bodyPr wrap="square" lIns="0" rIns="0" tIns="0" bIns="0" anchor="t">
            <a:noAutofit/>
          </a:bodyPr>
          <a:lstStyle/>
          <a:p>
            <a:pPr algn="l">
              <a:lnSpc>
                <a:spcPct val="108000"/>
              </a:lnSpc>
              <a:spcBef>
                <a:spcPts val="0"/>
              </a:spcBef>
              <a:spcAft>
                <a:spcPts val="500"/>
              </a:spcAft>
            </a:pPr>
            <a:r>
              <a:rPr sz="1600" b="0">
                <a:solidFill>
                  <a:srgbClr val="182630"/>
                </a:solidFill>
                <a:latin typeface="Aptos"/>
              </a:rPr>
              <a:t>TMDL + PBIR v4.0 + M.</a:t>
            </a:r>
          </a:p>
          <a:p>
            <a:pPr algn="l">
              <a:lnSpc>
                <a:spcPct val="108000"/>
              </a:lnSpc>
              <a:spcBef>
                <a:spcPts val="0"/>
              </a:spcBef>
              <a:spcAft>
                <a:spcPts val="500"/>
              </a:spcAft>
            </a:pPr>
            <a:r>
              <a:rPr sz="1600" b="0">
                <a:solidFill>
                  <a:srgbClr val="182630"/>
                </a:solidFill>
                <a:latin typeface="Aptos"/>
              </a:rPr>
              <a:t>Batch de dossier, même pour un seul classeur.</a:t>
            </a:r>
          </a:p>
          <a:p>
            <a:pPr algn="l">
              <a:lnSpc>
                <a:spcPct val="108000"/>
              </a:lnSpc>
              <a:spcBef>
                <a:spcPts val="0"/>
              </a:spcBef>
              <a:spcAft>
                <a:spcPts val="500"/>
              </a:spcAft>
            </a:pPr>
            <a:r>
              <a:rPr sz="1600" b="0">
                <a:solidFill>
                  <a:srgbClr val="182630"/>
                </a:solidFill>
                <a:latin typeface="Aptos"/>
              </a:rPr>
              <a:t>Modèle partagé : route séparée.</a:t>
            </a:r>
          </a:p>
        </p:txBody>
      </p:sp>
      <p:sp>
        <p:nvSpPr>
          <p:cNvPr id="12" name="Rounded Rectangle 11"/>
          <p:cNvSpPr/>
          <p:nvPr/>
        </p:nvSpPr>
        <p:spPr>
          <a:xfrm>
            <a:off x="4379976" y="2423160"/>
            <a:ext cx="3429000" cy="274320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4590288" y="2624328"/>
            <a:ext cx="347472" cy="347472"/>
          </a:xfrm>
          <a:prstGeom prst="ellipse">
            <a:avLst/>
          </a:prstGeom>
          <a:solidFill>
            <a:srgbClr val="007F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90288" y="2656332"/>
            <a:ext cx="347472" cy="219456"/>
          </a:xfrm>
          <a:prstGeom prst="rect">
            <a:avLst/>
          </a:prstGeom>
          <a:noFill/>
        </p:spPr>
        <p:txBody>
          <a:bodyPr wrap="square" lIns="0" rIns="0" tIns="0" bIns="0" anchor="t">
            <a:noAutofit/>
          </a:bodyPr>
          <a:lstStyle/>
          <a:p>
            <a:pPr algn="ctr">
              <a:lnSpc>
                <a:spcPct val="108000"/>
              </a:lnSpc>
              <a:spcBef>
                <a:spcPts val="0"/>
              </a:spcBef>
              <a:spcAft>
                <a:spcPts val="500"/>
              </a:spcAft>
            </a:pPr>
            <a:r>
              <a:rPr sz="1200" b="1">
                <a:solidFill>
                  <a:srgbClr val="FFFFFF"/>
                </a:solidFill>
                <a:latin typeface="Aptos"/>
              </a:rPr>
              <a:t>2</a:t>
            </a:r>
          </a:p>
        </p:txBody>
      </p:sp>
      <p:sp>
        <p:nvSpPr>
          <p:cNvPr id="15" name="TextBox 14"/>
          <p:cNvSpPr txBox="1"/>
          <p:nvPr/>
        </p:nvSpPr>
        <p:spPr>
          <a:xfrm>
            <a:off x="5074920" y="2587752"/>
            <a:ext cx="2523744" cy="640080"/>
          </a:xfrm>
          <a:prstGeom prst="rect">
            <a:avLst/>
          </a:prstGeom>
          <a:noFill/>
        </p:spPr>
        <p:txBody>
          <a:bodyPr wrap="square" lIns="0" rIns="0" tIns="0" bIns="0" anchor="t">
            <a:noAutofit/>
          </a:bodyPr>
          <a:lstStyle/>
          <a:p>
            <a:pPr algn="l">
              <a:lnSpc>
                <a:spcPct val="108000"/>
              </a:lnSpc>
              <a:spcBef>
                <a:spcPts val="0"/>
              </a:spcBef>
              <a:spcAft>
                <a:spcPts val="500"/>
              </a:spcAft>
            </a:pPr>
            <a:r>
              <a:rPr sz="1900" b="1">
                <a:solidFill>
                  <a:srgbClr val="007F79"/>
                </a:solidFill>
                <a:latin typeface="Aptos"/>
              </a:rPr>
              <a:t>Prep → M &amp; sources</a:t>
            </a:r>
          </a:p>
        </p:txBody>
      </p:sp>
      <p:sp>
        <p:nvSpPr>
          <p:cNvPr id="16" name="TextBox 15"/>
          <p:cNvSpPr txBox="1"/>
          <p:nvPr/>
        </p:nvSpPr>
        <p:spPr>
          <a:xfrm>
            <a:off x="4590288" y="3310128"/>
            <a:ext cx="3008376" cy="1764792"/>
          </a:xfrm>
          <a:prstGeom prst="rect">
            <a:avLst/>
          </a:prstGeom>
          <a:noFill/>
        </p:spPr>
        <p:txBody>
          <a:bodyPr wrap="square" lIns="0" rIns="0" tIns="0" bIns="0" anchor="t">
            <a:noAutofit/>
          </a:bodyPr>
          <a:lstStyle/>
          <a:p>
            <a:pPr algn="l">
              <a:lnSpc>
                <a:spcPct val="108000"/>
              </a:lnSpc>
              <a:spcBef>
                <a:spcPts val="0"/>
              </a:spcBef>
              <a:spcAft>
                <a:spcPts val="500"/>
              </a:spcAft>
            </a:pPr>
            <a:r>
              <a:rPr sz="1600" b="0">
                <a:solidFill>
                  <a:srgbClr val="182630"/>
                </a:solidFill>
                <a:latin typeface="Aptos"/>
              </a:rPr>
              <a:t>Power Query M, définitions de sources et assessment.</a:t>
            </a:r>
          </a:p>
          <a:p>
            <a:pPr algn="l">
              <a:lnSpc>
                <a:spcPct val="108000"/>
              </a:lnSpc>
              <a:spcBef>
                <a:spcPts val="0"/>
              </a:spcBef>
              <a:spcAft>
                <a:spcPts val="500"/>
              </a:spcAft>
            </a:pPr>
            <a:r>
              <a:rPr sz="1600" b="0">
                <a:solidFill>
                  <a:srgbClr val="182630"/>
                </a:solidFill>
                <a:latin typeface="Aptos"/>
              </a:rPr>
              <a:t>Lignage inter-flows si au moins deux réussissent.</a:t>
            </a:r>
          </a:p>
        </p:txBody>
      </p:sp>
      <p:sp>
        <p:nvSpPr>
          <p:cNvPr id="17" name="Rounded Rectangle 16"/>
          <p:cNvSpPr/>
          <p:nvPr/>
        </p:nvSpPr>
        <p:spPr>
          <a:xfrm>
            <a:off x="8165592" y="2423160"/>
            <a:ext cx="3429000" cy="274320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8375904" y="2624328"/>
            <a:ext cx="347472" cy="347472"/>
          </a:xfrm>
          <a:prstGeom prst="ellipse">
            <a:avLst/>
          </a:prstGeom>
          <a:solidFill>
            <a:srgbClr val="007F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375904" y="2656332"/>
            <a:ext cx="347472" cy="219456"/>
          </a:xfrm>
          <a:prstGeom prst="rect">
            <a:avLst/>
          </a:prstGeom>
          <a:noFill/>
        </p:spPr>
        <p:txBody>
          <a:bodyPr wrap="square" lIns="0" rIns="0" tIns="0" bIns="0" anchor="t">
            <a:noAutofit/>
          </a:bodyPr>
          <a:lstStyle/>
          <a:p>
            <a:pPr algn="ctr">
              <a:lnSpc>
                <a:spcPct val="108000"/>
              </a:lnSpc>
              <a:spcBef>
                <a:spcPts val="0"/>
              </a:spcBef>
              <a:spcAft>
                <a:spcPts val="500"/>
              </a:spcAft>
            </a:pPr>
            <a:r>
              <a:rPr sz="1200" b="1">
                <a:solidFill>
                  <a:srgbClr val="FFFFFF"/>
                </a:solidFill>
                <a:latin typeface="Aptos"/>
              </a:rPr>
              <a:t>3</a:t>
            </a:r>
          </a:p>
        </p:txBody>
      </p:sp>
      <p:sp>
        <p:nvSpPr>
          <p:cNvPr id="20" name="TextBox 19"/>
          <p:cNvSpPr txBox="1"/>
          <p:nvPr/>
        </p:nvSpPr>
        <p:spPr>
          <a:xfrm>
            <a:off x="8860536" y="2587752"/>
            <a:ext cx="2523744" cy="640080"/>
          </a:xfrm>
          <a:prstGeom prst="rect">
            <a:avLst/>
          </a:prstGeom>
          <a:noFill/>
        </p:spPr>
        <p:txBody>
          <a:bodyPr wrap="square" lIns="0" rIns="0" tIns="0" bIns="0" anchor="t">
            <a:noAutofit/>
          </a:bodyPr>
          <a:lstStyle/>
          <a:p>
            <a:pPr algn="l">
              <a:lnSpc>
                <a:spcPct val="108000"/>
              </a:lnSpc>
              <a:spcBef>
                <a:spcPts val="0"/>
              </a:spcBef>
              <a:spcAft>
                <a:spcPts val="500"/>
              </a:spcAft>
            </a:pPr>
            <a:r>
              <a:rPr sz="1900" b="1">
                <a:solidFill>
                  <a:srgbClr val="007F79"/>
                </a:solidFill>
                <a:latin typeface="Aptos"/>
              </a:rPr>
              <a:t>Fabric → artefacts</a:t>
            </a:r>
          </a:p>
        </p:txBody>
      </p:sp>
      <p:sp>
        <p:nvSpPr>
          <p:cNvPr id="21" name="TextBox 20"/>
          <p:cNvSpPr txBox="1"/>
          <p:nvPr/>
        </p:nvSpPr>
        <p:spPr>
          <a:xfrm>
            <a:off x="8375904" y="3310128"/>
            <a:ext cx="3008376" cy="1764792"/>
          </a:xfrm>
          <a:prstGeom prst="rect">
            <a:avLst/>
          </a:prstGeom>
          <a:noFill/>
        </p:spPr>
        <p:txBody>
          <a:bodyPr wrap="square" lIns="0" rIns="0" tIns="0" bIns="0" anchor="t">
            <a:noAutofit/>
          </a:bodyPr>
          <a:lstStyle/>
          <a:p>
            <a:pPr algn="l">
              <a:lnSpc>
                <a:spcPct val="108000"/>
              </a:lnSpc>
              <a:spcBef>
                <a:spcPts val="0"/>
              </a:spcBef>
              <a:spcAft>
                <a:spcPts val="500"/>
              </a:spcAft>
            </a:pPr>
            <a:r>
              <a:rPr sz="1600" b="0">
                <a:solidFill>
                  <a:srgbClr val="182630"/>
                </a:solidFill>
                <a:latin typeface="Aptos"/>
              </a:rPr>
              <a:t>Lakehouse, Dataflow Gen2, Notebook, DirectLake et Pipeline.</a:t>
            </a:r>
          </a:p>
          <a:p>
            <a:pPr algn="l">
              <a:lnSpc>
                <a:spcPct val="108000"/>
              </a:lnSpc>
              <a:spcBef>
                <a:spcPts val="0"/>
              </a:spcBef>
              <a:spcAft>
                <a:spcPts val="500"/>
              </a:spcAft>
            </a:pPr>
            <a:r>
              <a:rPr sz="1600" b="0">
                <a:solidFill>
                  <a:srgbClr val="182630"/>
                </a:solidFill>
                <a:latin typeface="Aptos"/>
              </a:rPr>
              <a:t>Scaffold local, configuration puis déploiement distinct.</a:t>
            </a:r>
          </a:p>
        </p:txBody>
      </p:sp>
      <p:sp>
        <p:nvSpPr>
          <p:cNvPr id="22" name="Rounded Rectangle 21"/>
          <p:cNvSpPr/>
          <p:nvPr/>
        </p:nvSpPr>
        <p:spPr>
          <a:xfrm>
            <a:off x="594360" y="5522976"/>
            <a:ext cx="11000232" cy="429768"/>
          </a:xfrm>
          <a:prstGeom prst="roundRect">
            <a:avLst>
              <a:gd name="adj" fmla="val 12000"/>
            </a:avLst>
          </a:prstGeom>
          <a:solidFill>
            <a:srgbClr val="1826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86384" y="5614416"/>
            <a:ext cx="10616184" cy="256032"/>
          </a:xfrm>
          <a:prstGeom prst="rect">
            <a:avLst/>
          </a:prstGeom>
          <a:noFill/>
        </p:spPr>
        <p:txBody>
          <a:bodyPr wrap="square" lIns="0" rIns="0" tIns="0" bIns="0" anchor="t">
            <a:noAutofit/>
          </a:bodyPr>
          <a:lstStyle/>
          <a:p>
            <a:pPr algn="l">
              <a:lnSpc>
                <a:spcPct val="108000"/>
              </a:lnSpc>
              <a:spcBef>
                <a:spcPts val="0"/>
              </a:spcBef>
              <a:spcAft>
                <a:spcPts val="500"/>
              </a:spcAft>
            </a:pPr>
            <a:r>
              <a:rPr sz="1300" b="1">
                <a:solidFill>
                  <a:srgbClr val="FFFFFF"/>
                </a:solidFill>
                <a:latin typeface="Aptos"/>
              </a:rPr>
              <a:t>La génération directe d'un projet depuis un fichier positionnel est retirée.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5F7F8"/>
        </a:solidFill>
        <a:effectLst/>
      </p:bgPr>
    </p:bg>
    <p:spTree>
      <p:nvGrpSpPr>
        <p:cNvPr id="1" name=""/>
        <p:cNvGrpSpPr/>
        <p:nvPr/>
      </p:nvGrpSpPr>
      <p:grpSpPr/>
      <p:sp>
        <p:nvSpPr>
          <p:cNvPr id="2" name="TextBox 1"/>
          <p:cNvSpPr txBox="1"/>
          <p:nvPr/>
        </p:nvSpPr>
        <p:spPr>
          <a:xfrm>
            <a:off x="594360" y="466344"/>
            <a:ext cx="10789920" cy="201168"/>
          </a:xfrm>
          <a:prstGeom prst="rect">
            <a:avLst/>
          </a:prstGeom>
          <a:noFill/>
        </p:spPr>
        <p:txBody>
          <a:bodyPr wrap="square" lIns="0" rIns="0" tIns="0" bIns="0" anchor="t">
            <a:noAutofit/>
          </a:bodyPr>
          <a:lstStyle/>
          <a:p>
            <a:pPr algn="l">
              <a:lnSpc>
                <a:spcPct val="108000"/>
              </a:lnSpc>
              <a:spcBef>
                <a:spcPts val="0"/>
              </a:spcBef>
              <a:spcAft>
                <a:spcPts val="500"/>
              </a:spcAft>
            </a:pPr>
            <a:r>
              <a:rPr sz="1050" b="1">
                <a:solidFill>
                  <a:srgbClr val="007F79"/>
                </a:solidFill>
                <a:latin typeface="Aptos"/>
              </a:rPr>
              <a:t>ARCHITECTURE LOGIQUE</a:t>
            </a:r>
          </a:p>
        </p:txBody>
      </p:sp>
      <p:sp>
        <p:nvSpPr>
          <p:cNvPr id="3" name="Slide title"/>
          <p:cNvSpPr txBox="1"/>
          <p:nvPr/>
        </p:nvSpPr>
        <p:spPr>
          <a:xfrm>
            <a:off x="594360" y="859536"/>
            <a:ext cx="11000232" cy="685800"/>
          </a:xfrm>
          <a:prstGeom prst="rect">
            <a:avLst/>
          </a:prstGeom>
          <a:noFill/>
        </p:spPr>
        <p:txBody>
          <a:bodyPr wrap="square" lIns="0" rIns="0" tIns="0" bIns="0" anchor="t">
            <a:noAutofit/>
          </a:bodyPr>
          <a:lstStyle/>
          <a:p>
            <a:pPr algn="l">
              <a:lnSpc>
                <a:spcPct val="108000"/>
              </a:lnSpc>
              <a:spcBef>
                <a:spcPts val="0"/>
              </a:spcBef>
              <a:spcAft>
                <a:spcPts val="500"/>
              </a:spcAft>
            </a:pPr>
            <a:r>
              <a:rPr sz="3600" b="1">
                <a:solidFill>
                  <a:srgbClr val="182630"/>
                </a:solidFill>
                <a:latin typeface="Aptos Display"/>
              </a:rPr>
              <a:t>Deux étapes, des livrables inspectables</a:t>
            </a:r>
          </a:p>
        </p:txBody>
      </p:sp>
      <p:sp>
        <p:nvSpPr>
          <p:cNvPr id="4" name="TextBox 3"/>
          <p:cNvSpPr txBox="1"/>
          <p:nvPr/>
        </p:nvSpPr>
        <p:spPr>
          <a:xfrm>
            <a:off x="594360" y="1673352"/>
            <a:ext cx="11000232" cy="493776"/>
          </a:xfrm>
          <a:prstGeom prst="rect">
            <a:avLst/>
          </a:prstGeom>
          <a:noFill/>
        </p:spPr>
        <p:txBody>
          <a:bodyPr wrap="square" lIns="0" rIns="0" tIns="0" bIns="0" anchor="t">
            <a:noAutofit/>
          </a:bodyPr>
          <a:lstStyle/>
          <a:p>
            <a:pPr algn="l">
              <a:lnSpc>
                <a:spcPct val="108000"/>
              </a:lnSpc>
              <a:spcBef>
                <a:spcPts val="0"/>
              </a:spcBef>
              <a:spcAft>
                <a:spcPts val="500"/>
              </a:spcAft>
            </a:pPr>
            <a:r>
              <a:rPr sz="1500" b="0">
                <a:solidFill>
                  <a:srgbClr val="52616C"/>
                </a:solidFill>
                <a:latin typeface="Aptos"/>
              </a:rPr>
              <a:t>L'extraction de métadonnées est distincte de l'export des données Hyper.</a:t>
            </a:r>
          </a:p>
        </p:txBody>
      </p:sp>
      <p:sp>
        <p:nvSpPr>
          <p:cNvPr id="5" name="TextBox 4"/>
          <p:cNvSpPr txBox="1"/>
          <p:nvPr/>
        </p:nvSpPr>
        <p:spPr>
          <a:xfrm>
            <a:off x="594360" y="6199632"/>
            <a:ext cx="10149840" cy="182880"/>
          </a:xfrm>
          <a:prstGeom prst="rect">
            <a:avLst/>
          </a:prstGeom>
          <a:noFill/>
        </p:spPr>
        <p:txBody>
          <a:bodyPr wrap="square" lIns="0" rIns="0" tIns="0" bIns="0" anchor="t">
            <a:noAutofit/>
          </a:bodyPr>
          <a:lstStyle/>
          <a:p>
            <a:pPr algn="l">
              <a:lnSpc>
                <a:spcPct val="108000"/>
              </a:lnSpc>
              <a:spcBef>
                <a:spcPts val="0"/>
              </a:spcBef>
              <a:spcAft>
                <a:spcPts val="500"/>
              </a:spcAft>
            </a:pPr>
            <a:r>
              <a:rPr sz="1000" b="0">
                <a:solidFill>
                  <a:srgbClr val="52616C"/>
                </a:solidFill>
                <a:latin typeface="Aptos"/>
              </a:rPr>
              <a:t>Tableau to Power BI  |  Édition 26.10.2026  |  Architecture logique</a:t>
            </a:r>
          </a:p>
        </p:txBody>
      </p:sp>
      <p:sp>
        <p:nvSpPr>
          <p:cNvPr id="6" name="TextBox 5"/>
          <p:cNvSpPr txBox="1"/>
          <p:nvPr/>
        </p:nvSpPr>
        <p:spPr>
          <a:xfrm>
            <a:off x="11000232" y="6181344"/>
            <a:ext cx="594360" cy="210312"/>
          </a:xfrm>
          <a:prstGeom prst="rect">
            <a:avLst/>
          </a:prstGeom>
          <a:noFill/>
        </p:spPr>
        <p:txBody>
          <a:bodyPr wrap="square" lIns="0" rIns="0" tIns="0" bIns="0" anchor="t">
            <a:noAutofit/>
          </a:bodyPr>
          <a:lstStyle/>
          <a:p>
            <a:pPr algn="r">
              <a:lnSpc>
                <a:spcPct val="108000"/>
              </a:lnSpc>
              <a:spcBef>
                <a:spcPts val="0"/>
              </a:spcBef>
              <a:spcAft>
                <a:spcPts val="500"/>
              </a:spcAft>
            </a:pPr>
            <a:r>
              <a:rPr sz="1100" b="0">
                <a:solidFill>
                  <a:srgbClr val="52616C"/>
                </a:solidFill>
                <a:latin typeface="Aptos"/>
              </a:rPr>
              <a:t>03</a:t>
            </a:r>
          </a:p>
        </p:txBody>
      </p:sp>
      <p:sp>
        <p:nvSpPr>
          <p:cNvPr id="7" name="Rounded Rectangle 6"/>
          <p:cNvSpPr/>
          <p:nvPr/>
        </p:nvSpPr>
        <p:spPr>
          <a:xfrm>
            <a:off x="594360" y="2587752"/>
            <a:ext cx="2468880" cy="1261872"/>
          </a:xfrm>
          <a:prstGeom prst="roundRect">
            <a:avLst>
              <a:gd name="adj" fmla="val 12000"/>
            </a:avLst>
          </a:prstGeom>
          <a:solidFill>
            <a:srgbClr val="C85A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58952" y="2761488"/>
            <a:ext cx="2139696" cy="402336"/>
          </a:xfrm>
          <a:prstGeom prst="rect">
            <a:avLst/>
          </a:prstGeom>
          <a:noFill/>
        </p:spPr>
        <p:txBody>
          <a:bodyPr wrap="square" lIns="0" rIns="0" tIns="0" bIns="0" anchor="t">
            <a:noAutofit/>
          </a:bodyPr>
          <a:lstStyle/>
          <a:p>
            <a:pPr algn="ctr">
              <a:lnSpc>
                <a:spcPct val="108000"/>
              </a:lnSpc>
              <a:spcBef>
                <a:spcPts val="0"/>
              </a:spcBef>
              <a:spcAft>
                <a:spcPts val="500"/>
              </a:spcAft>
            </a:pPr>
            <a:r>
              <a:rPr sz="1900" b="1">
                <a:solidFill>
                  <a:srgbClr val="FFFFFF"/>
                </a:solidFill>
                <a:latin typeface="Aptos"/>
              </a:rPr>
              <a:t>Sources Tableau</a:t>
            </a:r>
          </a:p>
        </p:txBody>
      </p:sp>
      <p:sp>
        <p:nvSpPr>
          <p:cNvPr id="9" name="TextBox 8"/>
          <p:cNvSpPr txBox="1"/>
          <p:nvPr/>
        </p:nvSpPr>
        <p:spPr>
          <a:xfrm>
            <a:off x="758952" y="3264408"/>
            <a:ext cx="2139696" cy="521207"/>
          </a:xfrm>
          <a:prstGeom prst="rect">
            <a:avLst/>
          </a:prstGeom>
          <a:noFill/>
        </p:spPr>
        <p:txBody>
          <a:bodyPr wrap="square" lIns="0" rIns="0" tIns="0" bIns="0" anchor="t">
            <a:noAutofit/>
          </a:bodyPr>
          <a:lstStyle/>
          <a:p>
            <a:pPr algn="ctr">
              <a:lnSpc>
                <a:spcPct val="108000"/>
              </a:lnSpc>
              <a:spcBef>
                <a:spcPts val="0"/>
              </a:spcBef>
              <a:spcAft>
                <a:spcPts val="500"/>
              </a:spcAft>
            </a:pPr>
            <a:r>
              <a:rPr sz="1400" b="0">
                <a:solidFill>
                  <a:srgbClr val="FFFFFF"/>
                </a:solidFill>
                <a:latin typeface="Aptos"/>
              </a:rPr>
              <a:t>.twb / .twbx</a:t>
            </a:r>
          </a:p>
        </p:txBody>
      </p:sp>
      <p:sp>
        <p:nvSpPr>
          <p:cNvPr id="10" name="Chevron 9"/>
          <p:cNvSpPr/>
          <p:nvPr/>
        </p:nvSpPr>
        <p:spPr>
          <a:xfrm>
            <a:off x="3145536" y="3108960"/>
            <a:ext cx="201168" cy="201168"/>
          </a:xfrm>
          <a:prstGeom prst="chevron">
            <a:avLst/>
          </a:prstGeom>
          <a:solidFill>
            <a:srgbClr val="5261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3429000" y="2587752"/>
            <a:ext cx="2468880" cy="1261872"/>
          </a:xfrm>
          <a:prstGeom prst="roundRect">
            <a:avLst>
              <a:gd name="adj" fmla="val 12000"/>
            </a:avLst>
          </a:prstGeom>
          <a:solidFill>
            <a:srgbClr val="1826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593592" y="2761488"/>
            <a:ext cx="2139696" cy="402336"/>
          </a:xfrm>
          <a:prstGeom prst="rect">
            <a:avLst/>
          </a:prstGeom>
          <a:noFill/>
        </p:spPr>
        <p:txBody>
          <a:bodyPr wrap="square" lIns="0" rIns="0" tIns="0" bIns="0" anchor="t">
            <a:noAutofit/>
          </a:bodyPr>
          <a:lstStyle/>
          <a:p>
            <a:pPr algn="ctr">
              <a:lnSpc>
                <a:spcPct val="108000"/>
              </a:lnSpc>
              <a:spcBef>
                <a:spcPts val="0"/>
              </a:spcBef>
              <a:spcAft>
                <a:spcPts val="500"/>
              </a:spcAft>
            </a:pPr>
            <a:r>
              <a:rPr sz="1900" b="1">
                <a:solidFill>
                  <a:srgbClr val="FFFFFF"/>
                </a:solidFill>
                <a:latin typeface="Aptos"/>
              </a:rPr>
              <a:t>Extraction</a:t>
            </a:r>
          </a:p>
        </p:txBody>
      </p:sp>
      <p:sp>
        <p:nvSpPr>
          <p:cNvPr id="13" name="TextBox 12"/>
          <p:cNvSpPr txBox="1"/>
          <p:nvPr/>
        </p:nvSpPr>
        <p:spPr>
          <a:xfrm>
            <a:off x="3593592" y="3264408"/>
            <a:ext cx="2139696" cy="521207"/>
          </a:xfrm>
          <a:prstGeom prst="rect">
            <a:avLst/>
          </a:prstGeom>
          <a:noFill/>
        </p:spPr>
        <p:txBody>
          <a:bodyPr wrap="square" lIns="0" rIns="0" tIns="0" bIns="0" anchor="t">
            <a:noAutofit/>
          </a:bodyPr>
          <a:lstStyle/>
          <a:p>
            <a:pPr algn="ctr">
              <a:lnSpc>
                <a:spcPct val="108000"/>
              </a:lnSpc>
              <a:spcBef>
                <a:spcPts val="0"/>
              </a:spcBef>
              <a:spcAft>
                <a:spcPts val="500"/>
              </a:spcAft>
            </a:pPr>
            <a:r>
              <a:rPr sz="1400" b="0">
                <a:solidFill>
                  <a:srgbClr val="FFFFFF"/>
                </a:solidFill>
                <a:latin typeface="Aptos"/>
              </a:rPr>
              <a:t>XML et métadonnées</a:t>
            </a:r>
          </a:p>
        </p:txBody>
      </p:sp>
      <p:sp>
        <p:nvSpPr>
          <p:cNvPr id="14" name="Chevron 13"/>
          <p:cNvSpPr/>
          <p:nvPr/>
        </p:nvSpPr>
        <p:spPr>
          <a:xfrm>
            <a:off x="5980176" y="3108960"/>
            <a:ext cx="201168" cy="201168"/>
          </a:xfrm>
          <a:prstGeom prst="chevron">
            <a:avLst/>
          </a:prstGeom>
          <a:solidFill>
            <a:srgbClr val="5261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2587752"/>
            <a:ext cx="2468880" cy="1261872"/>
          </a:xfrm>
          <a:prstGeom prst="roundRect">
            <a:avLst>
              <a:gd name="adj" fmla="val 12000"/>
            </a:avLst>
          </a:prstGeom>
          <a:solidFill>
            <a:srgbClr val="007F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28232" y="2761488"/>
            <a:ext cx="2139696" cy="402336"/>
          </a:xfrm>
          <a:prstGeom prst="rect">
            <a:avLst/>
          </a:prstGeom>
          <a:noFill/>
        </p:spPr>
        <p:txBody>
          <a:bodyPr wrap="square" lIns="0" rIns="0" tIns="0" bIns="0" anchor="t">
            <a:noAutofit/>
          </a:bodyPr>
          <a:lstStyle/>
          <a:p>
            <a:pPr algn="ctr">
              <a:lnSpc>
                <a:spcPct val="108000"/>
              </a:lnSpc>
              <a:spcBef>
                <a:spcPts val="0"/>
              </a:spcBef>
              <a:spcAft>
                <a:spcPts val="500"/>
              </a:spcAft>
            </a:pPr>
            <a:r>
              <a:rPr sz="1900" b="1">
                <a:solidFill>
                  <a:srgbClr val="FFFFFF"/>
                </a:solidFill>
                <a:latin typeface="Aptos"/>
              </a:rPr>
              <a:t>23 JSON</a:t>
            </a:r>
          </a:p>
        </p:txBody>
      </p:sp>
      <p:sp>
        <p:nvSpPr>
          <p:cNvPr id="17" name="TextBox 16"/>
          <p:cNvSpPr txBox="1"/>
          <p:nvPr/>
        </p:nvSpPr>
        <p:spPr>
          <a:xfrm>
            <a:off x="6428232" y="3264408"/>
            <a:ext cx="2139696" cy="521207"/>
          </a:xfrm>
          <a:prstGeom prst="rect">
            <a:avLst/>
          </a:prstGeom>
          <a:noFill/>
        </p:spPr>
        <p:txBody>
          <a:bodyPr wrap="square" lIns="0" rIns="0" tIns="0" bIns="0" anchor="t">
            <a:noAutofit/>
          </a:bodyPr>
          <a:lstStyle/>
          <a:p>
            <a:pPr algn="ctr">
              <a:lnSpc>
                <a:spcPct val="108000"/>
              </a:lnSpc>
              <a:spcBef>
                <a:spcPts val="0"/>
              </a:spcBef>
              <a:spcAft>
                <a:spcPts val="500"/>
              </a:spcAft>
            </a:pPr>
            <a:r>
              <a:rPr sz="1400" b="0">
                <a:solidFill>
                  <a:srgbClr val="FFFFFF"/>
                </a:solidFill>
                <a:latin typeface="Aptos"/>
              </a:rPr>
              <a:t>Contrat intermédiaire</a:t>
            </a:r>
          </a:p>
        </p:txBody>
      </p:sp>
      <p:sp>
        <p:nvSpPr>
          <p:cNvPr id="18" name="Chevron 17"/>
          <p:cNvSpPr/>
          <p:nvPr/>
        </p:nvSpPr>
        <p:spPr>
          <a:xfrm>
            <a:off x="8814816" y="3108960"/>
            <a:ext cx="201168" cy="201168"/>
          </a:xfrm>
          <a:prstGeom prst="chevron">
            <a:avLst/>
          </a:prstGeom>
          <a:solidFill>
            <a:srgbClr val="5261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9098280" y="2587752"/>
            <a:ext cx="2468880" cy="1261872"/>
          </a:xfrm>
          <a:prstGeom prst="roundRect">
            <a:avLst>
              <a:gd name="adj" fmla="val 12000"/>
            </a:avLst>
          </a:prstGeom>
          <a:solidFill>
            <a:srgbClr val="1826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262872" y="2761488"/>
            <a:ext cx="2139696" cy="402336"/>
          </a:xfrm>
          <a:prstGeom prst="rect">
            <a:avLst/>
          </a:prstGeom>
          <a:noFill/>
        </p:spPr>
        <p:txBody>
          <a:bodyPr wrap="square" lIns="0" rIns="0" tIns="0" bIns="0" anchor="t">
            <a:noAutofit/>
          </a:bodyPr>
          <a:lstStyle/>
          <a:p>
            <a:pPr algn="ctr">
              <a:lnSpc>
                <a:spcPct val="108000"/>
              </a:lnSpc>
              <a:spcBef>
                <a:spcPts val="0"/>
              </a:spcBef>
              <a:spcAft>
                <a:spcPts val="500"/>
              </a:spcAft>
            </a:pPr>
            <a:r>
              <a:rPr sz="1900" b="1">
                <a:solidFill>
                  <a:srgbClr val="FFFFFF"/>
                </a:solidFill>
                <a:latin typeface="Aptos"/>
              </a:rPr>
              <a:t>Génération</a:t>
            </a:r>
          </a:p>
        </p:txBody>
      </p:sp>
      <p:sp>
        <p:nvSpPr>
          <p:cNvPr id="21" name="TextBox 20"/>
          <p:cNvSpPr txBox="1"/>
          <p:nvPr/>
        </p:nvSpPr>
        <p:spPr>
          <a:xfrm>
            <a:off x="9262872" y="3264408"/>
            <a:ext cx="2139696" cy="521207"/>
          </a:xfrm>
          <a:prstGeom prst="rect">
            <a:avLst/>
          </a:prstGeom>
          <a:noFill/>
        </p:spPr>
        <p:txBody>
          <a:bodyPr wrap="square" lIns="0" rIns="0" tIns="0" bIns="0" anchor="t">
            <a:noAutofit/>
          </a:bodyPr>
          <a:lstStyle/>
          <a:p>
            <a:pPr algn="ctr">
              <a:lnSpc>
                <a:spcPct val="108000"/>
              </a:lnSpc>
              <a:spcBef>
                <a:spcPts val="0"/>
              </a:spcBef>
              <a:spcAft>
                <a:spcPts val="500"/>
              </a:spcAft>
            </a:pPr>
            <a:r>
              <a:rPr sz="1400" b="0">
                <a:solidFill>
                  <a:srgbClr val="FFFFFF"/>
                </a:solidFill>
                <a:latin typeface="Aptos"/>
              </a:rPr>
              <a:t>TMDL + PBIR + M</a:t>
            </a:r>
          </a:p>
        </p:txBody>
      </p:sp>
      <p:sp>
        <p:nvSpPr>
          <p:cNvPr id="22" name="Rounded Rectangle 21"/>
          <p:cNvSpPr/>
          <p:nvPr/>
        </p:nvSpPr>
        <p:spPr>
          <a:xfrm>
            <a:off x="594360" y="4270248"/>
            <a:ext cx="5312664" cy="91440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04672" y="4453128"/>
            <a:ext cx="4892040" cy="548640"/>
          </a:xfrm>
          <a:prstGeom prst="rect">
            <a:avLst/>
          </a:prstGeom>
          <a:noFill/>
        </p:spPr>
        <p:txBody>
          <a:bodyPr wrap="square" lIns="0" rIns="0" tIns="0" bIns="0" anchor="ctr">
            <a:noAutofit/>
          </a:bodyPr>
          <a:lstStyle/>
          <a:p>
            <a:pPr algn="l">
              <a:lnSpc>
                <a:spcPct val="108000"/>
              </a:lnSpc>
              <a:spcBef>
                <a:spcPts val="0"/>
              </a:spcBef>
              <a:spcAft>
                <a:spcPts val="500"/>
              </a:spcAft>
            </a:pPr>
            <a:r>
              <a:rPr sz="2100" b="1">
                <a:solidFill>
                  <a:srgbClr val="007F79"/>
                </a:solidFill>
                <a:latin typeface="Aptos"/>
              </a:rPr>
              <a:t>PBIP / PBIR v4.0 / TMDL</a:t>
            </a:r>
          </a:p>
        </p:txBody>
      </p:sp>
      <p:sp>
        <p:nvSpPr>
          <p:cNvPr id="24" name="Rounded Rectangle 23"/>
          <p:cNvSpPr/>
          <p:nvPr/>
        </p:nvSpPr>
        <p:spPr>
          <a:xfrm>
            <a:off x="6272784" y="4270248"/>
            <a:ext cx="5312664" cy="91440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3096" y="4453128"/>
            <a:ext cx="4892040" cy="548640"/>
          </a:xfrm>
          <a:prstGeom prst="rect">
            <a:avLst/>
          </a:prstGeom>
          <a:noFill/>
        </p:spPr>
        <p:txBody>
          <a:bodyPr wrap="square" lIns="0" rIns="0" tIns="0" bIns="0" anchor="ctr">
            <a:noAutofit/>
          </a:bodyPr>
          <a:lstStyle/>
          <a:p>
            <a:pPr algn="l">
              <a:lnSpc>
                <a:spcPct val="108000"/>
              </a:lnSpc>
              <a:spcBef>
                <a:spcPts val="0"/>
              </a:spcBef>
              <a:spcAft>
                <a:spcPts val="500"/>
              </a:spcAft>
            </a:pPr>
            <a:r>
              <a:rPr sz="2100" b="1">
                <a:solidFill>
                  <a:srgbClr val="007F79"/>
                </a:solidFill>
                <a:latin typeface="Aptos"/>
              </a:rPr>
              <a:t>Sources + preuves de qualité</a:t>
            </a:r>
          </a:p>
        </p:txBody>
      </p:sp>
      <p:sp>
        <p:nvSpPr>
          <p:cNvPr id="26" name="Rounded Rectangle 25"/>
          <p:cNvSpPr/>
          <p:nvPr/>
        </p:nvSpPr>
        <p:spPr>
          <a:xfrm>
            <a:off x="594360" y="5522976"/>
            <a:ext cx="11000232" cy="429768"/>
          </a:xfrm>
          <a:prstGeom prst="roundRect">
            <a:avLst>
              <a:gd name="adj" fmla="val 12000"/>
            </a:avLst>
          </a:prstGeom>
          <a:solidFill>
            <a:srgbClr val="1826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86384" y="5614416"/>
            <a:ext cx="10616184" cy="256032"/>
          </a:xfrm>
          <a:prstGeom prst="rect">
            <a:avLst/>
          </a:prstGeom>
          <a:noFill/>
        </p:spPr>
        <p:txBody>
          <a:bodyPr wrap="square" lIns="0" rIns="0" tIns="0" bIns="0" anchor="t">
            <a:noAutofit/>
          </a:bodyPr>
          <a:lstStyle/>
          <a:p>
            <a:pPr algn="l">
              <a:lnSpc>
                <a:spcPct val="108000"/>
              </a:lnSpc>
              <a:spcBef>
                <a:spcPts val="0"/>
              </a:spcBef>
              <a:spcAft>
                <a:spcPts val="500"/>
              </a:spcAft>
            </a:pPr>
            <a:r>
              <a:rPr sz="1300" b="1">
                <a:solidFill>
                  <a:srgbClr val="FFFFFF"/>
                </a:solidFill>
                <a:latin typeface="Aptos"/>
              </a:rPr>
              <a:t>Générer n'est ni actualiser les données, ni certifier la parité, ni publier.</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5F7F8"/>
        </a:solidFill>
        <a:effectLst/>
      </p:bgPr>
    </p:bg>
    <p:spTree>
      <p:nvGrpSpPr>
        <p:cNvPr id="1" name=""/>
        <p:cNvGrpSpPr/>
        <p:nvPr/>
      </p:nvGrpSpPr>
      <p:grpSpPr/>
      <p:sp>
        <p:nvSpPr>
          <p:cNvPr id="2" name="TextBox 1"/>
          <p:cNvSpPr txBox="1"/>
          <p:nvPr/>
        </p:nvSpPr>
        <p:spPr>
          <a:xfrm>
            <a:off x="594360" y="466344"/>
            <a:ext cx="10789920" cy="201168"/>
          </a:xfrm>
          <a:prstGeom prst="rect">
            <a:avLst/>
          </a:prstGeom>
          <a:noFill/>
        </p:spPr>
        <p:txBody>
          <a:bodyPr wrap="square" lIns="0" rIns="0" tIns="0" bIns="0" anchor="t">
            <a:noAutofit/>
          </a:bodyPr>
          <a:lstStyle/>
          <a:p>
            <a:pPr algn="l">
              <a:lnSpc>
                <a:spcPct val="108000"/>
              </a:lnSpc>
              <a:spcBef>
                <a:spcPts val="0"/>
              </a:spcBef>
              <a:spcAft>
                <a:spcPts val="500"/>
              </a:spcAft>
            </a:pPr>
            <a:r>
              <a:rPr sz="1050" b="1">
                <a:solidFill>
                  <a:srgbClr val="007F79"/>
                </a:solidFill>
                <a:latin typeface="Aptos"/>
              </a:rPr>
              <a:t>ARCHITECTURE D'EXÉCUTION</a:t>
            </a:r>
          </a:p>
        </p:txBody>
      </p:sp>
      <p:sp>
        <p:nvSpPr>
          <p:cNvPr id="3" name="Slide title"/>
          <p:cNvSpPr txBox="1"/>
          <p:nvPr/>
        </p:nvSpPr>
        <p:spPr>
          <a:xfrm>
            <a:off x="594360" y="859536"/>
            <a:ext cx="11000232" cy="685800"/>
          </a:xfrm>
          <a:prstGeom prst="rect">
            <a:avLst/>
          </a:prstGeom>
          <a:noFill/>
        </p:spPr>
        <p:txBody>
          <a:bodyPr wrap="square" lIns="0" rIns="0" tIns="0" bIns="0" anchor="t">
            <a:noAutofit/>
          </a:bodyPr>
          <a:lstStyle/>
          <a:p>
            <a:pPr algn="l">
              <a:lnSpc>
                <a:spcPct val="108000"/>
              </a:lnSpc>
              <a:spcBef>
                <a:spcPts val="0"/>
              </a:spcBef>
              <a:spcAft>
                <a:spcPts val="500"/>
              </a:spcAft>
            </a:pPr>
            <a:r>
              <a:rPr sz="3600" b="1">
                <a:solidFill>
                  <a:srgbClr val="182630"/>
                </a:solidFill>
                <a:latin typeface="Aptos Display"/>
              </a:rPr>
              <a:t>Exécution locale, intégrations explicites</a:t>
            </a:r>
          </a:p>
        </p:txBody>
      </p:sp>
      <p:sp>
        <p:nvSpPr>
          <p:cNvPr id="4" name="TextBox 3"/>
          <p:cNvSpPr txBox="1"/>
          <p:nvPr/>
        </p:nvSpPr>
        <p:spPr>
          <a:xfrm>
            <a:off x="594360" y="1673352"/>
            <a:ext cx="11000232" cy="493776"/>
          </a:xfrm>
          <a:prstGeom prst="rect">
            <a:avLst/>
          </a:prstGeom>
          <a:noFill/>
        </p:spPr>
        <p:txBody>
          <a:bodyPr wrap="square" lIns="0" rIns="0" tIns="0" bIns="0" anchor="t">
            <a:noAutofit/>
          </a:bodyPr>
          <a:lstStyle/>
          <a:p>
            <a:pPr algn="l">
              <a:lnSpc>
                <a:spcPct val="108000"/>
              </a:lnSpc>
              <a:spcBef>
                <a:spcPts val="0"/>
              </a:spcBef>
              <a:spcAft>
                <a:spcPts val="500"/>
              </a:spcAft>
            </a:pPr>
            <a:r>
              <a:rPr sz="1500" b="0">
                <a:solidFill>
                  <a:srgbClr val="52616C"/>
                </a:solidFill>
                <a:latin typeface="Aptos"/>
              </a:rPr>
              <a:t>Le navigateur loopback pilote le moteur ; les services distants ne sont pas implicites.</a:t>
            </a:r>
          </a:p>
        </p:txBody>
      </p:sp>
      <p:sp>
        <p:nvSpPr>
          <p:cNvPr id="5" name="TextBox 4"/>
          <p:cNvSpPr txBox="1"/>
          <p:nvPr/>
        </p:nvSpPr>
        <p:spPr>
          <a:xfrm>
            <a:off x="594360" y="6199632"/>
            <a:ext cx="10149840" cy="182880"/>
          </a:xfrm>
          <a:prstGeom prst="rect">
            <a:avLst/>
          </a:prstGeom>
          <a:noFill/>
        </p:spPr>
        <p:txBody>
          <a:bodyPr wrap="square" lIns="0" rIns="0" tIns="0" bIns="0" anchor="t">
            <a:noAutofit/>
          </a:bodyPr>
          <a:lstStyle/>
          <a:p>
            <a:pPr algn="l">
              <a:lnSpc>
                <a:spcPct val="108000"/>
              </a:lnSpc>
              <a:spcBef>
                <a:spcPts val="0"/>
              </a:spcBef>
              <a:spcAft>
                <a:spcPts val="500"/>
              </a:spcAft>
            </a:pPr>
            <a:r>
              <a:rPr sz="1000" b="0">
                <a:solidFill>
                  <a:srgbClr val="52616C"/>
                </a:solidFill>
                <a:latin typeface="Aptos"/>
              </a:rPr>
              <a:t>Tableau to Power BI  |  Édition 26.10.2026  |  Architecture d'exécution</a:t>
            </a:r>
          </a:p>
        </p:txBody>
      </p:sp>
      <p:sp>
        <p:nvSpPr>
          <p:cNvPr id="6" name="TextBox 5"/>
          <p:cNvSpPr txBox="1"/>
          <p:nvPr/>
        </p:nvSpPr>
        <p:spPr>
          <a:xfrm>
            <a:off x="11000232" y="6181344"/>
            <a:ext cx="594360" cy="210312"/>
          </a:xfrm>
          <a:prstGeom prst="rect">
            <a:avLst/>
          </a:prstGeom>
          <a:noFill/>
        </p:spPr>
        <p:txBody>
          <a:bodyPr wrap="square" lIns="0" rIns="0" tIns="0" bIns="0" anchor="t">
            <a:noAutofit/>
          </a:bodyPr>
          <a:lstStyle/>
          <a:p>
            <a:pPr algn="r">
              <a:lnSpc>
                <a:spcPct val="108000"/>
              </a:lnSpc>
              <a:spcBef>
                <a:spcPts val="0"/>
              </a:spcBef>
              <a:spcAft>
                <a:spcPts val="500"/>
              </a:spcAft>
            </a:pPr>
            <a:r>
              <a:rPr sz="1100" b="0">
                <a:solidFill>
                  <a:srgbClr val="52616C"/>
                </a:solidFill>
                <a:latin typeface="Aptos"/>
              </a:rPr>
              <a:t>04</a:t>
            </a:r>
          </a:p>
        </p:txBody>
      </p:sp>
      <p:sp>
        <p:nvSpPr>
          <p:cNvPr id="7" name="Rounded Rectangle 6"/>
          <p:cNvSpPr/>
          <p:nvPr/>
        </p:nvSpPr>
        <p:spPr>
          <a:xfrm>
            <a:off x="594360" y="2377440"/>
            <a:ext cx="3429000" cy="1097280"/>
          </a:xfrm>
          <a:prstGeom prst="roundRect">
            <a:avLst>
              <a:gd name="adj" fmla="val 12000"/>
            </a:avLst>
          </a:prstGeom>
          <a:solidFill>
            <a:srgbClr val="007F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58952" y="2551176"/>
            <a:ext cx="3099816" cy="402336"/>
          </a:xfrm>
          <a:prstGeom prst="rect">
            <a:avLst/>
          </a:prstGeom>
          <a:noFill/>
        </p:spPr>
        <p:txBody>
          <a:bodyPr wrap="square" lIns="0" rIns="0" tIns="0" bIns="0" anchor="t">
            <a:noAutofit/>
          </a:bodyPr>
          <a:lstStyle/>
          <a:p>
            <a:pPr algn="ctr">
              <a:lnSpc>
                <a:spcPct val="108000"/>
              </a:lnSpc>
              <a:spcBef>
                <a:spcPts val="0"/>
              </a:spcBef>
              <a:spcAft>
                <a:spcPts val="500"/>
              </a:spcAft>
            </a:pPr>
            <a:r>
              <a:rPr sz="1900" b="1">
                <a:solidFill>
                  <a:srgbClr val="FFFFFF"/>
                </a:solidFill>
                <a:latin typeface="Aptos"/>
              </a:rPr>
              <a:t>Navigateur local</a:t>
            </a:r>
          </a:p>
        </p:txBody>
      </p:sp>
      <p:sp>
        <p:nvSpPr>
          <p:cNvPr id="9" name="TextBox 8"/>
          <p:cNvSpPr txBox="1"/>
          <p:nvPr/>
        </p:nvSpPr>
        <p:spPr>
          <a:xfrm>
            <a:off x="758952" y="3054096"/>
            <a:ext cx="3099816" cy="356615"/>
          </a:xfrm>
          <a:prstGeom prst="rect">
            <a:avLst/>
          </a:prstGeom>
          <a:noFill/>
        </p:spPr>
        <p:txBody>
          <a:bodyPr wrap="square" lIns="0" rIns="0" tIns="0" bIns="0" anchor="t">
            <a:noAutofit/>
          </a:bodyPr>
          <a:lstStyle/>
          <a:p>
            <a:pPr algn="ctr">
              <a:lnSpc>
                <a:spcPct val="108000"/>
              </a:lnSpc>
              <a:spcBef>
                <a:spcPts val="0"/>
              </a:spcBef>
              <a:spcAft>
                <a:spcPts val="500"/>
              </a:spcAft>
            </a:pPr>
            <a:r>
              <a:rPr sz="1400" b="0">
                <a:solidFill>
                  <a:srgbClr val="FFFFFF"/>
                </a:solidFill>
                <a:latin typeface="Aptos"/>
              </a:rPr>
              <a:t>127.0.0.1:8765</a:t>
            </a:r>
          </a:p>
        </p:txBody>
      </p:sp>
      <p:sp>
        <p:nvSpPr>
          <p:cNvPr id="10" name="Rounded Rectangle 9"/>
          <p:cNvSpPr/>
          <p:nvPr/>
        </p:nvSpPr>
        <p:spPr>
          <a:xfrm>
            <a:off x="4379976" y="2377440"/>
            <a:ext cx="3429000" cy="1097280"/>
          </a:xfrm>
          <a:prstGeom prst="roundRect">
            <a:avLst>
              <a:gd name="adj" fmla="val 12000"/>
            </a:avLst>
          </a:prstGeom>
          <a:solidFill>
            <a:srgbClr val="007F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44568" y="2551176"/>
            <a:ext cx="3099816" cy="402336"/>
          </a:xfrm>
          <a:prstGeom prst="rect">
            <a:avLst/>
          </a:prstGeom>
          <a:noFill/>
        </p:spPr>
        <p:txBody>
          <a:bodyPr wrap="square" lIns="0" rIns="0" tIns="0" bIns="0" anchor="t">
            <a:noAutofit/>
          </a:bodyPr>
          <a:lstStyle/>
          <a:p>
            <a:pPr algn="ctr">
              <a:lnSpc>
                <a:spcPct val="108000"/>
              </a:lnSpc>
              <a:spcBef>
                <a:spcPts val="0"/>
              </a:spcBef>
              <a:spcAft>
                <a:spcPts val="500"/>
              </a:spcAft>
            </a:pPr>
            <a:r>
              <a:rPr sz="1900" b="1">
                <a:solidFill>
                  <a:srgbClr val="FFFFFF"/>
                </a:solidFill>
                <a:latin typeface="Aptos"/>
              </a:rPr>
              <a:t>CLI / automatisation</a:t>
            </a:r>
          </a:p>
        </p:txBody>
      </p:sp>
      <p:sp>
        <p:nvSpPr>
          <p:cNvPr id="12" name="TextBox 11"/>
          <p:cNvSpPr txBox="1"/>
          <p:nvPr/>
        </p:nvSpPr>
        <p:spPr>
          <a:xfrm>
            <a:off x="4544568" y="3054096"/>
            <a:ext cx="3099816" cy="356615"/>
          </a:xfrm>
          <a:prstGeom prst="rect">
            <a:avLst/>
          </a:prstGeom>
          <a:noFill/>
        </p:spPr>
        <p:txBody>
          <a:bodyPr wrap="square" lIns="0" rIns="0" tIns="0" bIns="0" anchor="t">
            <a:noAutofit/>
          </a:bodyPr>
          <a:lstStyle/>
          <a:p>
            <a:pPr algn="ctr">
              <a:lnSpc>
                <a:spcPct val="108000"/>
              </a:lnSpc>
              <a:spcBef>
                <a:spcPts val="0"/>
              </a:spcBef>
              <a:spcAft>
                <a:spcPts val="500"/>
              </a:spcAft>
            </a:pPr>
            <a:r>
              <a:rPr sz="1400" b="0">
                <a:solidFill>
                  <a:srgbClr val="FFFFFF"/>
                </a:solidFill>
                <a:latin typeface="Aptos"/>
              </a:rPr>
              <a:t>migrate.py batch</a:t>
            </a:r>
          </a:p>
        </p:txBody>
      </p:sp>
      <p:sp>
        <p:nvSpPr>
          <p:cNvPr id="13" name="Rounded Rectangle 12"/>
          <p:cNvSpPr/>
          <p:nvPr/>
        </p:nvSpPr>
        <p:spPr>
          <a:xfrm>
            <a:off x="8165592" y="2377440"/>
            <a:ext cx="3429000" cy="1097280"/>
          </a:xfrm>
          <a:prstGeom prst="roundRect">
            <a:avLst>
              <a:gd name="adj" fmla="val 12000"/>
            </a:avLst>
          </a:prstGeom>
          <a:solidFill>
            <a:srgbClr val="007F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330183" y="2551176"/>
            <a:ext cx="3099816" cy="402336"/>
          </a:xfrm>
          <a:prstGeom prst="rect">
            <a:avLst/>
          </a:prstGeom>
          <a:noFill/>
        </p:spPr>
        <p:txBody>
          <a:bodyPr wrap="square" lIns="0" rIns="0" tIns="0" bIns="0" anchor="t">
            <a:noAutofit/>
          </a:bodyPr>
          <a:lstStyle/>
          <a:p>
            <a:pPr algn="ctr">
              <a:lnSpc>
                <a:spcPct val="108000"/>
              </a:lnSpc>
              <a:spcBef>
                <a:spcPts val="0"/>
              </a:spcBef>
              <a:spcAft>
                <a:spcPts val="500"/>
              </a:spcAft>
            </a:pPr>
            <a:r>
              <a:rPr sz="1900" b="1">
                <a:solidFill>
                  <a:srgbClr val="FFFFFF"/>
                </a:solidFill>
                <a:latin typeface="Aptos"/>
              </a:rPr>
              <a:t>Surface agent / MCP</a:t>
            </a:r>
          </a:p>
        </p:txBody>
      </p:sp>
      <p:sp>
        <p:nvSpPr>
          <p:cNvPr id="15" name="TextBox 14"/>
          <p:cNvSpPr txBox="1"/>
          <p:nvPr/>
        </p:nvSpPr>
        <p:spPr>
          <a:xfrm>
            <a:off x="8330183" y="3054096"/>
            <a:ext cx="3099816" cy="356615"/>
          </a:xfrm>
          <a:prstGeom prst="rect">
            <a:avLst/>
          </a:prstGeom>
          <a:noFill/>
        </p:spPr>
        <p:txBody>
          <a:bodyPr wrap="square" lIns="0" rIns="0" tIns="0" bIns="0" anchor="t">
            <a:noAutofit/>
          </a:bodyPr>
          <a:lstStyle/>
          <a:p>
            <a:pPr algn="ctr">
              <a:lnSpc>
                <a:spcPct val="108000"/>
              </a:lnSpc>
              <a:spcBef>
                <a:spcPts val="0"/>
              </a:spcBef>
              <a:spcAft>
                <a:spcPts val="500"/>
              </a:spcAft>
            </a:pPr>
            <a:r>
              <a:rPr sz="1400" b="0">
                <a:solidFill>
                  <a:srgbClr val="FFFFFF"/>
                </a:solidFill>
                <a:latin typeface="Aptos"/>
              </a:rPr>
              <a:t>Outils bornés et contrôlés</a:t>
            </a:r>
          </a:p>
        </p:txBody>
      </p:sp>
      <p:cxnSp>
        <p:nvCxnSpPr>
          <p:cNvPr id="16" name="Connector 15"/>
          <p:cNvCxnSpPr/>
          <p:nvPr/>
        </p:nvCxnSpPr>
        <p:spPr>
          <a:xfrm>
            <a:off x="2304288" y="3474720"/>
            <a:ext cx="0" cy="301752"/>
          </a:xfrm>
          <a:prstGeom prst="line">
            <a:avLst/>
          </a:prstGeom>
          <a:ln w="25400">
            <a:solidFill>
              <a:srgbClr val="DDE4E8"/>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6089904" y="3474720"/>
            <a:ext cx="0" cy="301752"/>
          </a:xfrm>
          <a:prstGeom prst="line">
            <a:avLst/>
          </a:prstGeom>
          <a:ln w="25400">
            <a:solidFill>
              <a:srgbClr val="DDE4E8"/>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9875520" y="3474720"/>
            <a:ext cx="0" cy="301752"/>
          </a:xfrm>
          <a:prstGeom prst="line">
            <a:avLst/>
          </a:prstGeom>
          <a:ln w="25400">
            <a:solidFill>
              <a:srgbClr val="DDE4E8"/>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594360" y="3776472"/>
            <a:ext cx="11000232" cy="1143000"/>
          </a:xfrm>
          <a:prstGeom prst="roundRect">
            <a:avLst>
              <a:gd name="adj" fmla="val 12000"/>
            </a:avLst>
          </a:prstGeom>
          <a:solidFill>
            <a:srgbClr val="1826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58952" y="3950208"/>
            <a:ext cx="10671048" cy="402336"/>
          </a:xfrm>
          <a:prstGeom prst="rect">
            <a:avLst/>
          </a:prstGeom>
          <a:noFill/>
        </p:spPr>
        <p:txBody>
          <a:bodyPr wrap="square" lIns="0" rIns="0" tIns="0" bIns="0" anchor="t">
            <a:noAutofit/>
          </a:bodyPr>
          <a:lstStyle/>
          <a:p>
            <a:pPr algn="ctr">
              <a:lnSpc>
                <a:spcPct val="108000"/>
              </a:lnSpc>
              <a:spcBef>
                <a:spcPts val="0"/>
              </a:spcBef>
              <a:spcAft>
                <a:spcPts val="500"/>
              </a:spcAft>
            </a:pPr>
            <a:r>
              <a:rPr sz="1900" b="1">
                <a:solidFill>
                  <a:srgbClr val="FFFFFF"/>
                </a:solidFill>
                <a:latin typeface="Aptos"/>
              </a:rPr>
              <a:t>Orchestration Python locale</a:t>
            </a:r>
          </a:p>
        </p:txBody>
      </p:sp>
      <p:sp>
        <p:nvSpPr>
          <p:cNvPr id="21" name="TextBox 20"/>
          <p:cNvSpPr txBox="1"/>
          <p:nvPr/>
        </p:nvSpPr>
        <p:spPr>
          <a:xfrm>
            <a:off x="758952" y="4453128"/>
            <a:ext cx="10671048" cy="402335"/>
          </a:xfrm>
          <a:prstGeom prst="rect">
            <a:avLst/>
          </a:prstGeom>
          <a:noFill/>
        </p:spPr>
        <p:txBody>
          <a:bodyPr wrap="square" lIns="0" rIns="0" tIns="0" bIns="0" anchor="t">
            <a:noAutofit/>
          </a:bodyPr>
          <a:lstStyle/>
          <a:p>
            <a:pPr algn="ctr">
              <a:lnSpc>
                <a:spcPct val="108000"/>
              </a:lnSpc>
              <a:spcBef>
                <a:spcPts val="0"/>
              </a:spcBef>
              <a:spcAft>
                <a:spcPts val="500"/>
              </a:spcAft>
            </a:pPr>
            <a:r>
              <a:rPr sz="1400" b="0">
                <a:solidFill>
                  <a:srgbClr val="FFFFFF"/>
                </a:solidFill>
                <a:latin typeface="Aptos"/>
              </a:rPr>
              <a:t>Extraction → génération → contrôles → fichiers et preuves sur disque</a:t>
            </a:r>
          </a:p>
        </p:txBody>
      </p:sp>
      <p:sp>
        <p:nvSpPr>
          <p:cNvPr id="22" name="TextBox 21"/>
          <p:cNvSpPr txBox="1"/>
          <p:nvPr/>
        </p:nvSpPr>
        <p:spPr>
          <a:xfrm>
            <a:off x="640080" y="5166360"/>
            <a:ext cx="10881360" cy="512064"/>
          </a:xfrm>
          <a:prstGeom prst="rect">
            <a:avLst/>
          </a:prstGeom>
          <a:noFill/>
        </p:spPr>
        <p:txBody>
          <a:bodyPr wrap="square" lIns="0" rIns="0" tIns="0" bIns="0" anchor="t">
            <a:noAutofit/>
          </a:bodyPr>
          <a:lstStyle/>
          <a:p>
            <a:pPr algn="l">
              <a:lnSpc>
                <a:spcPct val="108000"/>
              </a:lnSpc>
              <a:spcBef>
                <a:spcPts val="0"/>
              </a:spcBef>
              <a:spcAft>
                <a:spcPts val="500"/>
              </a:spcAft>
            </a:pPr>
            <a:r>
              <a:rPr sz="1600" b="0">
                <a:solidFill>
                  <a:srgbClr val="182630"/>
                </a:solidFill>
                <a:latin typeface="Aptos"/>
              </a:rPr>
              <a:t>Tableau Server, LLM, Desktop et publication cloud : intégrations séparées, avec prérequis et autorisations propres.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5F7F8"/>
        </a:solidFill>
        <a:effectLst/>
      </p:bgPr>
    </p:bg>
    <p:spTree>
      <p:nvGrpSpPr>
        <p:cNvPr id="1" name=""/>
        <p:cNvGrpSpPr/>
        <p:nvPr/>
      </p:nvGrpSpPr>
      <p:grpSpPr/>
      <p:sp>
        <p:nvSpPr>
          <p:cNvPr id="2" name="TextBox 1"/>
          <p:cNvSpPr txBox="1"/>
          <p:nvPr/>
        </p:nvSpPr>
        <p:spPr>
          <a:xfrm>
            <a:off x="594360" y="466344"/>
            <a:ext cx="10789920" cy="201168"/>
          </a:xfrm>
          <a:prstGeom prst="rect">
            <a:avLst/>
          </a:prstGeom>
          <a:noFill/>
        </p:spPr>
        <p:txBody>
          <a:bodyPr wrap="square" lIns="0" rIns="0" tIns="0" bIns="0" anchor="t">
            <a:noAutofit/>
          </a:bodyPr>
          <a:lstStyle/>
          <a:p>
            <a:pPr algn="l">
              <a:lnSpc>
                <a:spcPct val="108000"/>
              </a:lnSpc>
              <a:spcBef>
                <a:spcPts val="0"/>
              </a:spcBef>
              <a:spcAft>
                <a:spcPts val="500"/>
              </a:spcAft>
            </a:pPr>
            <a:r>
              <a:rPr sz="1050" b="1">
                <a:solidFill>
                  <a:srgbClr val="007F79"/>
                </a:solidFill>
                <a:latin typeface="Aptos"/>
              </a:rPr>
              <a:t>WORKFLOW OPÉRATEUR</a:t>
            </a:r>
          </a:p>
        </p:txBody>
      </p:sp>
      <p:sp>
        <p:nvSpPr>
          <p:cNvPr id="3" name="Slide title"/>
          <p:cNvSpPr txBox="1"/>
          <p:nvPr/>
        </p:nvSpPr>
        <p:spPr>
          <a:xfrm>
            <a:off x="594360" y="859536"/>
            <a:ext cx="11000232" cy="685800"/>
          </a:xfrm>
          <a:prstGeom prst="rect">
            <a:avLst/>
          </a:prstGeom>
          <a:noFill/>
        </p:spPr>
        <p:txBody>
          <a:bodyPr wrap="square" lIns="0" rIns="0" tIns="0" bIns="0" anchor="t">
            <a:noAutofit/>
          </a:bodyPr>
          <a:lstStyle/>
          <a:p>
            <a:pPr algn="l">
              <a:lnSpc>
                <a:spcPct val="108000"/>
              </a:lnSpc>
              <a:spcBef>
                <a:spcPts val="0"/>
              </a:spcBef>
              <a:spcAft>
                <a:spcPts val="500"/>
              </a:spcAft>
            </a:pPr>
            <a:r>
              <a:rPr sz="3600" b="1">
                <a:solidFill>
                  <a:srgbClr val="182630"/>
                </a:solidFill>
                <a:latin typeface="Aptos Display"/>
              </a:rPr>
              <a:t>Un workflow avec des décisions humaines</a:t>
            </a:r>
          </a:p>
        </p:txBody>
      </p:sp>
      <p:sp>
        <p:nvSpPr>
          <p:cNvPr id="4" name="TextBox 3"/>
          <p:cNvSpPr txBox="1"/>
          <p:nvPr/>
        </p:nvSpPr>
        <p:spPr>
          <a:xfrm>
            <a:off x="594360" y="1673352"/>
            <a:ext cx="11000232" cy="493776"/>
          </a:xfrm>
          <a:prstGeom prst="rect">
            <a:avLst/>
          </a:prstGeom>
          <a:noFill/>
        </p:spPr>
        <p:txBody>
          <a:bodyPr wrap="square" lIns="0" rIns="0" tIns="0" bIns="0" anchor="t">
            <a:noAutofit/>
          </a:bodyPr>
          <a:lstStyle/>
          <a:p>
            <a:pPr algn="l">
              <a:lnSpc>
                <a:spcPct val="108000"/>
              </a:lnSpc>
              <a:spcBef>
                <a:spcPts val="0"/>
              </a:spcBef>
              <a:spcAft>
                <a:spcPts val="500"/>
              </a:spcAft>
            </a:pPr>
            <a:r>
              <a:rPr sz="1500" b="0">
                <a:solidFill>
                  <a:srgbClr val="52616C"/>
                </a:solidFill>
                <a:latin typeface="Aptos"/>
              </a:rPr>
              <a:t>L'outil prépare ; le responsable métier et la plateforme acceptent le résultat.</a:t>
            </a:r>
          </a:p>
        </p:txBody>
      </p:sp>
      <p:sp>
        <p:nvSpPr>
          <p:cNvPr id="5" name="TextBox 4"/>
          <p:cNvSpPr txBox="1"/>
          <p:nvPr/>
        </p:nvSpPr>
        <p:spPr>
          <a:xfrm>
            <a:off x="594360" y="6199632"/>
            <a:ext cx="10149840" cy="182880"/>
          </a:xfrm>
          <a:prstGeom prst="rect">
            <a:avLst/>
          </a:prstGeom>
          <a:noFill/>
        </p:spPr>
        <p:txBody>
          <a:bodyPr wrap="square" lIns="0" rIns="0" tIns="0" bIns="0" anchor="t">
            <a:noAutofit/>
          </a:bodyPr>
          <a:lstStyle/>
          <a:p>
            <a:pPr algn="l">
              <a:lnSpc>
                <a:spcPct val="108000"/>
              </a:lnSpc>
              <a:spcBef>
                <a:spcPts val="0"/>
              </a:spcBef>
              <a:spcAft>
                <a:spcPts val="500"/>
              </a:spcAft>
            </a:pPr>
            <a:r>
              <a:rPr sz="1000" b="0">
                <a:solidFill>
                  <a:srgbClr val="52616C"/>
                </a:solidFill>
                <a:latin typeface="Aptos"/>
              </a:rPr>
              <a:t>Tableau to Power BI  |  Édition 26.10.2026  |  Workflow opérateur</a:t>
            </a:r>
          </a:p>
        </p:txBody>
      </p:sp>
      <p:sp>
        <p:nvSpPr>
          <p:cNvPr id="6" name="TextBox 5"/>
          <p:cNvSpPr txBox="1"/>
          <p:nvPr/>
        </p:nvSpPr>
        <p:spPr>
          <a:xfrm>
            <a:off x="11000232" y="6181344"/>
            <a:ext cx="594360" cy="210312"/>
          </a:xfrm>
          <a:prstGeom prst="rect">
            <a:avLst/>
          </a:prstGeom>
          <a:noFill/>
        </p:spPr>
        <p:txBody>
          <a:bodyPr wrap="square" lIns="0" rIns="0" tIns="0" bIns="0" anchor="t">
            <a:noAutofit/>
          </a:bodyPr>
          <a:lstStyle/>
          <a:p>
            <a:pPr algn="r">
              <a:lnSpc>
                <a:spcPct val="108000"/>
              </a:lnSpc>
              <a:spcBef>
                <a:spcPts val="0"/>
              </a:spcBef>
              <a:spcAft>
                <a:spcPts val="500"/>
              </a:spcAft>
            </a:pPr>
            <a:r>
              <a:rPr sz="1100" b="0">
                <a:solidFill>
                  <a:srgbClr val="52616C"/>
                </a:solidFill>
                <a:latin typeface="Aptos"/>
              </a:rPr>
              <a:t>05</a:t>
            </a:r>
          </a:p>
        </p:txBody>
      </p:sp>
      <p:sp>
        <p:nvSpPr>
          <p:cNvPr id="7" name="Oval 6"/>
          <p:cNvSpPr/>
          <p:nvPr/>
        </p:nvSpPr>
        <p:spPr>
          <a:xfrm>
            <a:off x="1435608" y="2468880"/>
            <a:ext cx="713232" cy="713232"/>
          </a:xfrm>
          <a:prstGeom prst="ellipse">
            <a:avLst/>
          </a:prstGeom>
          <a:solidFill>
            <a:srgbClr val="007F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435608" y="2615184"/>
            <a:ext cx="713232" cy="393192"/>
          </a:xfrm>
          <a:prstGeom prst="rect">
            <a:avLst/>
          </a:prstGeom>
          <a:noFill/>
        </p:spPr>
        <p:txBody>
          <a:bodyPr wrap="square" lIns="0" rIns="0" tIns="0" bIns="0" anchor="t">
            <a:noAutofit/>
          </a:bodyPr>
          <a:lstStyle/>
          <a:p>
            <a:pPr algn="ctr">
              <a:lnSpc>
                <a:spcPct val="108000"/>
              </a:lnSpc>
              <a:spcBef>
                <a:spcPts val="0"/>
              </a:spcBef>
              <a:spcAft>
                <a:spcPts val="500"/>
              </a:spcAft>
            </a:pPr>
            <a:r>
              <a:rPr sz="2400" b="1">
                <a:solidFill>
                  <a:srgbClr val="FFFFFF"/>
                </a:solidFill>
                <a:latin typeface="Aptos"/>
              </a:rPr>
              <a:t>1</a:t>
            </a:r>
          </a:p>
        </p:txBody>
      </p:sp>
      <p:sp>
        <p:nvSpPr>
          <p:cNvPr id="9" name="Chevron 8"/>
          <p:cNvSpPr/>
          <p:nvPr/>
        </p:nvSpPr>
        <p:spPr>
          <a:xfrm>
            <a:off x="2944368" y="2715768"/>
            <a:ext cx="201168" cy="201168"/>
          </a:xfrm>
          <a:prstGeom prst="chevron">
            <a:avLst/>
          </a:prstGeom>
          <a:solidFill>
            <a:srgbClr val="007F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3602736"/>
            <a:ext cx="2468880" cy="384048"/>
          </a:xfrm>
          <a:prstGeom prst="rect">
            <a:avLst/>
          </a:prstGeom>
          <a:noFill/>
        </p:spPr>
        <p:txBody>
          <a:bodyPr wrap="square" lIns="0" rIns="0" tIns="0" bIns="0" anchor="t">
            <a:noAutofit/>
          </a:bodyPr>
          <a:lstStyle/>
          <a:p>
            <a:pPr algn="l">
              <a:lnSpc>
                <a:spcPct val="108000"/>
              </a:lnSpc>
              <a:spcBef>
                <a:spcPts val="0"/>
              </a:spcBef>
              <a:spcAft>
                <a:spcPts val="500"/>
              </a:spcAft>
            </a:pPr>
            <a:r>
              <a:rPr sz="2200" b="1">
                <a:solidFill>
                  <a:srgbClr val="182630"/>
                </a:solidFill>
                <a:latin typeface="Aptos"/>
              </a:rPr>
              <a:t>Inventorier</a:t>
            </a:r>
          </a:p>
        </p:txBody>
      </p:sp>
      <p:sp>
        <p:nvSpPr>
          <p:cNvPr id="11" name="TextBox 10"/>
          <p:cNvSpPr txBox="1"/>
          <p:nvPr/>
        </p:nvSpPr>
        <p:spPr>
          <a:xfrm>
            <a:off x="594360" y="4169663"/>
            <a:ext cx="2468880" cy="859536"/>
          </a:xfrm>
          <a:prstGeom prst="rect">
            <a:avLst/>
          </a:prstGeom>
          <a:noFill/>
        </p:spPr>
        <p:txBody>
          <a:bodyPr wrap="square" lIns="0" rIns="0" tIns="0" bIns="0" anchor="t">
            <a:noAutofit/>
          </a:bodyPr>
          <a:lstStyle/>
          <a:p>
            <a:pPr algn="l">
              <a:lnSpc>
                <a:spcPct val="108000"/>
              </a:lnSpc>
              <a:spcBef>
                <a:spcPts val="0"/>
              </a:spcBef>
              <a:spcAft>
                <a:spcPts val="500"/>
              </a:spcAft>
            </a:pPr>
            <a:r>
              <a:rPr sz="1700" b="0">
                <a:solidFill>
                  <a:srgbClr val="52616C"/>
                </a:solidFill>
                <a:latin typeface="Aptos"/>
              </a:rPr>
              <a:t>Sources, dépendances,</a:t>
            </a:r>
          </a:p>
          <a:p>
            <a:pPr algn="l">
              <a:lnSpc>
                <a:spcPct val="108000"/>
              </a:lnSpc>
              <a:spcBef>
                <a:spcPts val="0"/>
              </a:spcBef>
              <a:spcAft>
                <a:spcPts val="500"/>
              </a:spcAft>
            </a:pPr>
            <a:r>
              <a:rPr sz="1700" b="0">
                <a:solidFill>
                  <a:srgbClr val="52616C"/>
                </a:solidFill>
                <a:latin typeface="Aptos"/>
              </a:rPr>
              <a:t>complexité</a:t>
            </a:r>
          </a:p>
        </p:txBody>
      </p:sp>
      <p:sp>
        <p:nvSpPr>
          <p:cNvPr id="12" name="Oval 11"/>
          <p:cNvSpPr/>
          <p:nvPr/>
        </p:nvSpPr>
        <p:spPr>
          <a:xfrm>
            <a:off x="4270248" y="2468880"/>
            <a:ext cx="713232" cy="713232"/>
          </a:xfrm>
          <a:prstGeom prst="ellipse">
            <a:avLst/>
          </a:prstGeom>
          <a:solidFill>
            <a:srgbClr val="007F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270248" y="2615184"/>
            <a:ext cx="713232" cy="393192"/>
          </a:xfrm>
          <a:prstGeom prst="rect">
            <a:avLst/>
          </a:prstGeom>
          <a:noFill/>
        </p:spPr>
        <p:txBody>
          <a:bodyPr wrap="square" lIns="0" rIns="0" tIns="0" bIns="0" anchor="t">
            <a:noAutofit/>
          </a:bodyPr>
          <a:lstStyle/>
          <a:p>
            <a:pPr algn="ctr">
              <a:lnSpc>
                <a:spcPct val="108000"/>
              </a:lnSpc>
              <a:spcBef>
                <a:spcPts val="0"/>
              </a:spcBef>
              <a:spcAft>
                <a:spcPts val="500"/>
              </a:spcAft>
            </a:pPr>
            <a:r>
              <a:rPr sz="2400" b="1">
                <a:solidFill>
                  <a:srgbClr val="FFFFFF"/>
                </a:solidFill>
                <a:latin typeface="Aptos"/>
              </a:rPr>
              <a:t>2</a:t>
            </a:r>
          </a:p>
        </p:txBody>
      </p:sp>
      <p:sp>
        <p:nvSpPr>
          <p:cNvPr id="14" name="Chevron 13"/>
          <p:cNvSpPr/>
          <p:nvPr/>
        </p:nvSpPr>
        <p:spPr>
          <a:xfrm>
            <a:off x="5779008" y="2715768"/>
            <a:ext cx="201168" cy="201168"/>
          </a:xfrm>
          <a:prstGeom prst="chevron">
            <a:avLst/>
          </a:prstGeom>
          <a:solidFill>
            <a:srgbClr val="007F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429000" y="3602736"/>
            <a:ext cx="2468880" cy="384048"/>
          </a:xfrm>
          <a:prstGeom prst="rect">
            <a:avLst/>
          </a:prstGeom>
          <a:noFill/>
        </p:spPr>
        <p:txBody>
          <a:bodyPr wrap="square" lIns="0" rIns="0" tIns="0" bIns="0" anchor="t">
            <a:noAutofit/>
          </a:bodyPr>
          <a:lstStyle/>
          <a:p>
            <a:pPr algn="l">
              <a:lnSpc>
                <a:spcPct val="108000"/>
              </a:lnSpc>
              <a:spcBef>
                <a:spcPts val="0"/>
              </a:spcBef>
              <a:spcAft>
                <a:spcPts val="500"/>
              </a:spcAft>
            </a:pPr>
            <a:r>
              <a:rPr sz="2200" b="1">
                <a:solidFill>
                  <a:srgbClr val="182630"/>
                </a:solidFill>
                <a:latin typeface="Aptos"/>
              </a:rPr>
              <a:t>Générer</a:t>
            </a:r>
          </a:p>
        </p:txBody>
      </p:sp>
      <p:sp>
        <p:nvSpPr>
          <p:cNvPr id="16" name="TextBox 15"/>
          <p:cNvSpPr txBox="1"/>
          <p:nvPr/>
        </p:nvSpPr>
        <p:spPr>
          <a:xfrm>
            <a:off x="3429000" y="4169663"/>
            <a:ext cx="2468880" cy="859536"/>
          </a:xfrm>
          <a:prstGeom prst="rect">
            <a:avLst/>
          </a:prstGeom>
          <a:noFill/>
        </p:spPr>
        <p:txBody>
          <a:bodyPr wrap="square" lIns="0" rIns="0" tIns="0" bIns="0" anchor="t">
            <a:noAutofit/>
          </a:bodyPr>
          <a:lstStyle/>
          <a:p>
            <a:pPr algn="l">
              <a:lnSpc>
                <a:spcPct val="108000"/>
              </a:lnSpc>
              <a:spcBef>
                <a:spcPts val="0"/>
              </a:spcBef>
              <a:spcAft>
                <a:spcPts val="500"/>
              </a:spcAft>
            </a:pPr>
            <a:r>
              <a:rPr sz="1700" b="0">
                <a:solidFill>
                  <a:srgbClr val="52616C"/>
                </a:solidFill>
                <a:latin typeface="Aptos"/>
              </a:rPr>
              <a:t>Projet éditable,</a:t>
            </a:r>
          </a:p>
          <a:p>
            <a:pPr algn="l">
              <a:lnSpc>
                <a:spcPct val="108000"/>
              </a:lnSpc>
              <a:spcBef>
                <a:spcPts val="0"/>
              </a:spcBef>
              <a:spcAft>
                <a:spcPts val="500"/>
              </a:spcAft>
            </a:pPr>
            <a:r>
              <a:rPr sz="1700" b="0">
                <a:solidFill>
                  <a:srgbClr val="52616C"/>
                </a:solidFill>
                <a:latin typeface="Aptos"/>
              </a:rPr>
              <a:t>registre des écarts</a:t>
            </a:r>
          </a:p>
        </p:txBody>
      </p:sp>
      <p:sp>
        <p:nvSpPr>
          <p:cNvPr id="17" name="Oval 16"/>
          <p:cNvSpPr/>
          <p:nvPr/>
        </p:nvSpPr>
        <p:spPr>
          <a:xfrm>
            <a:off x="7104888" y="2468880"/>
            <a:ext cx="713232" cy="713232"/>
          </a:xfrm>
          <a:prstGeom prst="ellipse">
            <a:avLst/>
          </a:prstGeom>
          <a:solidFill>
            <a:srgbClr val="F2C8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104888" y="2615184"/>
            <a:ext cx="713232" cy="393192"/>
          </a:xfrm>
          <a:prstGeom prst="rect">
            <a:avLst/>
          </a:prstGeom>
          <a:noFill/>
        </p:spPr>
        <p:txBody>
          <a:bodyPr wrap="square" lIns="0" rIns="0" tIns="0" bIns="0" anchor="t">
            <a:noAutofit/>
          </a:bodyPr>
          <a:lstStyle/>
          <a:p>
            <a:pPr algn="ctr">
              <a:lnSpc>
                <a:spcPct val="108000"/>
              </a:lnSpc>
              <a:spcBef>
                <a:spcPts val="0"/>
              </a:spcBef>
              <a:spcAft>
                <a:spcPts val="500"/>
              </a:spcAft>
            </a:pPr>
            <a:r>
              <a:rPr sz="2400" b="1">
                <a:solidFill>
                  <a:srgbClr val="182630"/>
                </a:solidFill>
                <a:latin typeface="Aptos"/>
              </a:rPr>
              <a:t>3</a:t>
            </a:r>
          </a:p>
        </p:txBody>
      </p:sp>
      <p:sp>
        <p:nvSpPr>
          <p:cNvPr id="19" name="Chevron 18"/>
          <p:cNvSpPr/>
          <p:nvPr/>
        </p:nvSpPr>
        <p:spPr>
          <a:xfrm>
            <a:off x="8613648" y="2715768"/>
            <a:ext cx="201168" cy="201168"/>
          </a:xfrm>
          <a:prstGeom prst="chevron">
            <a:avLst/>
          </a:prstGeom>
          <a:solidFill>
            <a:srgbClr val="007F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63640" y="3602736"/>
            <a:ext cx="2468880" cy="384048"/>
          </a:xfrm>
          <a:prstGeom prst="rect">
            <a:avLst/>
          </a:prstGeom>
          <a:noFill/>
        </p:spPr>
        <p:txBody>
          <a:bodyPr wrap="square" lIns="0" rIns="0" tIns="0" bIns="0" anchor="t">
            <a:noAutofit/>
          </a:bodyPr>
          <a:lstStyle/>
          <a:p>
            <a:pPr algn="l">
              <a:lnSpc>
                <a:spcPct val="108000"/>
              </a:lnSpc>
              <a:spcBef>
                <a:spcPts val="0"/>
              </a:spcBef>
              <a:spcAft>
                <a:spcPts val="500"/>
              </a:spcAft>
            </a:pPr>
            <a:r>
              <a:rPr sz="2200" b="1">
                <a:solidFill>
                  <a:srgbClr val="182630"/>
                </a:solidFill>
                <a:latin typeface="Aptos"/>
              </a:rPr>
              <a:t>Valider</a:t>
            </a:r>
          </a:p>
        </p:txBody>
      </p:sp>
      <p:sp>
        <p:nvSpPr>
          <p:cNvPr id="21" name="TextBox 20"/>
          <p:cNvSpPr txBox="1"/>
          <p:nvPr/>
        </p:nvSpPr>
        <p:spPr>
          <a:xfrm>
            <a:off x="6263640" y="4169663"/>
            <a:ext cx="2468880" cy="859536"/>
          </a:xfrm>
          <a:prstGeom prst="rect">
            <a:avLst/>
          </a:prstGeom>
          <a:noFill/>
        </p:spPr>
        <p:txBody>
          <a:bodyPr wrap="square" lIns="0" rIns="0" tIns="0" bIns="0" anchor="t">
            <a:noAutofit/>
          </a:bodyPr>
          <a:lstStyle/>
          <a:p>
            <a:pPr algn="l">
              <a:lnSpc>
                <a:spcPct val="108000"/>
              </a:lnSpc>
              <a:spcBef>
                <a:spcPts val="0"/>
              </a:spcBef>
              <a:spcAft>
                <a:spcPts val="500"/>
              </a:spcAft>
            </a:pPr>
            <a:r>
              <a:rPr sz="1700" b="0">
                <a:solidFill>
                  <a:srgbClr val="52616C"/>
                </a:solidFill>
                <a:latin typeface="Aptos"/>
              </a:rPr>
              <a:t>Refresh, valeurs,</a:t>
            </a:r>
          </a:p>
          <a:p>
            <a:pPr algn="l">
              <a:lnSpc>
                <a:spcPct val="108000"/>
              </a:lnSpc>
              <a:spcBef>
                <a:spcPts val="0"/>
              </a:spcBef>
              <a:spcAft>
                <a:spcPts val="500"/>
              </a:spcAft>
            </a:pPr>
            <a:r>
              <a:rPr sz="1700" b="0">
                <a:solidFill>
                  <a:srgbClr val="52616C"/>
                </a:solidFill>
                <a:latin typeface="Aptos"/>
              </a:rPr>
              <a:t>visuels et sécurité</a:t>
            </a:r>
          </a:p>
        </p:txBody>
      </p:sp>
      <p:sp>
        <p:nvSpPr>
          <p:cNvPr id="22" name="Oval 21"/>
          <p:cNvSpPr/>
          <p:nvPr/>
        </p:nvSpPr>
        <p:spPr>
          <a:xfrm>
            <a:off x="9939528" y="2468880"/>
            <a:ext cx="713232" cy="713232"/>
          </a:xfrm>
          <a:prstGeom prst="ellipse">
            <a:avLst/>
          </a:prstGeom>
          <a:solidFill>
            <a:srgbClr val="007F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939528" y="2615184"/>
            <a:ext cx="713232" cy="393192"/>
          </a:xfrm>
          <a:prstGeom prst="rect">
            <a:avLst/>
          </a:prstGeom>
          <a:noFill/>
        </p:spPr>
        <p:txBody>
          <a:bodyPr wrap="square" lIns="0" rIns="0" tIns="0" bIns="0" anchor="t">
            <a:noAutofit/>
          </a:bodyPr>
          <a:lstStyle/>
          <a:p>
            <a:pPr algn="ctr">
              <a:lnSpc>
                <a:spcPct val="108000"/>
              </a:lnSpc>
              <a:spcBef>
                <a:spcPts val="0"/>
              </a:spcBef>
              <a:spcAft>
                <a:spcPts val="500"/>
              </a:spcAft>
            </a:pPr>
            <a:r>
              <a:rPr sz="2400" b="1">
                <a:solidFill>
                  <a:srgbClr val="FFFFFF"/>
                </a:solidFill>
                <a:latin typeface="Aptos"/>
              </a:rPr>
              <a:t>4</a:t>
            </a:r>
          </a:p>
        </p:txBody>
      </p:sp>
      <p:sp>
        <p:nvSpPr>
          <p:cNvPr id="24" name="TextBox 23"/>
          <p:cNvSpPr txBox="1"/>
          <p:nvPr/>
        </p:nvSpPr>
        <p:spPr>
          <a:xfrm>
            <a:off x="9098280" y="3602736"/>
            <a:ext cx="2468880" cy="384048"/>
          </a:xfrm>
          <a:prstGeom prst="rect">
            <a:avLst/>
          </a:prstGeom>
          <a:noFill/>
        </p:spPr>
        <p:txBody>
          <a:bodyPr wrap="square" lIns="0" rIns="0" tIns="0" bIns="0" anchor="t">
            <a:noAutofit/>
          </a:bodyPr>
          <a:lstStyle/>
          <a:p>
            <a:pPr algn="l">
              <a:lnSpc>
                <a:spcPct val="108000"/>
              </a:lnSpc>
              <a:spcBef>
                <a:spcPts val="0"/>
              </a:spcBef>
              <a:spcAft>
                <a:spcPts val="500"/>
              </a:spcAft>
            </a:pPr>
            <a:r>
              <a:rPr sz="2200" b="1">
                <a:solidFill>
                  <a:srgbClr val="182630"/>
                </a:solidFill>
                <a:latin typeface="Aptos"/>
              </a:rPr>
              <a:t>Industrialiser</a:t>
            </a:r>
          </a:p>
        </p:txBody>
      </p:sp>
      <p:sp>
        <p:nvSpPr>
          <p:cNvPr id="25" name="TextBox 24"/>
          <p:cNvSpPr txBox="1"/>
          <p:nvPr/>
        </p:nvSpPr>
        <p:spPr>
          <a:xfrm>
            <a:off x="9098280" y="4169663"/>
            <a:ext cx="2468880" cy="859536"/>
          </a:xfrm>
          <a:prstGeom prst="rect">
            <a:avLst/>
          </a:prstGeom>
          <a:noFill/>
        </p:spPr>
        <p:txBody>
          <a:bodyPr wrap="square" lIns="0" rIns="0" tIns="0" bIns="0" anchor="t">
            <a:noAutofit/>
          </a:bodyPr>
          <a:lstStyle/>
          <a:p>
            <a:pPr algn="l">
              <a:lnSpc>
                <a:spcPct val="108000"/>
              </a:lnSpc>
              <a:spcBef>
                <a:spcPts val="0"/>
              </a:spcBef>
              <a:spcAft>
                <a:spcPts val="500"/>
              </a:spcAft>
            </a:pPr>
            <a:r>
              <a:rPr sz="1700" b="0">
                <a:solidFill>
                  <a:srgbClr val="52616C"/>
                </a:solidFill>
                <a:latin typeface="Aptos"/>
              </a:rPr>
              <a:t>Vagues, publication,</a:t>
            </a:r>
          </a:p>
          <a:p>
            <a:pPr algn="l">
              <a:lnSpc>
                <a:spcPct val="108000"/>
              </a:lnSpc>
              <a:spcBef>
                <a:spcPts val="0"/>
              </a:spcBef>
              <a:spcAft>
                <a:spcPts val="500"/>
              </a:spcAft>
            </a:pPr>
            <a:r>
              <a:rPr sz="1700" b="0">
                <a:solidFill>
                  <a:srgbClr val="52616C"/>
                </a:solidFill>
                <a:latin typeface="Aptos"/>
              </a:rPr>
              <a:t>support et reprise</a:t>
            </a:r>
          </a:p>
        </p:txBody>
      </p:sp>
      <p:sp>
        <p:nvSpPr>
          <p:cNvPr id="26" name="Rounded Rectangle 25"/>
          <p:cNvSpPr/>
          <p:nvPr/>
        </p:nvSpPr>
        <p:spPr>
          <a:xfrm>
            <a:off x="594360" y="5522976"/>
            <a:ext cx="11000232" cy="429768"/>
          </a:xfrm>
          <a:prstGeom prst="roundRect">
            <a:avLst>
              <a:gd name="adj" fmla="val 12000"/>
            </a:avLst>
          </a:prstGeom>
          <a:solidFill>
            <a:srgbClr val="1826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86384" y="5614416"/>
            <a:ext cx="10616184" cy="256032"/>
          </a:xfrm>
          <a:prstGeom prst="rect">
            <a:avLst/>
          </a:prstGeom>
          <a:noFill/>
        </p:spPr>
        <p:txBody>
          <a:bodyPr wrap="square" lIns="0" rIns="0" tIns="0" bIns="0" anchor="t">
            <a:noAutofit/>
          </a:bodyPr>
          <a:lstStyle/>
          <a:p>
            <a:pPr algn="l">
              <a:lnSpc>
                <a:spcPct val="108000"/>
              </a:lnSpc>
              <a:spcBef>
                <a:spcPts val="0"/>
              </a:spcBef>
              <a:spcAft>
                <a:spcPts val="500"/>
              </a:spcAft>
            </a:pPr>
            <a:r>
              <a:rPr sz="1300" b="1">
                <a:solidFill>
                  <a:srgbClr val="FFFFFF"/>
                </a:solidFill>
                <a:latin typeface="Aptos"/>
              </a:rPr>
              <a:t>Une génération réussie ne déclenche pas automatiquement une mise en production.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5F7F8"/>
        </a:solidFill>
        <a:effectLst/>
      </p:bgPr>
    </p:bg>
    <p:spTree>
      <p:nvGrpSpPr>
        <p:cNvPr id="1" name=""/>
        <p:cNvGrpSpPr/>
        <p:nvPr/>
      </p:nvGrpSpPr>
      <p:grpSpPr/>
      <p:sp>
        <p:nvSpPr>
          <p:cNvPr id="2" name="TextBox 1"/>
          <p:cNvSpPr txBox="1"/>
          <p:nvPr/>
        </p:nvSpPr>
        <p:spPr>
          <a:xfrm>
            <a:off x="594360" y="466344"/>
            <a:ext cx="10789920" cy="201168"/>
          </a:xfrm>
          <a:prstGeom prst="rect">
            <a:avLst/>
          </a:prstGeom>
          <a:noFill/>
        </p:spPr>
        <p:txBody>
          <a:bodyPr wrap="square" lIns="0" rIns="0" tIns="0" bIns="0" anchor="t">
            <a:noAutofit/>
          </a:bodyPr>
          <a:lstStyle/>
          <a:p>
            <a:pPr algn="l">
              <a:lnSpc>
                <a:spcPct val="108000"/>
              </a:lnSpc>
              <a:spcBef>
                <a:spcPts val="0"/>
              </a:spcBef>
              <a:spcAft>
                <a:spcPts val="500"/>
              </a:spcAft>
            </a:pPr>
            <a:r>
              <a:rPr sz="1050" b="1">
                <a:solidFill>
                  <a:srgbClr val="007F79"/>
                </a:solidFill>
                <a:latin typeface="Aptos"/>
              </a:rPr>
              <a:t>CONTRAT DES DONNÉES</a:t>
            </a:r>
          </a:p>
        </p:txBody>
      </p:sp>
      <p:sp>
        <p:nvSpPr>
          <p:cNvPr id="3" name="Slide title"/>
          <p:cNvSpPr txBox="1"/>
          <p:nvPr/>
        </p:nvSpPr>
        <p:spPr>
          <a:xfrm>
            <a:off x="594360" y="859536"/>
            <a:ext cx="11000232" cy="685800"/>
          </a:xfrm>
          <a:prstGeom prst="rect">
            <a:avLst/>
          </a:prstGeom>
          <a:noFill/>
        </p:spPr>
        <p:txBody>
          <a:bodyPr wrap="square" lIns="0" rIns="0" tIns="0" bIns="0" anchor="t">
            <a:noAutofit/>
          </a:bodyPr>
          <a:lstStyle/>
          <a:p>
            <a:pPr algn="l">
              <a:lnSpc>
                <a:spcPct val="108000"/>
              </a:lnSpc>
              <a:spcBef>
                <a:spcPts val="0"/>
              </a:spcBef>
              <a:spcAft>
                <a:spcPts val="500"/>
              </a:spcAft>
            </a:pPr>
            <a:r>
              <a:rPr sz="3600" b="1">
                <a:solidFill>
                  <a:srgbClr val="182630"/>
                </a:solidFill>
                <a:latin typeface="Aptos Display"/>
              </a:rPr>
              <a:t>Hyper ou source native : une règle simple</a:t>
            </a:r>
          </a:p>
        </p:txBody>
      </p:sp>
      <p:sp>
        <p:nvSpPr>
          <p:cNvPr id="4" name="TextBox 3"/>
          <p:cNvSpPr txBox="1"/>
          <p:nvPr/>
        </p:nvSpPr>
        <p:spPr>
          <a:xfrm>
            <a:off x="594360" y="1673352"/>
            <a:ext cx="11000232" cy="493776"/>
          </a:xfrm>
          <a:prstGeom prst="rect">
            <a:avLst/>
          </a:prstGeom>
          <a:noFill/>
        </p:spPr>
        <p:txBody>
          <a:bodyPr wrap="square" lIns="0" rIns="0" tIns="0" bIns="0" anchor="t">
            <a:noAutofit/>
          </a:bodyPr>
          <a:lstStyle/>
          <a:p>
            <a:pPr algn="l">
              <a:lnSpc>
                <a:spcPct val="108000"/>
              </a:lnSpc>
              <a:spcBef>
                <a:spcPts val="0"/>
              </a:spcBef>
              <a:spcAft>
                <a:spcPts val="500"/>
              </a:spcAft>
            </a:pPr>
            <a:r>
              <a:rPr sz="1500" b="0">
                <a:solidFill>
                  <a:srgbClr val="52616C"/>
                </a:solidFill>
                <a:latin typeface="Aptos"/>
              </a:rPr>
              <a:t>Politique PBIP automatique ; la taille Hyper est mesurée décompressée.</a:t>
            </a:r>
          </a:p>
        </p:txBody>
      </p:sp>
      <p:sp>
        <p:nvSpPr>
          <p:cNvPr id="5" name="TextBox 4"/>
          <p:cNvSpPr txBox="1"/>
          <p:nvPr/>
        </p:nvSpPr>
        <p:spPr>
          <a:xfrm>
            <a:off x="594360" y="6199632"/>
            <a:ext cx="10149840" cy="182880"/>
          </a:xfrm>
          <a:prstGeom prst="rect">
            <a:avLst/>
          </a:prstGeom>
          <a:noFill/>
        </p:spPr>
        <p:txBody>
          <a:bodyPr wrap="square" lIns="0" rIns="0" tIns="0" bIns="0" anchor="t">
            <a:noAutofit/>
          </a:bodyPr>
          <a:lstStyle/>
          <a:p>
            <a:pPr algn="l">
              <a:lnSpc>
                <a:spcPct val="108000"/>
              </a:lnSpc>
              <a:spcBef>
                <a:spcPts val="0"/>
              </a:spcBef>
              <a:spcAft>
                <a:spcPts val="500"/>
              </a:spcAft>
            </a:pPr>
            <a:r>
              <a:rPr sz="1000" b="0">
                <a:solidFill>
                  <a:srgbClr val="52616C"/>
                </a:solidFill>
                <a:latin typeface="Aptos"/>
              </a:rPr>
              <a:t>Tableau to Power BI  |  Édition 26.10.2026  |  Contrat des données</a:t>
            </a:r>
          </a:p>
        </p:txBody>
      </p:sp>
      <p:sp>
        <p:nvSpPr>
          <p:cNvPr id="6" name="TextBox 5"/>
          <p:cNvSpPr txBox="1"/>
          <p:nvPr/>
        </p:nvSpPr>
        <p:spPr>
          <a:xfrm>
            <a:off x="11000232" y="6181344"/>
            <a:ext cx="594360" cy="210312"/>
          </a:xfrm>
          <a:prstGeom prst="rect">
            <a:avLst/>
          </a:prstGeom>
          <a:noFill/>
        </p:spPr>
        <p:txBody>
          <a:bodyPr wrap="square" lIns="0" rIns="0" tIns="0" bIns="0" anchor="t">
            <a:noAutofit/>
          </a:bodyPr>
          <a:lstStyle/>
          <a:p>
            <a:pPr algn="r">
              <a:lnSpc>
                <a:spcPct val="108000"/>
              </a:lnSpc>
              <a:spcBef>
                <a:spcPts val="0"/>
              </a:spcBef>
              <a:spcAft>
                <a:spcPts val="500"/>
              </a:spcAft>
            </a:pPr>
            <a:r>
              <a:rPr sz="1100" b="0">
                <a:solidFill>
                  <a:srgbClr val="52616C"/>
                </a:solidFill>
                <a:latin typeface="Aptos"/>
              </a:rPr>
              <a:t>06</a:t>
            </a:r>
          </a:p>
        </p:txBody>
      </p:sp>
      <p:sp>
        <p:nvSpPr>
          <p:cNvPr id="7" name="Rounded Rectangle 6"/>
          <p:cNvSpPr/>
          <p:nvPr/>
        </p:nvSpPr>
        <p:spPr>
          <a:xfrm>
            <a:off x="594360" y="2313432"/>
            <a:ext cx="5303520" cy="320040"/>
          </a:xfrm>
          <a:prstGeom prst="roundRect">
            <a:avLst>
              <a:gd name="adj" fmla="val 12000"/>
            </a:avLst>
          </a:prstGeom>
          <a:solidFill>
            <a:srgbClr val="FCEDD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2350008"/>
            <a:ext cx="5120640" cy="219456"/>
          </a:xfrm>
          <a:prstGeom prst="rect">
            <a:avLst/>
          </a:prstGeom>
          <a:noFill/>
        </p:spPr>
        <p:txBody>
          <a:bodyPr wrap="square" lIns="0" rIns="0" tIns="0" bIns="0" anchor="t">
            <a:noAutofit/>
          </a:bodyPr>
          <a:lstStyle/>
          <a:p>
            <a:pPr algn="l">
              <a:lnSpc>
                <a:spcPct val="108000"/>
              </a:lnSpc>
              <a:spcBef>
                <a:spcPts val="0"/>
              </a:spcBef>
              <a:spcAft>
                <a:spcPts val="500"/>
              </a:spcAft>
            </a:pPr>
            <a:r>
              <a:rPr sz="1100" b="1">
                <a:solidFill>
                  <a:srgbClr val="C85A17"/>
                </a:solidFill>
                <a:latin typeface="Aptos"/>
              </a:rPr>
              <a:t>HYPER PRÉSENT : EXPORT DU SNAPSHOT</a:t>
            </a:r>
          </a:p>
        </p:txBody>
      </p:sp>
      <p:sp>
        <p:nvSpPr>
          <p:cNvPr id="9" name="Rounded Rectangle 8"/>
          <p:cNvSpPr/>
          <p:nvPr/>
        </p:nvSpPr>
        <p:spPr>
          <a:xfrm>
            <a:off x="6263640" y="2313432"/>
            <a:ext cx="5303520" cy="320040"/>
          </a:xfrm>
          <a:prstGeom prst="roundRect">
            <a:avLst>
              <a:gd name="adj" fmla="val 12000"/>
            </a:avLst>
          </a:prstGeom>
          <a:solidFill>
            <a:srgbClr val="E0F1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79" y="2350008"/>
            <a:ext cx="5120640" cy="219456"/>
          </a:xfrm>
          <a:prstGeom prst="rect">
            <a:avLst/>
          </a:prstGeom>
          <a:noFill/>
        </p:spPr>
        <p:txBody>
          <a:bodyPr wrap="square" lIns="0" rIns="0" tIns="0" bIns="0" anchor="t">
            <a:noAutofit/>
          </a:bodyPr>
          <a:lstStyle/>
          <a:p>
            <a:pPr algn="l">
              <a:lnSpc>
                <a:spcPct val="108000"/>
              </a:lnSpc>
              <a:spcBef>
                <a:spcPts val="0"/>
              </a:spcBef>
              <a:spcAft>
                <a:spcPts val="500"/>
              </a:spcAft>
            </a:pPr>
            <a:r>
              <a:rPr sz="1100" b="1">
                <a:solidFill>
                  <a:srgbClr val="007F79"/>
                </a:solidFill>
                <a:latin typeface="Aptos"/>
              </a:rPr>
              <a:t>SANS HYPER : SOURCE CONSERVÉE</a:t>
            </a:r>
          </a:p>
        </p:txBody>
      </p:sp>
      <p:sp>
        <p:nvSpPr>
          <p:cNvPr id="11" name="Rounded Rectangle 10"/>
          <p:cNvSpPr/>
          <p:nvPr/>
        </p:nvSpPr>
        <p:spPr>
          <a:xfrm>
            <a:off x="594360" y="2916936"/>
            <a:ext cx="2468880" cy="1261872"/>
          </a:xfrm>
          <a:prstGeom prst="roundRect">
            <a:avLst>
              <a:gd name="adj" fmla="val 12000"/>
            </a:avLst>
          </a:prstGeom>
          <a:solidFill>
            <a:srgbClr val="C85A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58952" y="3090672"/>
            <a:ext cx="2139696" cy="402336"/>
          </a:xfrm>
          <a:prstGeom prst="rect">
            <a:avLst/>
          </a:prstGeom>
          <a:noFill/>
        </p:spPr>
        <p:txBody>
          <a:bodyPr wrap="square" lIns="0" rIns="0" tIns="0" bIns="0" anchor="t">
            <a:noAutofit/>
          </a:bodyPr>
          <a:lstStyle/>
          <a:p>
            <a:pPr algn="ctr">
              <a:lnSpc>
                <a:spcPct val="108000"/>
              </a:lnSpc>
              <a:spcBef>
                <a:spcPts val="0"/>
              </a:spcBef>
              <a:spcAft>
                <a:spcPts val="500"/>
              </a:spcAft>
            </a:pPr>
            <a:r>
              <a:rPr sz="1900" b="1">
                <a:solidFill>
                  <a:srgbClr val="FFFFFF"/>
                </a:solidFill>
                <a:latin typeface="Aptos"/>
              </a:rPr>
              <a:t>≤ 10 MiB</a:t>
            </a:r>
          </a:p>
        </p:txBody>
      </p:sp>
      <p:sp>
        <p:nvSpPr>
          <p:cNvPr id="13" name="TextBox 12"/>
          <p:cNvSpPr txBox="1"/>
          <p:nvPr/>
        </p:nvSpPr>
        <p:spPr>
          <a:xfrm>
            <a:off x="758952" y="3593591"/>
            <a:ext cx="2139696" cy="521207"/>
          </a:xfrm>
          <a:prstGeom prst="rect">
            <a:avLst/>
          </a:prstGeom>
          <a:noFill/>
        </p:spPr>
        <p:txBody>
          <a:bodyPr wrap="square" lIns="0" rIns="0" tIns="0" bIns="0" anchor="t">
            <a:noAutofit/>
          </a:bodyPr>
          <a:lstStyle/>
          <a:p>
            <a:pPr algn="ctr">
              <a:lnSpc>
                <a:spcPct val="108000"/>
              </a:lnSpc>
              <a:spcBef>
                <a:spcPts val="0"/>
              </a:spcBef>
              <a:spcAft>
                <a:spcPts val="500"/>
              </a:spcAft>
            </a:pPr>
            <a:r>
              <a:rPr sz="1400" b="0">
                <a:solidFill>
                  <a:srgbClr val="FFFFFF"/>
                </a:solidFill>
                <a:latin typeface="Aptos"/>
              </a:rPr>
              <a:t>CSV + Import</a:t>
            </a:r>
          </a:p>
        </p:txBody>
      </p:sp>
      <p:sp>
        <p:nvSpPr>
          <p:cNvPr id="14" name="Rounded Rectangle 13"/>
          <p:cNvSpPr/>
          <p:nvPr/>
        </p:nvSpPr>
        <p:spPr>
          <a:xfrm>
            <a:off x="3429000" y="2916936"/>
            <a:ext cx="2468880" cy="1261872"/>
          </a:xfrm>
          <a:prstGeom prst="roundRect">
            <a:avLst>
              <a:gd name="adj" fmla="val 12000"/>
            </a:avLst>
          </a:prstGeom>
          <a:solidFill>
            <a:srgbClr val="1826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593592" y="3090672"/>
            <a:ext cx="2139696" cy="402336"/>
          </a:xfrm>
          <a:prstGeom prst="rect">
            <a:avLst/>
          </a:prstGeom>
          <a:noFill/>
        </p:spPr>
        <p:txBody>
          <a:bodyPr wrap="square" lIns="0" rIns="0" tIns="0" bIns="0" anchor="t">
            <a:noAutofit/>
          </a:bodyPr>
          <a:lstStyle/>
          <a:p>
            <a:pPr algn="ctr">
              <a:lnSpc>
                <a:spcPct val="108000"/>
              </a:lnSpc>
              <a:spcBef>
                <a:spcPts val="0"/>
              </a:spcBef>
              <a:spcAft>
                <a:spcPts val="500"/>
              </a:spcAft>
            </a:pPr>
            <a:r>
              <a:rPr sz="1900" b="1">
                <a:solidFill>
                  <a:srgbClr val="FFFFFF"/>
                </a:solidFill>
                <a:latin typeface="Aptos"/>
              </a:rPr>
              <a:t>&gt; 10 MiB</a:t>
            </a:r>
          </a:p>
        </p:txBody>
      </p:sp>
      <p:sp>
        <p:nvSpPr>
          <p:cNvPr id="16" name="TextBox 15"/>
          <p:cNvSpPr txBox="1"/>
          <p:nvPr/>
        </p:nvSpPr>
        <p:spPr>
          <a:xfrm>
            <a:off x="3593592" y="3593591"/>
            <a:ext cx="2139696" cy="521207"/>
          </a:xfrm>
          <a:prstGeom prst="rect">
            <a:avLst/>
          </a:prstGeom>
          <a:noFill/>
        </p:spPr>
        <p:txBody>
          <a:bodyPr wrap="square" lIns="0" rIns="0" tIns="0" bIns="0" anchor="t">
            <a:noAutofit/>
          </a:bodyPr>
          <a:lstStyle/>
          <a:p>
            <a:pPr algn="ctr">
              <a:lnSpc>
                <a:spcPct val="108000"/>
              </a:lnSpc>
              <a:spcBef>
                <a:spcPts val="0"/>
              </a:spcBef>
              <a:spcAft>
                <a:spcPts val="500"/>
              </a:spcAft>
            </a:pPr>
            <a:r>
              <a:rPr sz="1400" b="0">
                <a:solidFill>
                  <a:srgbClr val="FFFFFF"/>
                </a:solidFill>
                <a:latin typeface="Aptos"/>
              </a:rPr>
              <a:t>Parquet + Import</a:t>
            </a:r>
          </a:p>
        </p:txBody>
      </p:sp>
      <p:sp>
        <p:nvSpPr>
          <p:cNvPr id="17" name="Rounded Rectangle 16"/>
          <p:cNvSpPr/>
          <p:nvPr/>
        </p:nvSpPr>
        <p:spPr>
          <a:xfrm>
            <a:off x="6263640" y="2916936"/>
            <a:ext cx="5303520" cy="1261872"/>
          </a:xfrm>
          <a:prstGeom prst="roundRect">
            <a:avLst>
              <a:gd name="adj" fmla="val 12000"/>
            </a:avLst>
          </a:prstGeom>
          <a:solidFill>
            <a:srgbClr val="007F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28231" y="3090672"/>
            <a:ext cx="4974336" cy="402336"/>
          </a:xfrm>
          <a:prstGeom prst="rect">
            <a:avLst/>
          </a:prstGeom>
          <a:noFill/>
        </p:spPr>
        <p:txBody>
          <a:bodyPr wrap="square" lIns="0" rIns="0" tIns="0" bIns="0" anchor="t">
            <a:noAutofit/>
          </a:bodyPr>
          <a:lstStyle/>
          <a:p>
            <a:pPr algn="ctr">
              <a:lnSpc>
                <a:spcPct val="108000"/>
              </a:lnSpc>
              <a:spcBef>
                <a:spcPts val="0"/>
              </a:spcBef>
              <a:spcAft>
                <a:spcPts val="500"/>
              </a:spcAft>
            </a:pPr>
            <a:r>
              <a:rPr sz="1900" b="1">
                <a:solidFill>
                  <a:srgbClr val="FFFFFF"/>
                </a:solidFill>
                <a:latin typeface="Aptos"/>
              </a:rPr>
              <a:t>DirectQuery si compatible</a:t>
            </a:r>
          </a:p>
        </p:txBody>
      </p:sp>
      <p:sp>
        <p:nvSpPr>
          <p:cNvPr id="19" name="TextBox 18"/>
          <p:cNvSpPr txBox="1"/>
          <p:nvPr/>
        </p:nvSpPr>
        <p:spPr>
          <a:xfrm>
            <a:off x="6428231" y="3593591"/>
            <a:ext cx="4974336" cy="521207"/>
          </a:xfrm>
          <a:prstGeom prst="rect">
            <a:avLst/>
          </a:prstGeom>
          <a:noFill/>
        </p:spPr>
        <p:txBody>
          <a:bodyPr wrap="square" lIns="0" rIns="0" tIns="0" bIns="0" anchor="t">
            <a:noAutofit/>
          </a:bodyPr>
          <a:lstStyle/>
          <a:p>
            <a:pPr algn="ctr">
              <a:lnSpc>
                <a:spcPct val="108000"/>
              </a:lnSpc>
              <a:spcBef>
                <a:spcPts val="0"/>
              </a:spcBef>
              <a:spcAft>
                <a:spcPts val="500"/>
              </a:spcAft>
            </a:pPr>
            <a:r>
              <a:rPr sz="1400" b="0">
                <a:solidFill>
                  <a:srgbClr val="FFFFFF"/>
                </a:solidFill>
                <a:latin typeface="Aptos"/>
              </a:rPr>
              <a:t>Sinon Import</a:t>
            </a:r>
          </a:p>
        </p:txBody>
      </p:sp>
      <p:sp>
        <p:nvSpPr>
          <p:cNvPr id="20" name="TextBox 19"/>
          <p:cNvSpPr txBox="1"/>
          <p:nvPr/>
        </p:nvSpPr>
        <p:spPr>
          <a:xfrm>
            <a:off x="658368" y="4389120"/>
            <a:ext cx="5120640" cy="1005840"/>
          </a:xfrm>
          <a:prstGeom prst="rect">
            <a:avLst/>
          </a:prstGeom>
          <a:noFill/>
        </p:spPr>
        <p:txBody>
          <a:bodyPr wrap="square" lIns="0" rIns="0" tIns="0" bIns="0" anchor="t">
            <a:noAutofit/>
          </a:bodyPr>
          <a:lstStyle/>
          <a:p>
            <a:pPr algn="l">
              <a:lnSpc>
                <a:spcPct val="108000"/>
              </a:lnSpc>
              <a:spcBef>
                <a:spcPts val="0"/>
              </a:spcBef>
              <a:spcAft>
                <a:spcPts val="500"/>
              </a:spcAft>
            </a:pPr>
            <a:r>
              <a:rPr sz="1600" b="0">
                <a:solidFill>
                  <a:srgbClr val="182630"/>
                </a:solidFill>
                <a:latin typeface="Aptos"/>
              </a:rPr>
              <a:t>Export réel des données Hyper.</a:t>
            </a:r>
          </a:p>
          <a:p>
            <a:pPr algn="l">
              <a:lnSpc>
                <a:spcPct val="108000"/>
              </a:lnSpc>
              <a:spcBef>
                <a:spcPts val="0"/>
              </a:spcBef>
              <a:spcAft>
                <a:spcPts val="500"/>
              </a:spcAft>
            </a:pPr>
            <a:r>
              <a:rPr sz="1600" b="0">
                <a:solidFill>
                  <a:srgbClr val="182630"/>
                </a:solidFill>
                <a:latin typeface="Aptos"/>
              </a:rPr>
              <a:t>Parquet : SDK Hyper optionnel requis.</a:t>
            </a:r>
          </a:p>
        </p:txBody>
      </p:sp>
      <p:sp>
        <p:nvSpPr>
          <p:cNvPr id="21" name="TextBox 20"/>
          <p:cNvSpPr txBox="1"/>
          <p:nvPr/>
        </p:nvSpPr>
        <p:spPr>
          <a:xfrm>
            <a:off x="6327648" y="4389120"/>
            <a:ext cx="5120640" cy="1005840"/>
          </a:xfrm>
          <a:prstGeom prst="rect">
            <a:avLst/>
          </a:prstGeom>
          <a:noFill/>
        </p:spPr>
        <p:txBody>
          <a:bodyPr wrap="square" lIns="0" rIns="0" tIns="0" bIns="0" anchor="t">
            <a:noAutofit/>
          </a:bodyPr>
          <a:lstStyle/>
          <a:p>
            <a:pPr algn="l">
              <a:lnSpc>
                <a:spcPct val="108000"/>
              </a:lnSpc>
              <a:spcBef>
                <a:spcPts val="0"/>
              </a:spcBef>
              <a:spcAft>
                <a:spcPts val="500"/>
              </a:spcAft>
            </a:pPr>
            <a:r>
              <a:rPr sz="1600" b="0">
                <a:solidFill>
                  <a:srgbClr val="182630"/>
                </a:solidFill>
                <a:latin typeface="Aptos"/>
              </a:rPr>
              <a:t>Connexion, schéma et M uniquement.</a:t>
            </a:r>
          </a:p>
          <a:p>
            <a:pPr algn="l">
              <a:lnSpc>
                <a:spcPct val="108000"/>
              </a:lnSpc>
              <a:spcBef>
                <a:spcPts val="0"/>
              </a:spcBef>
              <a:spcAft>
                <a:spcPts val="500"/>
              </a:spcAft>
            </a:pPr>
            <a:r>
              <a:rPr sz="1600" b="0">
                <a:solidFill>
                  <a:srgbClr val="182630"/>
                </a:solidFill>
                <a:latin typeface="Aptos"/>
              </a:rPr>
              <a:t>Aucune extraction des données natives.</a:t>
            </a:r>
          </a:p>
          <a:p>
            <a:pPr algn="l">
              <a:lnSpc>
                <a:spcPct val="108000"/>
              </a:lnSpc>
              <a:spcBef>
                <a:spcPts val="0"/>
              </a:spcBef>
              <a:spcAft>
                <a:spcPts val="500"/>
              </a:spcAft>
            </a:pPr>
            <a:r>
              <a:rPr sz="1600" b="0">
                <a:solidFill>
                  <a:srgbClr val="182630"/>
                </a:solidFill>
                <a:latin typeface="Aptos"/>
              </a:rPr>
              <a:t>Excel embarqué : copié tel quel dans Data/.</a:t>
            </a:r>
          </a:p>
        </p:txBody>
      </p:sp>
      <p:sp>
        <p:nvSpPr>
          <p:cNvPr id="22" name="Rounded Rectangle 21"/>
          <p:cNvSpPr/>
          <p:nvPr/>
        </p:nvSpPr>
        <p:spPr>
          <a:xfrm>
            <a:off x="594360" y="5522976"/>
            <a:ext cx="11000232" cy="429768"/>
          </a:xfrm>
          <a:prstGeom prst="roundRect">
            <a:avLst>
              <a:gd name="adj" fmla="val 12000"/>
            </a:avLst>
          </a:prstGeom>
          <a:solidFill>
            <a:srgbClr val="1826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86384" y="5614416"/>
            <a:ext cx="10616184" cy="256032"/>
          </a:xfrm>
          <a:prstGeom prst="rect">
            <a:avLst/>
          </a:prstGeom>
          <a:noFill/>
        </p:spPr>
        <p:txBody>
          <a:bodyPr wrap="square" lIns="0" rIns="0" tIns="0" bIns="0" anchor="t">
            <a:noAutofit/>
          </a:bodyPr>
          <a:lstStyle/>
          <a:p>
            <a:pPr algn="l">
              <a:lnSpc>
                <a:spcPct val="108000"/>
              </a:lnSpc>
              <a:spcBef>
                <a:spcPts val="0"/>
              </a:spcBef>
              <a:spcAft>
                <a:spcPts val="500"/>
              </a:spcAft>
            </a:pPr>
            <a:r>
              <a:rPr sz="1300" b="1">
                <a:solidFill>
                  <a:srgbClr val="FFFFFF"/>
                </a:solidFill>
                <a:latin typeface="Aptos"/>
              </a:rPr>
              <a:t>L'utilisateur garde la main : passer de DirectQuery à Import reste possible.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5F7F8"/>
        </a:solidFill>
        <a:effectLst/>
      </p:bgPr>
    </p:bg>
    <p:spTree>
      <p:nvGrpSpPr>
        <p:cNvPr id="1" name=""/>
        <p:cNvGrpSpPr/>
        <p:nvPr/>
      </p:nvGrpSpPr>
      <p:grpSpPr/>
      <p:sp>
        <p:nvSpPr>
          <p:cNvPr id="2" name="TextBox 1"/>
          <p:cNvSpPr txBox="1"/>
          <p:nvPr/>
        </p:nvSpPr>
        <p:spPr>
          <a:xfrm>
            <a:off x="594360" y="466344"/>
            <a:ext cx="10789920" cy="201168"/>
          </a:xfrm>
          <a:prstGeom prst="rect">
            <a:avLst/>
          </a:prstGeom>
          <a:noFill/>
        </p:spPr>
        <p:txBody>
          <a:bodyPr wrap="square" lIns="0" rIns="0" tIns="0" bIns="0" anchor="t">
            <a:noAutofit/>
          </a:bodyPr>
          <a:lstStyle/>
          <a:p>
            <a:pPr algn="l">
              <a:lnSpc>
                <a:spcPct val="108000"/>
              </a:lnSpc>
              <a:spcBef>
                <a:spcPts val="0"/>
              </a:spcBef>
              <a:spcAft>
                <a:spcPts val="500"/>
              </a:spcAft>
            </a:pPr>
            <a:r>
              <a:rPr sz="1050" b="1">
                <a:solidFill>
                  <a:srgbClr val="007F79"/>
                </a:solidFill>
                <a:latin typeface="Aptos"/>
              </a:rPr>
              <a:t>ANATOMIE DU RÉSULTAT</a:t>
            </a:r>
          </a:p>
        </p:txBody>
      </p:sp>
      <p:sp>
        <p:nvSpPr>
          <p:cNvPr id="3" name="Slide title"/>
          <p:cNvSpPr txBox="1"/>
          <p:nvPr/>
        </p:nvSpPr>
        <p:spPr>
          <a:xfrm>
            <a:off x="594360" y="859536"/>
            <a:ext cx="11000232" cy="685800"/>
          </a:xfrm>
          <a:prstGeom prst="rect">
            <a:avLst/>
          </a:prstGeom>
          <a:noFill/>
        </p:spPr>
        <p:txBody>
          <a:bodyPr wrap="square" lIns="0" rIns="0" tIns="0" bIns="0" anchor="t">
            <a:noAutofit/>
          </a:bodyPr>
          <a:lstStyle/>
          <a:p>
            <a:pPr algn="l">
              <a:lnSpc>
                <a:spcPct val="108000"/>
              </a:lnSpc>
              <a:spcBef>
                <a:spcPts val="0"/>
              </a:spcBef>
              <a:spcAft>
                <a:spcPts val="500"/>
              </a:spcAft>
            </a:pPr>
            <a:r>
              <a:rPr sz="3600" b="1">
                <a:solidFill>
                  <a:srgbClr val="182630"/>
                </a:solidFill>
                <a:latin typeface="Aptos Display"/>
              </a:rPr>
              <a:t>PBIP : un projet lisible, pas une boîte noire</a:t>
            </a:r>
          </a:p>
        </p:txBody>
      </p:sp>
      <p:sp>
        <p:nvSpPr>
          <p:cNvPr id="4" name="TextBox 3"/>
          <p:cNvSpPr txBox="1"/>
          <p:nvPr/>
        </p:nvSpPr>
        <p:spPr>
          <a:xfrm>
            <a:off x="594360" y="1673352"/>
            <a:ext cx="11000232" cy="493776"/>
          </a:xfrm>
          <a:prstGeom prst="rect">
            <a:avLst/>
          </a:prstGeom>
          <a:noFill/>
        </p:spPr>
        <p:txBody>
          <a:bodyPr wrap="square" lIns="0" rIns="0" tIns="0" bIns="0" anchor="t">
            <a:noAutofit/>
          </a:bodyPr>
          <a:lstStyle/>
          <a:p>
            <a:pPr algn="l">
              <a:lnSpc>
                <a:spcPct val="108000"/>
              </a:lnSpc>
              <a:spcBef>
                <a:spcPts val="0"/>
              </a:spcBef>
              <a:spcAft>
                <a:spcPts val="500"/>
              </a:spcAft>
            </a:pPr>
            <a:r>
              <a:rPr sz="1500" b="0">
                <a:solidFill>
                  <a:srgbClr val="52616C"/>
                </a:solidFill>
                <a:latin typeface="Aptos"/>
              </a:rPr>
              <a:t>Sources natives externes, sauf Excel embarqué copié dans Data/ ; l'Import charge à l'actualisation.</a:t>
            </a:r>
          </a:p>
        </p:txBody>
      </p:sp>
      <p:sp>
        <p:nvSpPr>
          <p:cNvPr id="5" name="TextBox 4"/>
          <p:cNvSpPr txBox="1"/>
          <p:nvPr/>
        </p:nvSpPr>
        <p:spPr>
          <a:xfrm>
            <a:off x="594360" y="6199632"/>
            <a:ext cx="10149840" cy="182880"/>
          </a:xfrm>
          <a:prstGeom prst="rect">
            <a:avLst/>
          </a:prstGeom>
          <a:noFill/>
        </p:spPr>
        <p:txBody>
          <a:bodyPr wrap="square" lIns="0" rIns="0" tIns="0" bIns="0" anchor="t">
            <a:noAutofit/>
          </a:bodyPr>
          <a:lstStyle/>
          <a:p>
            <a:pPr algn="l">
              <a:lnSpc>
                <a:spcPct val="108000"/>
              </a:lnSpc>
              <a:spcBef>
                <a:spcPts val="0"/>
              </a:spcBef>
              <a:spcAft>
                <a:spcPts val="500"/>
              </a:spcAft>
            </a:pPr>
            <a:r>
              <a:rPr sz="1000" b="0">
                <a:solidFill>
                  <a:srgbClr val="52616C"/>
                </a:solidFill>
                <a:latin typeface="Aptos"/>
              </a:rPr>
              <a:t>Tableau to Power BI  |  Édition 26.10.2026  |  Anatomie du résultat</a:t>
            </a:r>
          </a:p>
        </p:txBody>
      </p:sp>
      <p:sp>
        <p:nvSpPr>
          <p:cNvPr id="6" name="TextBox 5"/>
          <p:cNvSpPr txBox="1"/>
          <p:nvPr/>
        </p:nvSpPr>
        <p:spPr>
          <a:xfrm>
            <a:off x="11000232" y="6181344"/>
            <a:ext cx="594360" cy="210312"/>
          </a:xfrm>
          <a:prstGeom prst="rect">
            <a:avLst/>
          </a:prstGeom>
          <a:noFill/>
        </p:spPr>
        <p:txBody>
          <a:bodyPr wrap="square" lIns="0" rIns="0" tIns="0" bIns="0" anchor="t">
            <a:noAutofit/>
          </a:bodyPr>
          <a:lstStyle/>
          <a:p>
            <a:pPr algn="r">
              <a:lnSpc>
                <a:spcPct val="108000"/>
              </a:lnSpc>
              <a:spcBef>
                <a:spcPts val="0"/>
              </a:spcBef>
              <a:spcAft>
                <a:spcPts val="500"/>
              </a:spcAft>
            </a:pPr>
            <a:r>
              <a:rPr sz="1100" b="0">
                <a:solidFill>
                  <a:srgbClr val="52616C"/>
                </a:solidFill>
                <a:latin typeface="Aptos"/>
              </a:rPr>
              <a:t>07</a:t>
            </a:r>
          </a:p>
        </p:txBody>
      </p:sp>
      <p:sp>
        <p:nvSpPr>
          <p:cNvPr id="7" name="Rounded Rectangle 6"/>
          <p:cNvSpPr/>
          <p:nvPr/>
        </p:nvSpPr>
        <p:spPr>
          <a:xfrm>
            <a:off x="594360" y="2377440"/>
            <a:ext cx="5312664" cy="2944368"/>
          </a:xfrm>
          <a:prstGeom prst="roundRect">
            <a:avLst>
              <a:gd name="adj" fmla="val 12000"/>
            </a:avLst>
          </a:prstGeom>
          <a:solidFill>
            <a:srgbClr val="1826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50392" y="2596896"/>
            <a:ext cx="4800600" cy="2432304"/>
          </a:xfrm>
          <a:prstGeom prst="rect">
            <a:avLst/>
          </a:prstGeom>
          <a:noFill/>
        </p:spPr>
        <p:txBody>
          <a:bodyPr wrap="square" lIns="0" rIns="0" tIns="0" bIns="0" anchor="t">
            <a:noAutofit/>
          </a:bodyPr>
          <a:lstStyle/>
          <a:p>
            <a:pPr algn="l">
              <a:lnSpc>
                <a:spcPct val="108000"/>
              </a:lnSpc>
              <a:spcBef>
                <a:spcPts val="0"/>
              </a:spcBef>
              <a:spcAft>
                <a:spcPts val="500"/>
              </a:spcAft>
            </a:pPr>
            <a:r>
              <a:rPr sz="1800" b="0">
                <a:solidFill>
                  <a:srgbClr val="FFFFFF"/>
                </a:solidFill>
                <a:latin typeface="Cascadia Code"/>
              </a:rPr>
              <a:t>Projet.pbip</a:t>
            </a:r>
          </a:p>
          <a:p>
            <a:pPr algn="l">
              <a:lnSpc>
                <a:spcPct val="108000"/>
              </a:lnSpc>
              <a:spcBef>
                <a:spcPts val="0"/>
              </a:spcBef>
              <a:spcAft>
                <a:spcPts val="500"/>
              </a:spcAft>
            </a:pPr>
            <a:r>
              <a:rPr sz="1800" b="0">
                <a:solidFill>
                  <a:srgbClr val="FFFFFF"/>
                </a:solidFill>
                <a:latin typeface="Cascadia Code"/>
              </a:rPr>
              <a:t/>
            </a:r>
          </a:p>
          <a:p>
            <a:pPr algn="l">
              <a:lnSpc>
                <a:spcPct val="108000"/>
              </a:lnSpc>
              <a:spcBef>
                <a:spcPts val="0"/>
              </a:spcBef>
              <a:spcAft>
                <a:spcPts val="500"/>
              </a:spcAft>
            </a:pPr>
            <a:r>
              <a:rPr sz="1800" b="0">
                <a:solidFill>
                  <a:srgbClr val="FFFFFF"/>
                </a:solidFill>
                <a:latin typeface="Cascadia Code"/>
              </a:rPr>
              <a:t>Projet.SemanticModel\</a:t>
            </a:r>
          </a:p>
          <a:p>
            <a:pPr algn="l">
              <a:lnSpc>
                <a:spcPct val="108000"/>
              </a:lnSpc>
              <a:spcBef>
                <a:spcPts val="0"/>
              </a:spcBef>
              <a:spcAft>
                <a:spcPts val="500"/>
              </a:spcAft>
            </a:pPr>
            <a:r>
              <a:rPr sz="1800" b="0">
                <a:solidFill>
                  <a:srgbClr val="FFFFFF"/>
                </a:solidFill>
                <a:latin typeface="Cascadia Code"/>
              </a:rPr>
              <a:t>    definition\  (TMDL)</a:t>
            </a:r>
          </a:p>
          <a:p>
            <a:pPr algn="l">
              <a:lnSpc>
                <a:spcPct val="108000"/>
              </a:lnSpc>
              <a:spcBef>
                <a:spcPts val="0"/>
              </a:spcBef>
              <a:spcAft>
                <a:spcPts val="500"/>
              </a:spcAft>
            </a:pPr>
            <a:r>
              <a:rPr sz="1800" b="0">
                <a:solidFill>
                  <a:srgbClr val="FFFFFF"/>
                </a:solidFill>
                <a:latin typeface="Cascadia Code"/>
              </a:rPr>
              <a:t/>
            </a:r>
          </a:p>
          <a:p>
            <a:pPr algn="l">
              <a:lnSpc>
                <a:spcPct val="108000"/>
              </a:lnSpc>
              <a:spcBef>
                <a:spcPts val="0"/>
              </a:spcBef>
              <a:spcAft>
                <a:spcPts val="500"/>
              </a:spcAft>
            </a:pPr>
            <a:r>
              <a:rPr sz="1800" b="0">
                <a:solidFill>
                  <a:srgbClr val="FFFFFF"/>
                </a:solidFill>
                <a:latin typeface="Cascadia Code"/>
              </a:rPr>
              <a:t>Projet.Report\</a:t>
            </a:r>
          </a:p>
          <a:p>
            <a:pPr algn="l">
              <a:lnSpc>
                <a:spcPct val="108000"/>
              </a:lnSpc>
              <a:spcBef>
                <a:spcPts val="0"/>
              </a:spcBef>
              <a:spcAft>
                <a:spcPts val="500"/>
              </a:spcAft>
            </a:pPr>
            <a:r>
              <a:rPr sz="1800" b="0">
                <a:solidFill>
                  <a:srgbClr val="FFFFFF"/>
                </a:solidFill>
                <a:latin typeface="Cascadia Code"/>
              </a:rPr>
              <a:t>    definition\  (PBIR)</a:t>
            </a:r>
          </a:p>
        </p:txBody>
      </p:sp>
      <p:sp>
        <p:nvSpPr>
          <p:cNvPr id="9" name="Rounded Rectangle 8"/>
          <p:cNvSpPr/>
          <p:nvPr/>
        </p:nvSpPr>
        <p:spPr>
          <a:xfrm>
            <a:off x="6272784" y="2377440"/>
            <a:ext cx="5312664" cy="1307592"/>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83096" y="2542032"/>
            <a:ext cx="4892040" cy="393192"/>
          </a:xfrm>
          <a:prstGeom prst="rect">
            <a:avLst/>
          </a:prstGeom>
          <a:noFill/>
        </p:spPr>
        <p:txBody>
          <a:bodyPr wrap="square" lIns="0" rIns="0" tIns="0" bIns="0" anchor="t">
            <a:noAutofit/>
          </a:bodyPr>
          <a:lstStyle/>
          <a:p>
            <a:pPr algn="l">
              <a:lnSpc>
                <a:spcPct val="108000"/>
              </a:lnSpc>
              <a:spcBef>
                <a:spcPts val="0"/>
              </a:spcBef>
              <a:spcAft>
                <a:spcPts val="500"/>
              </a:spcAft>
            </a:pPr>
            <a:r>
              <a:rPr sz="1900" b="1">
                <a:solidFill>
                  <a:srgbClr val="007F79"/>
                </a:solidFill>
                <a:latin typeface="Aptos"/>
              </a:rPr>
              <a:t>Modèle sémantique</a:t>
            </a:r>
          </a:p>
        </p:txBody>
      </p:sp>
      <p:sp>
        <p:nvSpPr>
          <p:cNvPr id="11" name="TextBox 10"/>
          <p:cNvSpPr txBox="1"/>
          <p:nvPr/>
        </p:nvSpPr>
        <p:spPr>
          <a:xfrm>
            <a:off x="6483096" y="2980944"/>
            <a:ext cx="4892040" cy="612647"/>
          </a:xfrm>
          <a:prstGeom prst="rect">
            <a:avLst/>
          </a:prstGeom>
          <a:noFill/>
        </p:spPr>
        <p:txBody>
          <a:bodyPr wrap="square" lIns="0" rIns="0" tIns="0" bIns="0" anchor="t">
            <a:noAutofit/>
          </a:bodyPr>
          <a:lstStyle/>
          <a:p>
            <a:pPr algn="l">
              <a:lnSpc>
                <a:spcPct val="108000"/>
              </a:lnSpc>
              <a:spcBef>
                <a:spcPts val="0"/>
              </a:spcBef>
              <a:spcAft>
                <a:spcPts val="500"/>
              </a:spcAft>
            </a:pPr>
            <a:r>
              <a:rPr sz="1450" b="0">
                <a:solidFill>
                  <a:srgbClr val="182630"/>
                </a:solidFill>
                <a:latin typeface="Aptos"/>
              </a:rPr>
              <a:t>Tables, mesures, relations et partitions M.</a:t>
            </a:r>
          </a:p>
        </p:txBody>
      </p:sp>
      <p:sp>
        <p:nvSpPr>
          <p:cNvPr id="12" name="Rounded Rectangle 11"/>
          <p:cNvSpPr/>
          <p:nvPr/>
        </p:nvSpPr>
        <p:spPr>
          <a:xfrm>
            <a:off x="6272784" y="4005072"/>
            <a:ext cx="5312664" cy="1307592"/>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83096" y="4169663"/>
            <a:ext cx="4892040" cy="393192"/>
          </a:xfrm>
          <a:prstGeom prst="rect">
            <a:avLst/>
          </a:prstGeom>
          <a:noFill/>
        </p:spPr>
        <p:txBody>
          <a:bodyPr wrap="square" lIns="0" rIns="0" tIns="0" bIns="0" anchor="t">
            <a:noAutofit/>
          </a:bodyPr>
          <a:lstStyle/>
          <a:p>
            <a:pPr algn="l">
              <a:lnSpc>
                <a:spcPct val="108000"/>
              </a:lnSpc>
              <a:spcBef>
                <a:spcPts val="0"/>
              </a:spcBef>
              <a:spcAft>
                <a:spcPts val="500"/>
              </a:spcAft>
            </a:pPr>
            <a:r>
              <a:rPr sz="1900" b="1">
                <a:solidFill>
                  <a:srgbClr val="007F79"/>
                </a:solidFill>
                <a:latin typeface="Aptos"/>
              </a:rPr>
              <a:t>Rapport</a:t>
            </a:r>
          </a:p>
        </p:txBody>
      </p:sp>
      <p:sp>
        <p:nvSpPr>
          <p:cNvPr id="14" name="TextBox 13"/>
          <p:cNvSpPr txBox="1"/>
          <p:nvPr/>
        </p:nvSpPr>
        <p:spPr>
          <a:xfrm>
            <a:off x="6483096" y="4608576"/>
            <a:ext cx="4892040" cy="612647"/>
          </a:xfrm>
          <a:prstGeom prst="rect">
            <a:avLst/>
          </a:prstGeom>
          <a:noFill/>
        </p:spPr>
        <p:txBody>
          <a:bodyPr wrap="square" lIns="0" rIns="0" tIns="0" bIns="0" anchor="t">
            <a:noAutofit/>
          </a:bodyPr>
          <a:lstStyle/>
          <a:p>
            <a:pPr algn="l">
              <a:lnSpc>
                <a:spcPct val="108000"/>
              </a:lnSpc>
              <a:spcBef>
                <a:spcPts val="0"/>
              </a:spcBef>
              <a:spcAft>
                <a:spcPts val="500"/>
              </a:spcAft>
            </a:pPr>
            <a:r>
              <a:rPr sz="1450" b="0">
                <a:solidFill>
                  <a:srgbClr val="182630"/>
                </a:solidFill>
                <a:latin typeface="Aptos"/>
              </a:rPr>
              <a:t>Pages, visuels, filtres, signets et thème.</a:t>
            </a:r>
          </a:p>
        </p:txBody>
      </p:sp>
      <p:sp>
        <p:nvSpPr>
          <p:cNvPr id="15" name="Rounded Rectangle 14"/>
          <p:cNvSpPr/>
          <p:nvPr/>
        </p:nvSpPr>
        <p:spPr>
          <a:xfrm>
            <a:off x="594360" y="5522976"/>
            <a:ext cx="11000232" cy="429768"/>
          </a:xfrm>
          <a:prstGeom prst="roundRect">
            <a:avLst>
              <a:gd name="adj" fmla="val 12000"/>
            </a:avLst>
          </a:prstGeom>
          <a:solidFill>
            <a:srgbClr val="1826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86384" y="5614416"/>
            <a:ext cx="10616184" cy="256032"/>
          </a:xfrm>
          <a:prstGeom prst="rect">
            <a:avLst/>
          </a:prstGeom>
          <a:noFill/>
        </p:spPr>
        <p:txBody>
          <a:bodyPr wrap="square" lIns="0" rIns="0" tIns="0" bIns="0" anchor="t">
            <a:noAutofit/>
          </a:bodyPr>
          <a:lstStyle/>
          <a:p>
            <a:pPr algn="l">
              <a:lnSpc>
                <a:spcPct val="108000"/>
              </a:lnSpc>
              <a:spcBef>
                <a:spcPts val="0"/>
              </a:spcBef>
              <a:spcAft>
                <a:spcPts val="500"/>
              </a:spcAft>
            </a:pPr>
            <a:r>
              <a:rPr sz="1300" b="1">
                <a:solidFill>
                  <a:srgbClr val="FFFFFF"/>
                </a:solidFill>
                <a:latin typeface="Aptos"/>
              </a:rPr>
              <a:t>Configurer les accès aux sources, actualiser, sauvegarder puis rouvrir pour la recette.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5F7F8"/>
        </a:solidFill>
        <a:effectLst/>
      </p:bgPr>
    </p:bg>
    <p:spTree>
      <p:nvGrpSpPr>
        <p:cNvPr id="1" name=""/>
        <p:cNvGrpSpPr/>
        <p:nvPr/>
      </p:nvGrpSpPr>
      <p:grpSpPr/>
      <p:sp>
        <p:nvSpPr>
          <p:cNvPr id="2" name="TextBox 1"/>
          <p:cNvSpPr txBox="1"/>
          <p:nvPr/>
        </p:nvSpPr>
        <p:spPr>
          <a:xfrm>
            <a:off x="594360" y="466344"/>
            <a:ext cx="10789920" cy="201168"/>
          </a:xfrm>
          <a:prstGeom prst="rect">
            <a:avLst/>
          </a:prstGeom>
          <a:noFill/>
        </p:spPr>
        <p:txBody>
          <a:bodyPr wrap="square" lIns="0" rIns="0" tIns="0" bIns="0" anchor="t">
            <a:noAutofit/>
          </a:bodyPr>
          <a:lstStyle/>
          <a:p>
            <a:pPr algn="l">
              <a:lnSpc>
                <a:spcPct val="108000"/>
              </a:lnSpc>
              <a:spcBef>
                <a:spcPts val="0"/>
              </a:spcBef>
              <a:spcAft>
                <a:spcPts val="500"/>
              </a:spcAft>
            </a:pPr>
            <a:r>
              <a:rPr sz="1050" b="1">
                <a:solidFill>
                  <a:srgbClr val="007F79"/>
                </a:solidFill>
                <a:latin typeface="Aptos"/>
              </a:rPr>
              <a:t>TMDL</a:t>
            </a:r>
          </a:p>
        </p:txBody>
      </p:sp>
      <p:sp>
        <p:nvSpPr>
          <p:cNvPr id="3" name="Slide title"/>
          <p:cNvSpPr txBox="1"/>
          <p:nvPr/>
        </p:nvSpPr>
        <p:spPr>
          <a:xfrm>
            <a:off x="594360" y="859536"/>
            <a:ext cx="11000232" cy="685800"/>
          </a:xfrm>
          <a:prstGeom prst="rect">
            <a:avLst/>
          </a:prstGeom>
          <a:noFill/>
        </p:spPr>
        <p:txBody>
          <a:bodyPr wrap="square" lIns="0" rIns="0" tIns="0" bIns="0" anchor="t">
            <a:noAutofit/>
          </a:bodyPr>
          <a:lstStyle/>
          <a:p>
            <a:pPr algn="l">
              <a:lnSpc>
                <a:spcPct val="108000"/>
              </a:lnSpc>
              <a:spcBef>
                <a:spcPts val="0"/>
              </a:spcBef>
              <a:spcAft>
                <a:spcPts val="500"/>
              </a:spcAft>
            </a:pPr>
            <a:r>
              <a:rPr sz="3600" b="1">
                <a:solidFill>
                  <a:srgbClr val="182630"/>
                </a:solidFill>
                <a:latin typeface="Aptos Display"/>
              </a:rPr>
              <a:t>Le modèle sémantique porte la logique métier</a:t>
            </a:r>
          </a:p>
        </p:txBody>
      </p:sp>
      <p:sp>
        <p:nvSpPr>
          <p:cNvPr id="4" name="TextBox 3"/>
          <p:cNvSpPr txBox="1"/>
          <p:nvPr/>
        </p:nvSpPr>
        <p:spPr>
          <a:xfrm>
            <a:off x="594360" y="1673352"/>
            <a:ext cx="11000232" cy="493776"/>
          </a:xfrm>
          <a:prstGeom prst="rect">
            <a:avLst/>
          </a:prstGeom>
          <a:noFill/>
        </p:spPr>
        <p:txBody>
          <a:bodyPr wrap="square" lIns="0" rIns="0" tIns="0" bIns="0" anchor="t">
            <a:noAutofit/>
          </a:bodyPr>
          <a:lstStyle/>
          <a:p>
            <a:pPr algn="l">
              <a:lnSpc>
                <a:spcPct val="108000"/>
              </a:lnSpc>
              <a:spcBef>
                <a:spcPts val="0"/>
              </a:spcBef>
              <a:spcAft>
                <a:spcPts val="500"/>
              </a:spcAft>
            </a:pPr>
            <a:r>
              <a:rPr sz="1500" b="0">
                <a:solidFill>
                  <a:srgbClr val="52616C"/>
                </a:solidFill>
                <a:latin typeface="Aptos"/>
              </a:rPr>
              <a:t>Les règles de conversion produisent un point de départ ; le contexte reste à vérifier.</a:t>
            </a:r>
          </a:p>
        </p:txBody>
      </p:sp>
      <p:sp>
        <p:nvSpPr>
          <p:cNvPr id="5" name="TextBox 4"/>
          <p:cNvSpPr txBox="1"/>
          <p:nvPr/>
        </p:nvSpPr>
        <p:spPr>
          <a:xfrm>
            <a:off x="594360" y="6199632"/>
            <a:ext cx="10149840" cy="182880"/>
          </a:xfrm>
          <a:prstGeom prst="rect">
            <a:avLst/>
          </a:prstGeom>
          <a:noFill/>
        </p:spPr>
        <p:txBody>
          <a:bodyPr wrap="square" lIns="0" rIns="0" tIns="0" bIns="0" anchor="t">
            <a:noAutofit/>
          </a:bodyPr>
          <a:lstStyle/>
          <a:p>
            <a:pPr algn="l">
              <a:lnSpc>
                <a:spcPct val="108000"/>
              </a:lnSpc>
              <a:spcBef>
                <a:spcPts val="0"/>
              </a:spcBef>
              <a:spcAft>
                <a:spcPts val="500"/>
              </a:spcAft>
            </a:pPr>
            <a:r>
              <a:rPr sz="1000" b="0">
                <a:solidFill>
                  <a:srgbClr val="52616C"/>
                </a:solidFill>
                <a:latin typeface="Aptos"/>
              </a:rPr>
              <a:t>Tableau to Power BI  |  Édition 26.10.2026  |  TMDL</a:t>
            </a:r>
          </a:p>
        </p:txBody>
      </p:sp>
      <p:sp>
        <p:nvSpPr>
          <p:cNvPr id="6" name="TextBox 5"/>
          <p:cNvSpPr txBox="1"/>
          <p:nvPr/>
        </p:nvSpPr>
        <p:spPr>
          <a:xfrm>
            <a:off x="11000232" y="6181344"/>
            <a:ext cx="594360" cy="210312"/>
          </a:xfrm>
          <a:prstGeom prst="rect">
            <a:avLst/>
          </a:prstGeom>
          <a:noFill/>
        </p:spPr>
        <p:txBody>
          <a:bodyPr wrap="square" lIns="0" rIns="0" tIns="0" bIns="0" anchor="t">
            <a:noAutofit/>
          </a:bodyPr>
          <a:lstStyle/>
          <a:p>
            <a:pPr algn="r">
              <a:lnSpc>
                <a:spcPct val="108000"/>
              </a:lnSpc>
              <a:spcBef>
                <a:spcPts val="0"/>
              </a:spcBef>
              <a:spcAft>
                <a:spcPts val="500"/>
              </a:spcAft>
            </a:pPr>
            <a:r>
              <a:rPr sz="1100" b="0">
                <a:solidFill>
                  <a:srgbClr val="52616C"/>
                </a:solidFill>
                <a:latin typeface="Aptos"/>
              </a:rPr>
              <a:t>08</a:t>
            </a:r>
          </a:p>
        </p:txBody>
      </p:sp>
      <p:sp>
        <p:nvSpPr>
          <p:cNvPr id="7" name="Rounded Rectangle 6"/>
          <p:cNvSpPr/>
          <p:nvPr/>
        </p:nvSpPr>
        <p:spPr>
          <a:xfrm>
            <a:off x="594360" y="2322576"/>
            <a:ext cx="3429000" cy="146304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4672" y="2487168"/>
            <a:ext cx="3008376" cy="393192"/>
          </a:xfrm>
          <a:prstGeom prst="rect">
            <a:avLst/>
          </a:prstGeom>
          <a:noFill/>
        </p:spPr>
        <p:txBody>
          <a:bodyPr wrap="square" lIns="0" rIns="0" tIns="0" bIns="0" anchor="t">
            <a:noAutofit/>
          </a:bodyPr>
          <a:lstStyle/>
          <a:p>
            <a:pPr algn="l">
              <a:lnSpc>
                <a:spcPct val="108000"/>
              </a:lnSpc>
              <a:spcBef>
                <a:spcPts val="0"/>
              </a:spcBef>
              <a:spcAft>
                <a:spcPts val="500"/>
              </a:spcAft>
            </a:pPr>
            <a:r>
              <a:rPr sz="1900" b="1">
                <a:solidFill>
                  <a:srgbClr val="007F79"/>
                </a:solidFill>
                <a:latin typeface="Aptos"/>
              </a:rPr>
              <a:t>Structure</a:t>
            </a:r>
          </a:p>
        </p:txBody>
      </p:sp>
      <p:sp>
        <p:nvSpPr>
          <p:cNvPr id="9" name="TextBox 8"/>
          <p:cNvSpPr txBox="1"/>
          <p:nvPr/>
        </p:nvSpPr>
        <p:spPr>
          <a:xfrm>
            <a:off x="804672" y="2926080"/>
            <a:ext cx="3008376" cy="768096"/>
          </a:xfrm>
          <a:prstGeom prst="rect">
            <a:avLst/>
          </a:prstGeom>
          <a:noFill/>
        </p:spPr>
        <p:txBody>
          <a:bodyPr wrap="square" lIns="0" rIns="0" tIns="0" bIns="0" anchor="t">
            <a:noAutofit/>
          </a:bodyPr>
          <a:lstStyle/>
          <a:p>
            <a:pPr algn="l">
              <a:lnSpc>
                <a:spcPct val="108000"/>
              </a:lnSpc>
              <a:spcBef>
                <a:spcPts val="0"/>
              </a:spcBef>
              <a:spcAft>
                <a:spcPts val="500"/>
              </a:spcAft>
            </a:pPr>
            <a:r>
              <a:rPr sz="1450" b="0">
                <a:solidFill>
                  <a:srgbClr val="182630"/>
                </a:solidFill>
                <a:latin typeface="Aptos"/>
              </a:rPr>
              <a:t>Tables, colonnes, types, descriptions et catégories.</a:t>
            </a:r>
          </a:p>
        </p:txBody>
      </p:sp>
      <p:sp>
        <p:nvSpPr>
          <p:cNvPr id="10" name="Rounded Rectangle 9"/>
          <p:cNvSpPr/>
          <p:nvPr/>
        </p:nvSpPr>
        <p:spPr>
          <a:xfrm>
            <a:off x="4379976" y="2322576"/>
            <a:ext cx="3429000" cy="146304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90288" y="2487168"/>
            <a:ext cx="3008376" cy="393192"/>
          </a:xfrm>
          <a:prstGeom prst="rect">
            <a:avLst/>
          </a:prstGeom>
          <a:noFill/>
        </p:spPr>
        <p:txBody>
          <a:bodyPr wrap="square" lIns="0" rIns="0" tIns="0" bIns="0" anchor="t">
            <a:noAutofit/>
          </a:bodyPr>
          <a:lstStyle/>
          <a:p>
            <a:pPr algn="l">
              <a:lnSpc>
                <a:spcPct val="108000"/>
              </a:lnSpc>
              <a:spcBef>
                <a:spcPts val="0"/>
              </a:spcBef>
              <a:spcAft>
                <a:spcPts val="500"/>
              </a:spcAft>
            </a:pPr>
            <a:r>
              <a:rPr sz="1900" b="1">
                <a:solidFill>
                  <a:srgbClr val="007F79"/>
                </a:solidFill>
                <a:latin typeface="Aptos"/>
              </a:rPr>
              <a:t>Calculs</a:t>
            </a:r>
          </a:p>
        </p:txBody>
      </p:sp>
      <p:sp>
        <p:nvSpPr>
          <p:cNvPr id="12" name="TextBox 11"/>
          <p:cNvSpPr txBox="1"/>
          <p:nvPr/>
        </p:nvSpPr>
        <p:spPr>
          <a:xfrm>
            <a:off x="4590288" y="2926080"/>
            <a:ext cx="3008376" cy="768096"/>
          </a:xfrm>
          <a:prstGeom prst="rect">
            <a:avLst/>
          </a:prstGeom>
          <a:noFill/>
        </p:spPr>
        <p:txBody>
          <a:bodyPr wrap="square" lIns="0" rIns="0" tIns="0" bIns="0" anchor="t">
            <a:noAutofit/>
          </a:bodyPr>
          <a:lstStyle/>
          <a:p>
            <a:pPr algn="l">
              <a:lnSpc>
                <a:spcPct val="108000"/>
              </a:lnSpc>
              <a:spcBef>
                <a:spcPts val="0"/>
              </a:spcBef>
              <a:spcAft>
                <a:spcPts val="500"/>
              </a:spcAft>
            </a:pPr>
            <a:r>
              <a:rPr sz="1450" b="0">
                <a:solidFill>
                  <a:srgbClr val="182630"/>
                </a:solidFill>
                <a:latin typeface="Aptos"/>
              </a:rPr>
              <a:t>Mesures DAX, colonnes calculées et dossiers d'affichage.</a:t>
            </a:r>
          </a:p>
        </p:txBody>
      </p:sp>
      <p:sp>
        <p:nvSpPr>
          <p:cNvPr id="13" name="Rounded Rectangle 12"/>
          <p:cNvSpPr/>
          <p:nvPr/>
        </p:nvSpPr>
        <p:spPr>
          <a:xfrm>
            <a:off x="8165592" y="2322576"/>
            <a:ext cx="3429000" cy="146304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375904" y="2487168"/>
            <a:ext cx="3008376" cy="393192"/>
          </a:xfrm>
          <a:prstGeom prst="rect">
            <a:avLst/>
          </a:prstGeom>
          <a:noFill/>
        </p:spPr>
        <p:txBody>
          <a:bodyPr wrap="square" lIns="0" rIns="0" tIns="0" bIns="0" anchor="t">
            <a:noAutofit/>
          </a:bodyPr>
          <a:lstStyle/>
          <a:p>
            <a:pPr algn="l">
              <a:lnSpc>
                <a:spcPct val="108000"/>
              </a:lnSpc>
              <a:spcBef>
                <a:spcPts val="0"/>
              </a:spcBef>
              <a:spcAft>
                <a:spcPts val="500"/>
              </a:spcAft>
            </a:pPr>
            <a:r>
              <a:rPr sz="1900" b="1">
                <a:solidFill>
                  <a:srgbClr val="007F79"/>
                </a:solidFill>
                <a:latin typeface="Aptos"/>
              </a:rPr>
              <a:t>Relations</a:t>
            </a:r>
          </a:p>
        </p:txBody>
      </p:sp>
      <p:sp>
        <p:nvSpPr>
          <p:cNvPr id="15" name="TextBox 14"/>
          <p:cNvSpPr txBox="1"/>
          <p:nvPr/>
        </p:nvSpPr>
        <p:spPr>
          <a:xfrm>
            <a:off x="8375904" y="2926080"/>
            <a:ext cx="3008376" cy="768096"/>
          </a:xfrm>
          <a:prstGeom prst="rect">
            <a:avLst/>
          </a:prstGeom>
          <a:noFill/>
        </p:spPr>
        <p:txBody>
          <a:bodyPr wrap="square" lIns="0" rIns="0" tIns="0" bIns="0" anchor="t">
            <a:noAutofit/>
          </a:bodyPr>
          <a:lstStyle/>
          <a:p>
            <a:pPr algn="l">
              <a:lnSpc>
                <a:spcPct val="108000"/>
              </a:lnSpc>
              <a:spcBef>
                <a:spcPts val="0"/>
              </a:spcBef>
              <a:spcAft>
                <a:spcPts val="500"/>
              </a:spcAft>
            </a:pPr>
            <a:r>
              <a:rPr sz="1450" b="0">
                <a:solidFill>
                  <a:srgbClr val="182630"/>
                </a:solidFill>
                <a:latin typeface="Aptos"/>
              </a:rPr>
              <a:t>Cardinalité et inférences à contrôler dans le modèle.</a:t>
            </a:r>
          </a:p>
        </p:txBody>
      </p:sp>
      <p:sp>
        <p:nvSpPr>
          <p:cNvPr id="16" name="Rounded Rectangle 15"/>
          <p:cNvSpPr/>
          <p:nvPr/>
        </p:nvSpPr>
        <p:spPr>
          <a:xfrm>
            <a:off x="594360" y="4032504"/>
            <a:ext cx="3429000" cy="146304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04672" y="4197096"/>
            <a:ext cx="3008376" cy="393192"/>
          </a:xfrm>
          <a:prstGeom prst="rect">
            <a:avLst/>
          </a:prstGeom>
          <a:noFill/>
        </p:spPr>
        <p:txBody>
          <a:bodyPr wrap="square" lIns="0" rIns="0" tIns="0" bIns="0" anchor="t">
            <a:noAutofit/>
          </a:bodyPr>
          <a:lstStyle/>
          <a:p>
            <a:pPr algn="l">
              <a:lnSpc>
                <a:spcPct val="108000"/>
              </a:lnSpc>
              <a:spcBef>
                <a:spcPts val="0"/>
              </a:spcBef>
              <a:spcAft>
                <a:spcPts val="500"/>
              </a:spcAft>
            </a:pPr>
            <a:r>
              <a:rPr sz="1900" b="1">
                <a:solidFill>
                  <a:srgbClr val="007F79"/>
                </a:solidFill>
                <a:latin typeface="Aptos"/>
              </a:rPr>
              <a:t>Temps</a:t>
            </a:r>
          </a:p>
        </p:txBody>
      </p:sp>
      <p:sp>
        <p:nvSpPr>
          <p:cNvPr id="18" name="TextBox 17"/>
          <p:cNvSpPr txBox="1"/>
          <p:nvPr/>
        </p:nvSpPr>
        <p:spPr>
          <a:xfrm>
            <a:off x="804672" y="4636008"/>
            <a:ext cx="3008376" cy="768096"/>
          </a:xfrm>
          <a:prstGeom prst="rect">
            <a:avLst/>
          </a:prstGeom>
          <a:noFill/>
        </p:spPr>
        <p:txBody>
          <a:bodyPr wrap="square" lIns="0" rIns="0" tIns="0" bIns="0" anchor="t">
            <a:noAutofit/>
          </a:bodyPr>
          <a:lstStyle/>
          <a:p>
            <a:pPr algn="l">
              <a:lnSpc>
                <a:spcPct val="108000"/>
              </a:lnSpc>
              <a:spcBef>
                <a:spcPts val="0"/>
              </a:spcBef>
              <a:spcAft>
                <a:spcPts val="500"/>
              </a:spcAft>
            </a:pPr>
            <a:r>
              <a:rPr sz="1450" b="0">
                <a:solidFill>
                  <a:srgbClr val="182630"/>
                </a:solidFill>
                <a:latin typeface="Aptos"/>
              </a:rPr>
              <a:t>Calendrier M, clés et tri des attributs temporels.</a:t>
            </a:r>
          </a:p>
        </p:txBody>
      </p:sp>
      <p:sp>
        <p:nvSpPr>
          <p:cNvPr id="19" name="Rounded Rectangle 18"/>
          <p:cNvSpPr/>
          <p:nvPr/>
        </p:nvSpPr>
        <p:spPr>
          <a:xfrm>
            <a:off x="4379976" y="4032504"/>
            <a:ext cx="3429000" cy="146304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90288" y="4197096"/>
            <a:ext cx="3008376" cy="393192"/>
          </a:xfrm>
          <a:prstGeom prst="rect">
            <a:avLst/>
          </a:prstGeom>
          <a:noFill/>
        </p:spPr>
        <p:txBody>
          <a:bodyPr wrap="square" lIns="0" rIns="0" tIns="0" bIns="0" anchor="t">
            <a:noAutofit/>
          </a:bodyPr>
          <a:lstStyle/>
          <a:p>
            <a:pPr algn="l">
              <a:lnSpc>
                <a:spcPct val="108000"/>
              </a:lnSpc>
              <a:spcBef>
                <a:spcPts val="0"/>
              </a:spcBef>
              <a:spcAft>
                <a:spcPts val="500"/>
              </a:spcAft>
            </a:pPr>
            <a:r>
              <a:rPr sz="1900" b="1">
                <a:solidFill>
                  <a:srgbClr val="007F79"/>
                </a:solidFill>
                <a:latin typeface="Aptos"/>
              </a:rPr>
              <a:t>Sécurité</a:t>
            </a:r>
          </a:p>
        </p:txBody>
      </p:sp>
      <p:sp>
        <p:nvSpPr>
          <p:cNvPr id="21" name="TextBox 20"/>
          <p:cNvSpPr txBox="1"/>
          <p:nvPr/>
        </p:nvSpPr>
        <p:spPr>
          <a:xfrm>
            <a:off x="4590288" y="4636008"/>
            <a:ext cx="3008376" cy="768096"/>
          </a:xfrm>
          <a:prstGeom prst="rect">
            <a:avLst/>
          </a:prstGeom>
          <a:noFill/>
        </p:spPr>
        <p:txBody>
          <a:bodyPr wrap="square" lIns="0" rIns="0" tIns="0" bIns="0" anchor="t">
            <a:noAutofit/>
          </a:bodyPr>
          <a:lstStyle/>
          <a:p>
            <a:pPr algn="l">
              <a:lnSpc>
                <a:spcPct val="108000"/>
              </a:lnSpc>
              <a:spcBef>
                <a:spcPts val="0"/>
              </a:spcBef>
              <a:spcAft>
                <a:spcPts val="500"/>
              </a:spcAft>
            </a:pPr>
            <a:r>
              <a:rPr sz="1450" b="0">
                <a:solidFill>
                  <a:srgbClr val="182630"/>
                </a:solidFill>
                <a:latin typeface="Aptos"/>
              </a:rPr>
              <a:t>Rôles RLS ; affectations et tests par identité distincts.</a:t>
            </a:r>
          </a:p>
        </p:txBody>
      </p:sp>
      <p:sp>
        <p:nvSpPr>
          <p:cNvPr id="22" name="Rounded Rectangle 21"/>
          <p:cNvSpPr/>
          <p:nvPr/>
        </p:nvSpPr>
        <p:spPr>
          <a:xfrm>
            <a:off x="8165592" y="4032504"/>
            <a:ext cx="3429000" cy="146304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375904" y="4197096"/>
            <a:ext cx="3008376" cy="393192"/>
          </a:xfrm>
          <a:prstGeom prst="rect">
            <a:avLst/>
          </a:prstGeom>
          <a:noFill/>
        </p:spPr>
        <p:txBody>
          <a:bodyPr wrap="square" lIns="0" rIns="0" tIns="0" bIns="0" anchor="t">
            <a:noAutofit/>
          </a:bodyPr>
          <a:lstStyle/>
          <a:p>
            <a:pPr algn="l">
              <a:lnSpc>
                <a:spcPct val="108000"/>
              </a:lnSpc>
              <a:spcBef>
                <a:spcPts val="0"/>
              </a:spcBef>
              <a:spcAft>
                <a:spcPts val="500"/>
              </a:spcAft>
            </a:pPr>
            <a:r>
              <a:rPr sz="1900" b="1">
                <a:solidFill>
                  <a:srgbClr val="007F79"/>
                </a:solidFill>
                <a:latin typeface="Aptos"/>
              </a:rPr>
              <a:t>Navigation</a:t>
            </a:r>
          </a:p>
        </p:txBody>
      </p:sp>
      <p:sp>
        <p:nvSpPr>
          <p:cNvPr id="24" name="TextBox 23"/>
          <p:cNvSpPr txBox="1"/>
          <p:nvPr/>
        </p:nvSpPr>
        <p:spPr>
          <a:xfrm>
            <a:off x="8375904" y="4636008"/>
            <a:ext cx="3008376" cy="768096"/>
          </a:xfrm>
          <a:prstGeom prst="rect">
            <a:avLst/>
          </a:prstGeom>
          <a:noFill/>
        </p:spPr>
        <p:txBody>
          <a:bodyPr wrap="square" lIns="0" rIns="0" tIns="0" bIns="0" anchor="t">
            <a:noAutofit/>
          </a:bodyPr>
          <a:lstStyle/>
          <a:p>
            <a:pPr algn="l">
              <a:lnSpc>
                <a:spcPct val="108000"/>
              </a:lnSpc>
              <a:spcBef>
                <a:spcPts val="0"/>
              </a:spcBef>
              <a:spcAft>
                <a:spcPts val="500"/>
              </a:spcAft>
            </a:pPr>
            <a:r>
              <a:rPr sz="1450" b="0">
                <a:solidFill>
                  <a:srgbClr val="182630"/>
                </a:solidFill>
                <a:latin typeface="Aptos"/>
              </a:rPr>
              <a:t>Hiérarchies, paramètres, groupes, sets et bins.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5F7F8"/>
        </a:solidFill>
        <a:effectLst/>
      </p:bgPr>
    </p:bg>
    <p:spTree>
      <p:nvGrpSpPr>
        <p:cNvPr id="1" name=""/>
        <p:cNvGrpSpPr/>
        <p:nvPr/>
      </p:nvGrpSpPr>
      <p:grpSpPr/>
      <p:sp>
        <p:nvSpPr>
          <p:cNvPr id="2" name="TextBox 1"/>
          <p:cNvSpPr txBox="1"/>
          <p:nvPr/>
        </p:nvSpPr>
        <p:spPr>
          <a:xfrm>
            <a:off x="594360" y="466344"/>
            <a:ext cx="10789920" cy="201168"/>
          </a:xfrm>
          <a:prstGeom prst="rect">
            <a:avLst/>
          </a:prstGeom>
          <a:noFill/>
        </p:spPr>
        <p:txBody>
          <a:bodyPr wrap="square" lIns="0" rIns="0" tIns="0" bIns="0" anchor="t">
            <a:noAutofit/>
          </a:bodyPr>
          <a:lstStyle/>
          <a:p>
            <a:pPr algn="l">
              <a:lnSpc>
                <a:spcPct val="108000"/>
              </a:lnSpc>
              <a:spcBef>
                <a:spcPts val="0"/>
              </a:spcBef>
              <a:spcAft>
                <a:spcPts val="500"/>
              </a:spcAft>
            </a:pPr>
            <a:r>
              <a:rPr sz="1050" b="1">
                <a:solidFill>
                  <a:srgbClr val="007F79"/>
                </a:solidFill>
                <a:latin typeface="Aptos"/>
              </a:rPr>
              <a:t>RAPPORTS &amp; INTERACTIONS</a:t>
            </a:r>
          </a:p>
        </p:txBody>
      </p:sp>
      <p:sp>
        <p:nvSpPr>
          <p:cNvPr id="3" name="Slide title"/>
          <p:cNvSpPr txBox="1"/>
          <p:nvPr/>
        </p:nvSpPr>
        <p:spPr>
          <a:xfrm>
            <a:off x="594360" y="859536"/>
            <a:ext cx="11000232" cy="685800"/>
          </a:xfrm>
          <a:prstGeom prst="rect">
            <a:avLst/>
          </a:prstGeom>
          <a:noFill/>
        </p:spPr>
        <p:txBody>
          <a:bodyPr wrap="square" lIns="0" rIns="0" tIns="0" bIns="0" anchor="t">
            <a:noAutofit/>
          </a:bodyPr>
          <a:lstStyle/>
          <a:p>
            <a:pPr algn="l">
              <a:lnSpc>
                <a:spcPct val="108000"/>
              </a:lnSpc>
              <a:spcBef>
                <a:spcPts val="0"/>
              </a:spcBef>
              <a:spcAft>
                <a:spcPts val="500"/>
              </a:spcAft>
            </a:pPr>
            <a:r>
              <a:rPr sz="3600" b="1">
                <a:solidFill>
                  <a:srgbClr val="182630"/>
                </a:solidFill>
                <a:latin typeface="Aptos Display"/>
              </a:rPr>
              <a:t>PBIR : conserver l'intention visuelle</a:t>
            </a:r>
          </a:p>
        </p:txBody>
      </p:sp>
      <p:sp>
        <p:nvSpPr>
          <p:cNvPr id="4" name="TextBox 3"/>
          <p:cNvSpPr txBox="1"/>
          <p:nvPr/>
        </p:nvSpPr>
        <p:spPr>
          <a:xfrm>
            <a:off x="594360" y="1673352"/>
            <a:ext cx="11000232" cy="493776"/>
          </a:xfrm>
          <a:prstGeom prst="rect">
            <a:avLst/>
          </a:prstGeom>
          <a:noFill/>
        </p:spPr>
        <p:txBody>
          <a:bodyPr wrap="square" lIns="0" rIns="0" tIns="0" bIns="0" anchor="t">
            <a:noAutofit/>
          </a:bodyPr>
          <a:lstStyle/>
          <a:p>
            <a:pPr algn="l">
              <a:lnSpc>
                <a:spcPct val="108000"/>
              </a:lnSpc>
              <a:spcBef>
                <a:spcPts val="0"/>
              </a:spcBef>
              <a:spcAft>
                <a:spcPts val="500"/>
              </a:spcAft>
            </a:pPr>
            <a:r>
              <a:rPr sz="1500" b="0">
                <a:solidFill>
                  <a:srgbClr val="52616C"/>
                </a:solidFill>
                <a:latin typeface="Aptos"/>
              </a:rPr>
              <a:t>164 enregistrements de mapping : un inventaire, pas 164 rendus certifiés.</a:t>
            </a:r>
          </a:p>
        </p:txBody>
      </p:sp>
      <p:sp>
        <p:nvSpPr>
          <p:cNvPr id="5" name="TextBox 4"/>
          <p:cNvSpPr txBox="1"/>
          <p:nvPr/>
        </p:nvSpPr>
        <p:spPr>
          <a:xfrm>
            <a:off x="594360" y="6199632"/>
            <a:ext cx="10149840" cy="182880"/>
          </a:xfrm>
          <a:prstGeom prst="rect">
            <a:avLst/>
          </a:prstGeom>
          <a:noFill/>
        </p:spPr>
        <p:txBody>
          <a:bodyPr wrap="square" lIns="0" rIns="0" tIns="0" bIns="0" anchor="t">
            <a:noAutofit/>
          </a:bodyPr>
          <a:lstStyle/>
          <a:p>
            <a:pPr algn="l">
              <a:lnSpc>
                <a:spcPct val="108000"/>
              </a:lnSpc>
              <a:spcBef>
                <a:spcPts val="0"/>
              </a:spcBef>
              <a:spcAft>
                <a:spcPts val="500"/>
              </a:spcAft>
            </a:pPr>
            <a:r>
              <a:rPr sz="1000" b="0">
                <a:solidFill>
                  <a:srgbClr val="52616C"/>
                </a:solidFill>
                <a:latin typeface="Aptos"/>
              </a:rPr>
              <a:t>Tableau to Power BI  |  Édition 26.10.2026  |  Rapports &amp; interactions</a:t>
            </a:r>
          </a:p>
        </p:txBody>
      </p:sp>
      <p:sp>
        <p:nvSpPr>
          <p:cNvPr id="6" name="TextBox 5"/>
          <p:cNvSpPr txBox="1"/>
          <p:nvPr/>
        </p:nvSpPr>
        <p:spPr>
          <a:xfrm>
            <a:off x="11000232" y="6181344"/>
            <a:ext cx="594360" cy="210312"/>
          </a:xfrm>
          <a:prstGeom prst="rect">
            <a:avLst/>
          </a:prstGeom>
          <a:noFill/>
        </p:spPr>
        <p:txBody>
          <a:bodyPr wrap="square" lIns="0" rIns="0" tIns="0" bIns="0" anchor="t">
            <a:noAutofit/>
          </a:bodyPr>
          <a:lstStyle/>
          <a:p>
            <a:pPr algn="r">
              <a:lnSpc>
                <a:spcPct val="108000"/>
              </a:lnSpc>
              <a:spcBef>
                <a:spcPts val="0"/>
              </a:spcBef>
              <a:spcAft>
                <a:spcPts val="500"/>
              </a:spcAft>
            </a:pPr>
            <a:r>
              <a:rPr sz="1100" b="0">
                <a:solidFill>
                  <a:srgbClr val="52616C"/>
                </a:solidFill>
                <a:latin typeface="Aptos"/>
              </a:rPr>
              <a:t>09</a:t>
            </a:r>
          </a:p>
        </p:txBody>
      </p:sp>
      <p:sp>
        <p:nvSpPr>
          <p:cNvPr id="7" name="Rectangle 6"/>
          <p:cNvSpPr/>
          <p:nvPr/>
        </p:nvSpPr>
        <p:spPr>
          <a:xfrm>
            <a:off x="594360" y="2395728"/>
            <a:ext cx="8652621" cy="466344"/>
          </a:xfrm>
          <a:prstGeom prst="rect">
            <a:avLst/>
          </a:prstGeom>
          <a:solidFill>
            <a:srgbClr val="007F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9246981" y="2395728"/>
            <a:ext cx="1073193" cy="466344"/>
          </a:xfrm>
          <a:prstGeom prst="rect">
            <a:avLst/>
          </a:prstGeom>
          <a:solidFill>
            <a:srgbClr val="C85A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0320174" y="2395728"/>
            <a:ext cx="1274417" cy="466344"/>
          </a:xfrm>
          <a:prstGeom prst="rect">
            <a:avLst/>
          </a:prstGeom>
          <a:solidFill>
            <a:srgbClr val="1826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3236976"/>
            <a:ext cx="1188720" cy="566928"/>
          </a:xfrm>
          <a:prstGeom prst="rect">
            <a:avLst/>
          </a:prstGeom>
          <a:noFill/>
        </p:spPr>
        <p:txBody>
          <a:bodyPr wrap="square" lIns="0" rIns="0" tIns="0" bIns="0" anchor="t">
            <a:noAutofit/>
          </a:bodyPr>
          <a:lstStyle/>
          <a:p>
            <a:pPr algn="l">
              <a:lnSpc>
                <a:spcPct val="108000"/>
              </a:lnSpc>
              <a:spcBef>
                <a:spcPts val="0"/>
              </a:spcBef>
              <a:spcAft>
                <a:spcPts val="500"/>
              </a:spcAft>
            </a:pPr>
            <a:r>
              <a:rPr sz="3400" b="1">
                <a:solidFill>
                  <a:srgbClr val="007F79"/>
                </a:solidFill>
                <a:latin typeface="Aptos"/>
              </a:rPr>
              <a:t>129</a:t>
            </a:r>
          </a:p>
        </p:txBody>
      </p:sp>
      <p:sp>
        <p:nvSpPr>
          <p:cNvPr id="11" name="TextBox 10"/>
          <p:cNvSpPr txBox="1"/>
          <p:nvPr/>
        </p:nvSpPr>
        <p:spPr>
          <a:xfrm>
            <a:off x="1965960" y="3374136"/>
            <a:ext cx="2057400" cy="365760"/>
          </a:xfrm>
          <a:prstGeom prst="rect">
            <a:avLst/>
          </a:prstGeom>
          <a:noFill/>
        </p:spPr>
        <p:txBody>
          <a:bodyPr wrap="square" lIns="0" rIns="0" tIns="0" bIns="0" anchor="t">
            <a:noAutofit/>
          </a:bodyPr>
          <a:lstStyle/>
          <a:p>
            <a:pPr algn="l">
              <a:lnSpc>
                <a:spcPct val="108000"/>
              </a:lnSpc>
              <a:spcBef>
                <a:spcPts val="0"/>
              </a:spcBef>
              <a:spcAft>
                <a:spcPts val="500"/>
              </a:spcAft>
            </a:pPr>
            <a:r>
              <a:rPr sz="1700" b="1">
                <a:solidFill>
                  <a:srgbClr val="182630"/>
                </a:solidFill>
                <a:latin typeface="Aptos"/>
              </a:rPr>
              <a:t>Mappings natifs</a:t>
            </a:r>
          </a:p>
        </p:txBody>
      </p:sp>
      <p:sp>
        <p:nvSpPr>
          <p:cNvPr id="12" name="TextBox 11"/>
          <p:cNvSpPr txBox="1"/>
          <p:nvPr/>
        </p:nvSpPr>
        <p:spPr>
          <a:xfrm>
            <a:off x="4379976" y="3236976"/>
            <a:ext cx="1188720" cy="566928"/>
          </a:xfrm>
          <a:prstGeom prst="rect">
            <a:avLst/>
          </a:prstGeom>
          <a:noFill/>
        </p:spPr>
        <p:txBody>
          <a:bodyPr wrap="square" lIns="0" rIns="0" tIns="0" bIns="0" anchor="t">
            <a:noAutofit/>
          </a:bodyPr>
          <a:lstStyle/>
          <a:p>
            <a:pPr algn="l">
              <a:lnSpc>
                <a:spcPct val="108000"/>
              </a:lnSpc>
              <a:spcBef>
                <a:spcPts val="0"/>
              </a:spcBef>
              <a:spcAft>
                <a:spcPts val="500"/>
              </a:spcAft>
            </a:pPr>
            <a:r>
              <a:rPr sz="3400" b="1">
                <a:solidFill>
                  <a:srgbClr val="C85A17"/>
                </a:solidFill>
                <a:latin typeface="Aptos"/>
              </a:rPr>
              <a:t>16</a:t>
            </a:r>
          </a:p>
        </p:txBody>
      </p:sp>
      <p:sp>
        <p:nvSpPr>
          <p:cNvPr id="13" name="TextBox 12"/>
          <p:cNvSpPr txBox="1"/>
          <p:nvPr/>
        </p:nvSpPr>
        <p:spPr>
          <a:xfrm>
            <a:off x="5751576" y="3374136"/>
            <a:ext cx="2057400" cy="365760"/>
          </a:xfrm>
          <a:prstGeom prst="rect">
            <a:avLst/>
          </a:prstGeom>
          <a:noFill/>
        </p:spPr>
        <p:txBody>
          <a:bodyPr wrap="square" lIns="0" rIns="0" tIns="0" bIns="0" anchor="t">
            <a:noAutofit/>
          </a:bodyPr>
          <a:lstStyle/>
          <a:p>
            <a:pPr algn="l">
              <a:lnSpc>
                <a:spcPct val="108000"/>
              </a:lnSpc>
              <a:spcBef>
                <a:spcPts val="0"/>
              </a:spcBef>
              <a:spcAft>
                <a:spcPts val="500"/>
              </a:spcAft>
            </a:pPr>
            <a:r>
              <a:rPr sz="1700" b="1">
                <a:solidFill>
                  <a:srgbClr val="182630"/>
                </a:solidFill>
                <a:latin typeface="Aptos"/>
              </a:rPr>
              <a:t>Approximations</a:t>
            </a:r>
          </a:p>
        </p:txBody>
      </p:sp>
      <p:sp>
        <p:nvSpPr>
          <p:cNvPr id="14" name="TextBox 13"/>
          <p:cNvSpPr txBox="1"/>
          <p:nvPr/>
        </p:nvSpPr>
        <p:spPr>
          <a:xfrm>
            <a:off x="8165592" y="3236976"/>
            <a:ext cx="1188720" cy="566928"/>
          </a:xfrm>
          <a:prstGeom prst="rect">
            <a:avLst/>
          </a:prstGeom>
          <a:noFill/>
        </p:spPr>
        <p:txBody>
          <a:bodyPr wrap="square" lIns="0" rIns="0" tIns="0" bIns="0" anchor="t">
            <a:noAutofit/>
          </a:bodyPr>
          <a:lstStyle/>
          <a:p>
            <a:pPr algn="l">
              <a:lnSpc>
                <a:spcPct val="108000"/>
              </a:lnSpc>
              <a:spcBef>
                <a:spcPts val="0"/>
              </a:spcBef>
              <a:spcAft>
                <a:spcPts val="500"/>
              </a:spcAft>
            </a:pPr>
            <a:r>
              <a:rPr sz="3400" b="1">
                <a:solidFill>
                  <a:srgbClr val="182630"/>
                </a:solidFill>
                <a:latin typeface="Aptos"/>
              </a:rPr>
              <a:t>19</a:t>
            </a:r>
          </a:p>
        </p:txBody>
      </p:sp>
      <p:sp>
        <p:nvSpPr>
          <p:cNvPr id="15" name="TextBox 14"/>
          <p:cNvSpPr txBox="1"/>
          <p:nvPr/>
        </p:nvSpPr>
        <p:spPr>
          <a:xfrm>
            <a:off x="9537192" y="3374136"/>
            <a:ext cx="2057400" cy="365760"/>
          </a:xfrm>
          <a:prstGeom prst="rect">
            <a:avLst/>
          </a:prstGeom>
          <a:noFill/>
        </p:spPr>
        <p:txBody>
          <a:bodyPr wrap="square" lIns="0" rIns="0" tIns="0" bIns="0" anchor="t">
            <a:noAutofit/>
          </a:bodyPr>
          <a:lstStyle/>
          <a:p>
            <a:pPr algn="l">
              <a:lnSpc>
                <a:spcPct val="108000"/>
              </a:lnSpc>
              <a:spcBef>
                <a:spcPts val="0"/>
              </a:spcBef>
              <a:spcAft>
                <a:spcPts val="500"/>
              </a:spcAft>
            </a:pPr>
            <a:r>
              <a:rPr sz="1700" b="1">
                <a:solidFill>
                  <a:srgbClr val="182630"/>
                </a:solidFill>
                <a:latin typeface="Aptos"/>
              </a:rPr>
              <a:t>Mappings custom</a:t>
            </a:r>
          </a:p>
        </p:txBody>
      </p:sp>
      <p:sp>
        <p:nvSpPr>
          <p:cNvPr id="16" name="Rounded Rectangle 15"/>
          <p:cNvSpPr/>
          <p:nvPr/>
        </p:nvSpPr>
        <p:spPr>
          <a:xfrm>
            <a:off x="594360" y="4151376"/>
            <a:ext cx="5312664" cy="1078992"/>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04672" y="4315968"/>
            <a:ext cx="4892040" cy="393192"/>
          </a:xfrm>
          <a:prstGeom prst="rect">
            <a:avLst/>
          </a:prstGeom>
          <a:noFill/>
        </p:spPr>
        <p:txBody>
          <a:bodyPr wrap="square" lIns="0" rIns="0" tIns="0" bIns="0" anchor="t">
            <a:noAutofit/>
          </a:bodyPr>
          <a:lstStyle/>
          <a:p>
            <a:pPr algn="l">
              <a:lnSpc>
                <a:spcPct val="108000"/>
              </a:lnSpc>
              <a:spcBef>
                <a:spcPts val="0"/>
              </a:spcBef>
              <a:spcAft>
                <a:spcPts val="500"/>
              </a:spcAft>
            </a:pPr>
            <a:r>
              <a:rPr sz="1900" b="1">
                <a:solidFill>
                  <a:srgbClr val="007F79"/>
                </a:solidFill>
                <a:latin typeface="Aptos"/>
              </a:rPr>
              <a:t>Disposition &amp; style</a:t>
            </a:r>
          </a:p>
        </p:txBody>
      </p:sp>
      <p:sp>
        <p:nvSpPr>
          <p:cNvPr id="18" name="TextBox 17"/>
          <p:cNvSpPr txBox="1"/>
          <p:nvPr/>
        </p:nvSpPr>
        <p:spPr>
          <a:xfrm>
            <a:off x="804672" y="4754880"/>
            <a:ext cx="4892040" cy="384047"/>
          </a:xfrm>
          <a:prstGeom prst="rect">
            <a:avLst/>
          </a:prstGeom>
          <a:noFill/>
        </p:spPr>
        <p:txBody>
          <a:bodyPr wrap="square" lIns="0" rIns="0" tIns="0" bIns="0" anchor="t">
            <a:noAutofit/>
          </a:bodyPr>
          <a:lstStyle/>
          <a:p>
            <a:pPr algn="l">
              <a:lnSpc>
                <a:spcPct val="108000"/>
              </a:lnSpc>
              <a:spcBef>
                <a:spcPts val="0"/>
              </a:spcBef>
              <a:spcAft>
                <a:spcPts val="500"/>
              </a:spcAft>
            </a:pPr>
            <a:r>
              <a:rPr sz="1450" b="0">
                <a:solidFill>
                  <a:srgbClr val="182630"/>
                </a:solidFill>
                <a:latin typeface="Aptos"/>
              </a:rPr>
              <a:t>Pages, thème, formatage et objets de dashboard.</a:t>
            </a:r>
          </a:p>
        </p:txBody>
      </p:sp>
      <p:sp>
        <p:nvSpPr>
          <p:cNvPr id="19" name="Rounded Rectangle 18"/>
          <p:cNvSpPr/>
          <p:nvPr/>
        </p:nvSpPr>
        <p:spPr>
          <a:xfrm>
            <a:off x="6272784" y="4151376"/>
            <a:ext cx="5312664" cy="1078992"/>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83096" y="4315968"/>
            <a:ext cx="4892040" cy="393192"/>
          </a:xfrm>
          <a:prstGeom prst="rect">
            <a:avLst/>
          </a:prstGeom>
          <a:noFill/>
        </p:spPr>
        <p:txBody>
          <a:bodyPr wrap="square" lIns="0" rIns="0" tIns="0" bIns="0" anchor="t">
            <a:noAutofit/>
          </a:bodyPr>
          <a:lstStyle/>
          <a:p>
            <a:pPr algn="l">
              <a:lnSpc>
                <a:spcPct val="108000"/>
              </a:lnSpc>
              <a:spcBef>
                <a:spcPts val="0"/>
              </a:spcBef>
              <a:spcAft>
                <a:spcPts val="500"/>
              </a:spcAft>
            </a:pPr>
            <a:r>
              <a:rPr sz="1900" b="1">
                <a:solidFill>
                  <a:srgbClr val="007F79"/>
                </a:solidFill>
                <a:latin typeface="Aptos"/>
              </a:rPr>
              <a:t>Interaction</a:t>
            </a:r>
          </a:p>
        </p:txBody>
      </p:sp>
      <p:sp>
        <p:nvSpPr>
          <p:cNvPr id="21" name="TextBox 20"/>
          <p:cNvSpPr txBox="1"/>
          <p:nvPr/>
        </p:nvSpPr>
        <p:spPr>
          <a:xfrm>
            <a:off x="6483096" y="4754880"/>
            <a:ext cx="4892040" cy="384047"/>
          </a:xfrm>
          <a:prstGeom prst="rect">
            <a:avLst/>
          </a:prstGeom>
          <a:noFill/>
        </p:spPr>
        <p:txBody>
          <a:bodyPr wrap="square" lIns="0" rIns="0" tIns="0" bIns="0" anchor="t">
            <a:noAutofit/>
          </a:bodyPr>
          <a:lstStyle/>
          <a:p>
            <a:pPr algn="l">
              <a:lnSpc>
                <a:spcPct val="108000"/>
              </a:lnSpc>
              <a:spcBef>
                <a:spcPts val="0"/>
              </a:spcBef>
              <a:spcAft>
                <a:spcPts val="500"/>
              </a:spcAft>
            </a:pPr>
            <a:r>
              <a:rPr sz="1450" b="0">
                <a:solidFill>
                  <a:srgbClr val="182630"/>
                </a:solidFill>
                <a:latin typeface="Aptos"/>
              </a:rPr>
              <a:t>Slicers, filtres, signets, navigation et tooltips.</a:t>
            </a:r>
          </a:p>
        </p:txBody>
      </p:sp>
      <p:sp>
        <p:nvSpPr>
          <p:cNvPr id="22" name="Rounded Rectangle 21"/>
          <p:cNvSpPr/>
          <p:nvPr/>
        </p:nvSpPr>
        <p:spPr>
          <a:xfrm>
            <a:off x="594360" y="5522976"/>
            <a:ext cx="11000232" cy="429768"/>
          </a:xfrm>
          <a:prstGeom prst="roundRect">
            <a:avLst>
              <a:gd name="adj" fmla="val 12000"/>
            </a:avLst>
          </a:prstGeom>
          <a:solidFill>
            <a:srgbClr val="1826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86384" y="5614416"/>
            <a:ext cx="10616184" cy="256032"/>
          </a:xfrm>
          <a:prstGeom prst="rect">
            <a:avLst/>
          </a:prstGeom>
          <a:noFill/>
        </p:spPr>
        <p:txBody>
          <a:bodyPr wrap="square" lIns="0" rIns="0" tIns="0" bIns="0" anchor="t">
            <a:noAutofit/>
          </a:bodyPr>
          <a:lstStyle/>
          <a:p>
            <a:pPr algn="l">
              <a:lnSpc>
                <a:spcPct val="108000"/>
              </a:lnSpc>
              <a:spcBef>
                <a:spcPts val="0"/>
              </a:spcBef>
              <a:spcAft>
                <a:spcPts val="500"/>
              </a:spcAft>
            </a:pPr>
            <a:r>
              <a:rPr sz="1300" b="1">
                <a:solidFill>
                  <a:srgbClr val="FFFFFF"/>
                </a:solidFill>
                <a:latin typeface="Aptos"/>
              </a:rPr>
              <a:t>Custom visuals, interactions et rendu exact : disponibilité et recette à confirmer.</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5F7F8"/>
        </a:solidFill>
        <a:effectLst/>
      </p:bgPr>
    </p:bg>
    <p:spTree>
      <p:nvGrpSpPr>
        <p:cNvPr id="1" name=""/>
        <p:cNvGrpSpPr/>
        <p:nvPr/>
      </p:nvGrpSpPr>
      <p:grpSpPr/>
      <p:sp>
        <p:nvSpPr>
          <p:cNvPr id="2" name="TextBox 1"/>
          <p:cNvSpPr txBox="1"/>
          <p:nvPr/>
        </p:nvSpPr>
        <p:spPr>
          <a:xfrm>
            <a:off x="594360" y="466344"/>
            <a:ext cx="10789920" cy="201168"/>
          </a:xfrm>
          <a:prstGeom prst="rect">
            <a:avLst/>
          </a:prstGeom>
          <a:noFill/>
        </p:spPr>
        <p:txBody>
          <a:bodyPr wrap="square" lIns="0" rIns="0" tIns="0" bIns="0" anchor="t">
            <a:noAutofit/>
          </a:bodyPr>
          <a:lstStyle/>
          <a:p>
            <a:pPr algn="l">
              <a:lnSpc>
                <a:spcPct val="108000"/>
              </a:lnSpc>
              <a:spcBef>
                <a:spcPts val="0"/>
              </a:spcBef>
              <a:spcAft>
                <a:spcPts val="500"/>
              </a:spcAft>
            </a:pPr>
            <a:r>
              <a:rPr sz="1050" b="1">
                <a:solidFill>
                  <a:srgbClr val="007F79"/>
                </a:solidFill>
                <a:latin typeface="Aptos"/>
              </a:rPr>
              <a:t>DAX &amp; POWER QUERY M</a:t>
            </a:r>
          </a:p>
        </p:txBody>
      </p:sp>
      <p:sp>
        <p:nvSpPr>
          <p:cNvPr id="3" name="Slide title"/>
          <p:cNvSpPr txBox="1"/>
          <p:nvPr/>
        </p:nvSpPr>
        <p:spPr>
          <a:xfrm>
            <a:off x="594360" y="859536"/>
            <a:ext cx="11000232" cy="685800"/>
          </a:xfrm>
          <a:prstGeom prst="rect">
            <a:avLst/>
          </a:prstGeom>
          <a:noFill/>
        </p:spPr>
        <p:txBody>
          <a:bodyPr wrap="square" lIns="0" rIns="0" tIns="0" bIns="0" anchor="t">
            <a:noAutofit/>
          </a:bodyPr>
          <a:lstStyle/>
          <a:p>
            <a:pPr algn="l">
              <a:lnSpc>
                <a:spcPct val="108000"/>
              </a:lnSpc>
              <a:spcBef>
                <a:spcPts val="0"/>
              </a:spcBef>
              <a:spcAft>
                <a:spcPts val="500"/>
              </a:spcAft>
            </a:pPr>
            <a:r>
              <a:rPr sz="3600" b="1">
                <a:solidFill>
                  <a:srgbClr val="182630"/>
                </a:solidFill>
                <a:latin typeface="Aptos Display"/>
              </a:rPr>
              <a:t>De la formule Tableau au bon contexte</a:t>
            </a:r>
          </a:p>
        </p:txBody>
      </p:sp>
      <p:sp>
        <p:nvSpPr>
          <p:cNvPr id="4" name="TextBox 3"/>
          <p:cNvSpPr txBox="1"/>
          <p:nvPr/>
        </p:nvSpPr>
        <p:spPr>
          <a:xfrm>
            <a:off x="594360" y="1673352"/>
            <a:ext cx="11000232" cy="493776"/>
          </a:xfrm>
          <a:prstGeom prst="rect">
            <a:avLst/>
          </a:prstGeom>
          <a:noFill/>
        </p:spPr>
        <p:txBody>
          <a:bodyPr wrap="square" lIns="0" rIns="0" tIns="0" bIns="0" anchor="t">
            <a:noAutofit/>
          </a:bodyPr>
          <a:lstStyle/>
          <a:p>
            <a:pPr algn="l">
              <a:lnSpc>
                <a:spcPct val="108000"/>
              </a:lnSpc>
              <a:spcBef>
                <a:spcPts val="0"/>
              </a:spcBef>
              <a:spcAft>
                <a:spcPts val="500"/>
              </a:spcAft>
            </a:pPr>
            <a:r>
              <a:rPr sz="1500" b="0">
                <a:solidFill>
                  <a:srgbClr val="52616C"/>
                </a:solidFill>
                <a:latin typeface="Aptos"/>
              </a:rPr>
              <a:t>Classifier avant de convertir : une mesure et une colonne n'ont pas la même sémantique.</a:t>
            </a:r>
          </a:p>
        </p:txBody>
      </p:sp>
      <p:sp>
        <p:nvSpPr>
          <p:cNvPr id="5" name="TextBox 4"/>
          <p:cNvSpPr txBox="1"/>
          <p:nvPr/>
        </p:nvSpPr>
        <p:spPr>
          <a:xfrm>
            <a:off x="594360" y="6199632"/>
            <a:ext cx="10149840" cy="182880"/>
          </a:xfrm>
          <a:prstGeom prst="rect">
            <a:avLst/>
          </a:prstGeom>
          <a:noFill/>
        </p:spPr>
        <p:txBody>
          <a:bodyPr wrap="square" lIns="0" rIns="0" tIns="0" bIns="0" anchor="t">
            <a:noAutofit/>
          </a:bodyPr>
          <a:lstStyle/>
          <a:p>
            <a:pPr algn="l">
              <a:lnSpc>
                <a:spcPct val="108000"/>
              </a:lnSpc>
              <a:spcBef>
                <a:spcPts val="0"/>
              </a:spcBef>
              <a:spcAft>
                <a:spcPts val="500"/>
              </a:spcAft>
            </a:pPr>
            <a:r>
              <a:rPr sz="1000" b="0">
                <a:solidFill>
                  <a:srgbClr val="52616C"/>
                </a:solidFill>
                <a:latin typeface="Aptos"/>
              </a:rPr>
              <a:t>Tableau to Power BI  |  Édition 26.10.2026  |  DAX &amp; Power Query M</a:t>
            </a:r>
          </a:p>
        </p:txBody>
      </p:sp>
      <p:sp>
        <p:nvSpPr>
          <p:cNvPr id="6" name="TextBox 5"/>
          <p:cNvSpPr txBox="1"/>
          <p:nvPr/>
        </p:nvSpPr>
        <p:spPr>
          <a:xfrm>
            <a:off x="11000232" y="6181344"/>
            <a:ext cx="594360" cy="210312"/>
          </a:xfrm>
          <a:prstGeom prst="rect">
            <a:avLst/>
          </a:prstGeom>
          <a:noFill/>
        </p:spPr>
        <p:txBody>
          <a:bodyPr wrap="square" lIns="0" rIns="0" tIns="0" bIns="0" anchor="t">
            <a:noAutofit/>
          </a:bodyPr>
          <a:lstStyle/>
          <a:p>
            <a:pPr algn="r">
              <a:lnSpc>
                <a:spcPct val="108000"/>
              </a:lnSpc>
              <a:spcBef>
                <a:spcPts val="0"/>
              </a:spcBef>
              <a:spcAft>
                <a:spcPts val="500"/>
              </a:spcAft>
            </a:pPr>
            <a:r>
              <a:rPr sz="1100" b="0">
                <a:solidFill>
                  <a:srgbClr val="52616C"/>
                </a:solidFill>
                <a:latin typeface="Aptos"/>
              </a:rPr>
              <a:t>10</a:t>
            </a:r>
          </a:p>
        </p:txBody>
      </p:sp>
      <p:sp>
        <p:nvSpPr>
          <p:cNvPr id="7" name="Rounded Rectangle 6"/>
          <p:cNvSpPr/>
          <p:nvPr/>
        </p:nvSpPr>
        <p:spPr>
          <a:xfrm>
            <a:off x="594360" y="2944368"/>
            <a:ext cx="2468880" cy="1261872"/>
          </a:xfrm>
          <a:prstGeom prst="roundRect">
            <a:avLst>
              <a:gd name="adj" fmla="val 12000"/>
            </a:avLst>
          </a:prstGeom>
          <a:solidFill>
            <a:srgbClr val="C85A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58952" y="3118104"/>
            <a:ext cx="2139696" cy="402336"/>
          </a:xfrm>
          <a:prstGeom prst="rect">
            <a:avLst/>
          </a:prstGeom>
          <a:noFill/>
        </p:spPr>
        <p:txBody>
          <a:bodyPr wrap="square" lIns="0" rIns="0" tIns="0" bIns="0" anchor="t">
            <a:noAutofit/>
          </a:bodyPr>
          <a:lstStyle/>
          <a:p>
            <a:pPr algn="ctr">
              <a:lnSpc>
                <a:spcPct val="108000"/>
              </a:lnSpc>
              <a:spcBef>
                <a:spcPts val="0"/>
              </a:spcBef>
              <a:spcAft>
                <a:spcPts val="500"/>
              </a:spcAft>
            </a:pPr>
            <a:r>
              <a:rPr sz="1900" b="1">
                <a:solidFill>
                  <a:srgbClr val="FFFFFF"/>
                </a:solidFill>
                <a:latin typeface="Aptos"/>
              </a:rPr>
              <a:t>Formule Tableau</a:t>
            </a:r>
          </a:p>
        </p:txBody>
      </p:sp>
      <p:sp>
        <p:nvSpPr>
          <p:cNvPr id="9" name="TextBox 8"/>
          <p:cNvSpPr txBox="1"/>
          <p:nvPr/>
        </p:nvSpPr>
        <p:spPr>
          <a:xfrm>
            <a:off x="758952" y="3621024"/>
            <a:ext cx="2139696" cy="521207"/>
          </a:xfrm>
          <a:prstGeom prst="rect">
            <a:avLst/>
          </a:prstGeom>
          <a:noFill/>
        </p:spPr>
        <p:txBody>
          <a:bodyPr wrap="square" lIns="0" rIns="0" tIns="0" bIns="0" anchor="t">
            <a:noAutofit/>
          </a:bodyPr>
          <a:lstStyle/>
          <a:p>
            <a:pPr algn="ctr">
              <a:lnSpc>
                <a:spcPct val="108000"/>
              </a:lnSpc>
              <a:spcBef>
                <a:spcPts val="0"/>
              </a:spcBef>
              <a:spcAft>
                <a:spcPts val="500"/>
              </a:spcAft>
            </a:pPr>
            <a:r>
              <a:rPr sz="1400" b="0">
                <a:solidFill>
                  <a:srgbClr val="FFFFFF"/>
                </a:solidFill>
                <a:latin typeface="Aptos"/>
              </a:rPr>
              <a:t>Références et agrégations</a:t>
            </a:r>
          </a:p>
        </p:txBody>
      </p:sp>
      <p:sp>
        <p:nvSpPr>
          <p:cNvPr id="10" name="Chevron 9"/>
          <p:cNvSpPr/>
          <p:nvPr/>
        </p:nvSpPr>
        <p:spPr>
          <a:xfrm>
            <a:off x="3163824" y="3474720"/>
            <a:ext cx="201168" cy="201168"/>
          </a:xfrm>
          <a:prstGeom prst="chevron">
            <a:avLst/>
          </a:prstGeom>
          <a:solidFill>
            <a:srgbClr val="5261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3520440" y="2944368"/>
            <a:ext cx="2468880" cy="1261872"/>
          </a:xfrm>
          <a:prstGeom prst="roundRect">
            <a:avLst>
              <a:gd name="adj" fmla="val 12000"/>
            </a:avLst>
          </a:prstGeom>
          <a:solidFill>
            <a:srgbClr val="007F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685032" y="3118104"/>
            <a:ext cx="2139696" cy="402336"/>
          </a:xfrm>
          <a:prstGeom prst="rect">
            <a:avLst/>
          </a:prstGeom>
          <a:noFill/>
        </p:spPr>
        <p:txBody>
          <a:bodyPr wrap="square" lIns="0" rIns="0" tIns="0" bIns="0" anchor="t">
            <a:noAutofit/>
          </a:bodyPr>
          <a:lstStyle/>
          <a:p>
            <a:pPr algn="ctr">
              <a:lnSpc>
                <a:spcPct val="108000"/>
              </a:lnSpc>
              <a:spcBef>
                <a:spcPts val="0"/>
              </a:spcBef>
              <a:spcAft>
                <a:spcPts val="500"/>
              </a:spcAft>
            </a:pPr>
            <a:r>
              <a:rPr sz="1900" b="1">
                <a:solidFill>
                  <a:srgbClr val="FFFFFF"/>
                </a:solidFill>
                <a:latin typeface="Aptos"/>
              </a:rPr>
              <a:t>Classification</a:t>
            </a:r>
          </a:p>
        </p:txBody>
      </p:sp>
      <p:sp>
        <p:nvSpPr>
          <p:cNvPr id="13" name="TextBox 12"/>
          <p:cNvSpPr txBox="1"/>
          <p:nvPr/>
        </p:nvSpPr>
        <p:spPr>
          <a:xfrm>
            <a:off x="3685032" y="3621024"/>
            <a:ext cx="2139696" cy="521207"/>
          </a:xfrm>
          <a:prstGeom prst="rect">
            <a:avLst/>
          </a:prstGeom>
          <a:noFill/>
        </p:spPr>
        <p:txBody>
          <a:bodyPr wrap="square" lIns="0" rIns="0" tIns="0" bIns="0" anchor="t">
            <a:noAutofit/>
          </a:bodyPr>
          <a:lstStyle/>
          <a:p>
            <a:pPr algn="ctr">
              <a:lnSpc>
                <a:spcPct val="108000"/>
              </a:lnSpc>
              <a:spcBef>
                <a:spcPts val="0"/>
              </a:spcBef>
              <a:spcAft>
                <a:spcPts val="500"/>
              </a:spcAft>
            </a:pPr>
            <a:r>
              <a:rPr sz="1400" b="0">
                <a:solidFill>
                  <a:srgbClr val="FFFFFF"/>
                </a:solidFill>
                <a:latin typeface="Aptos"/>
              </a:rPr>
              <a:t>Mesure ou colonne</a:t>
            </a:r>
          </a:p>
        </p:txBody>
      </p:sp>
      <p:cxnSp>
        <p:nvCxnSpPr>
          <p:cNvPr id="14" name="Connector 13"/>
          <p:cNvCxnSpPr/>
          <p:nvPr/>
        </p:nvCxnSpPr>
        <p:spPr>
          <a:xfrm>
            <a:off x="5989320" y="3575304"/>
            <a:ext cx="411480" cy="0"/>
          </a:xfrm>
          <a:prstGeom prst="line">
            <a:avLst/>
          </a:prstGeom>
          <a:ln w="25400">
            <a:solidFill>
              <a:srgbClr val="007F79"/>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6400800" y="2788920"/>
            <a:ext cx="0" cy="1728216"/>
          </a:xfrm>
          <a:prstGeom prst="line">
            <a:avLst/>
          </a:prstGeom>
          <a:ln w="25400">
            <a:solidFill>
              <a:srgbClr val="007F79"/>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6400800" y="2788920"/>
            <a:ext cx="457200" cy="0"/>
          </a:xfrm>
          <a:prstGeom prst="line">
            <a:avLst/>
          </a:prstGeom>
          <a:ln w="25400">
            <a:solidFill>
              <a:srgbClr val="007F79"/>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6400800" y="4517136"/>
            <a:ext cx="457200" cy="0"/>
          </a:xfrm>
          <a:prstGeom prst="line">
            <a:avLst/>
          </a:prstGeom>
          <a:ln w="25400">
            <a:solidFill>
              <a:srgbClr val="007F79"/>
            </a:solidFill>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858000" y="2304288"/>
            <a:ext cx="4709160" cy="1143000"/>
          </a:xfrm>
          <a:prstGeom prst="roundRect">
            <a:avLst>
              <a:gd name="adj" fmla="val 12000"/>
            </a:avLst>
          </a:prstGeom>
          <a:solidFill>
            <a:srgbClr val="1826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022592" y="2478024"/>
            <a:ext cx="4379976" cy="402336"/>
          </a:xfrm>
          <a:prstGeom prst="rect">
            <a:avLst/>
          </a:prstGeom>
          <a:noFill/>
        </p:spPr>
        <p:txBody>
          <a:bodyPr wrap="square" lIns="0" rIns="0" tIns="0" bIns="0" anchor="t">
            <a:noAutofit/>
          </a:bodyPr>
          <a:lstStyle/>
          <a:p>
            <a:pPr algn="ctr">
              <a:lnSpc>
                <a:spcPct val="108000"/>
              </a:lnSpc>
              <a:spcBef>
                <a:spcPts val="0"/>
              </a:spcBef>
              <a:spcAft>
                <a:spcPts val="500"/>
              </a:spcAft>
            </a:pPr>
            <a:r>
              <a:rPr sz="1900" b="1">
                <a:solidFill>
                  <a:srgbClr val="FFFFFF"/>
                </a:solidFill>
                <a:latin typeface="Aptos"/>
              </a:rPr>
              <a:t>Mesure → DAX</a:t>
            </a:r>
          </a:p>
        </p:txBody>
      </p:sp>
      <p:sp>
        <p:nvSpPr>
          <p:cNvPr id="20" name="TextBox 19"/>
          <p:cNvSpPr txBox="1"/>
          <p:nvPr/>
        </p:nvSpPr>
        <p:spPr>
          <a:xfrm>
            <a:off x="7022592" y="2980944"/>
            <a:ext cx="4379976" cy="402335"/>
          </a:xfrm>
          <a:prstGeom prst="rect">
            <a:avLst/>
          </a:prstGeom>
          <a:noFill/>
        </p:spPr>
        <p:txBody>
          <a:bodyPr wrap="square" lIns="0" rIns="0" tIns="0" bIns="0" anchor="t">
            <a:noAutofit/>
          </a:bodyPr>
          <a:lstStyle/>
          <a:p>
            <a:pPr algn="ctr">
              <a:lnSpc>
                <a:spcPct val="108000"/>
              </a:lnSpc>
              <a:spcBef>
                <a:spcPts val="0"/>
              </a:spcBef>
              <a:spcAft>
                <a:spcPts val="500"/>
              </a:spcAft>
            </a:pPr>
            <a:r>
              <a:rPr sz="1400" b="0">
                <a:solidFill>
                  <a:srgbClr val="FFFFFF"/>
                </a:solidFill>
                <a:latin typeface="Aptos"/>
              </a:rPr>
              <a:t>Agrégation et contexte de filtre</a:t>
            </a:r>
          </a:p>
        </p:txBody>
      </p:sp>
      <p:sp>
        <p:nvSpPr>
          <p:cNvPr id="21" name="Rounded Rectangle 20"/>
          <p:cNvSpPr/>
          <p:nvPr/>
        </p:nvSpPr>
        <p:spPr>
          <a:xfrm>
            <a:off x="6858000" y="4041648"/>
            <a:ext cx="4709160" cy="1143000"/>
          </a:xfrm>
          <a:prstGeom prst="roundRect">
            <a:avLst>
              <a:gd name="adj" fmla="val 12000"/>
            </a:avLst>
          </a:prstGeom>
          <a:solidFill>
            <a:srgbClr val="1826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022592" y="4215384"/>
            <a:ext cx="4379976" cy="402336"/>
          </a:xfrm>
          <a:prstGeom prst="rect">
            <a:avLst/>
          </a:prstGeom>
          <a:noFill/>
        </p:spPr>
        <p:txBody>
          <a:bodyPr wrap="square" lIns="0" rIns="0" tIns="0" bIns="0" anchor="t">
            <a:noAutofit/>
          </a:bodyPr>
          <a:lstStyle/>
          <a:p>
            <a:pPr algn="ctr">
              <a:lnSpc>
                <a:spcPct val="108000"/>
              </a:lnSpc>
              <a:spcBef>
                <a:spcPts val="0"/>
              </a:spcBef>
              <a:spcAft>
                <a:spcPts val="500"/>
              </a:spcAft>
            </a:pPr>
            <a:r>
              <a:rPr sz="1900" b="1">
                <a:solidFill>
                  <a:srgbClr val="FFFFFF"/>
                </a:solidFill>
                <a:latin typeface="Aptos"/>
              </a:rPr>
              <a:t>Colonne → M si convertible</a:t>
            </a:r>
          </a:p>
        </p:txBody>
      </p:sp>
      <p:sp>
        <p:nvSpPr>
          <p:cNvPr id="23" name="TextBox 22"/>
          <p:cNvSpPr txBox="1"/>
          <p:nvPr/>
        </p:nvSpPr>
        <p:spPr>
          <a:xfrm>
            <a:off x="7022592" y="4718304"/>
            <a:ext cx="4379976" cy="402335"/>
          </a:xfrm>
          <a:prstGeom prst="rect">
            <a:avLst/>
          </a:prstGeom>
          <a:noFill/>
        </p:spPr>
        <p:txBody>
          <a:bodyPr wrap="square" lIns="0" rIns="0" tIns="0" bIns="0" anchor="t">
            <a:noAutofit/>
          </a:bodyPr>
          <a:lstStyle/>
          <a:p>
            <a:pPr algn="ctr">
              <a:lnSpc>
                <a:spcPct val="108000"/>
              </a:lnSpc>
              <a:spcBef>
                <a:spcPts val="0"/>
              </a:spcBef>
              <a:spcAft>
                <a:spcPts val="500"/>
              </a:spcAft>
            </a:pPr>
            <a:r>
              <a:rPr sz="1400" b="0">
                <a:solidFill>
                  <a:srgbClr val="FFFFFF"/>
                </a:solidFill>
                <a:latin typeface="Aptos"/>
              </a:rPr>
              <a:t>Sinon DAX ; cas inter-tables à contrôler</a:t>
            </a:r>
          </a:p>
        </p:txBody>
      </p:sp>
      <p:sp>
        <p:nvSpPr>
          <p:cNvPr id="24" name="Rounded Rectangle 23"/>
          <p:cNvSpPr/>
          <p:nvPr/>
        </p:nvSpPr>
        <p:spPr>
          <a:xfrm>
            <a:off x="594360" y="5522976"/>
            <a:ext cx="11000232" cy="429768"/>
          </a:xfrm>
          <a:prstGeom prst="roundRect">
            <a:avLst>
              <a:gd name="adj" fmla="val 12000"/>
            </a:avLst>
          </a:prstGeom>
          <a:solidFill>
            <a:srgbClr val="1826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86384" y="5614416"/>
            <a:ext cx="10616184" cy="256032"/>
          </a:xfrm>
          <a:prstGeom prst="rect">
            <a:avLst/>
          </a:prstGeom>
          <a:noFill/>
        </p:spPr>
        <p:txBody>
          <a:bodyPr wrap="square" lIns="0" rIns="0" tIns="0" bIns="0" anchor="t">
            <a:noAutofit/>
          </a:bodyPr>
          <a:lstStyle/>
          <a:p>
            <a:pPr algn="l">
              <a:lnSpc>
                <a:spcPct val="108000"/>
              </a:lnSpc>
              <a:spcBef>
                <a:spcPts val="0"/>
              </a:spcBef>
              <a:spcAft>
                <a:spcPts val="500"/>
              </a:spcAft>
            </a:pPr>
            <a:r>
              <a:rPr sz="1300" b="1">
                <a:solidFill>
                  <a:srgbClr val="FFFFFF"/>
                </a:solidFill>
                <a:latin typeface="Aptos"/>
              </a:rPr>
              <a:t>133+ conversions référencées ; LOD et calculs de table peuvent nécessiter une reprise.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5F7F8"/>
        </a:solidFill>
        <a:effectLst/>
      </p:bgPr>
    </p:bg>
    <p:spTree>
      <p:nvGrpSpPr>
        <p:cNvPr id="1" name=""/>
        <p:cNvGrpSpPr/>
        <p:nvPr/>
      </p:nvGrpSpPr>
      <p:grpSpPr/>
      <p:sp>
        <p:nvSpPr>
          <p:cNvPr id="2" name="TextBox 1"/>
          <p:cNvSpPr txBox="1"/>
          <p:nvPr/>
        </p:nvSpPr>
        <p:spPr>
          <a:xfrm>
            <a:off x="594360" y="466344"/>
            <a:ext cx="10789920" cy="201168"/>
          </a:xfrm>
          <a:prstGeom prst="rect">
            <a:avLst/>
          </a:prstGeom>
          <a:noFill/>
        </p:spPr>
        <p:txBody>
          <a:bodyPr wrap="square" lIns="0" rIns="0" tIns="0" bIns="0" anchor="t">
            <a:noAutofit/>
          </a:bodyPr>
          <a:lstStyle/>
          <a:p>
            <a:pPr algn="l">
              <a:lnSpc>
                <a:spcPct val="108000"/>
              </a:lnSpc>
              <a:spcBef>
                <a:spcPts val="0"/>
              </a:spcBef>
              <a:spcAft>
                <a:spcPts val="500"/>
              </a:spcAft>
            </a:pPr>
            <a:r>
              <a:rPr sz="1050" b="1">
                <a:solidFill>
                  <a:srgbClr val="007F79"/>
                </a:solidFill>
                <a:latin typeface="Aptos"/>
              </a:rPr>
              <a:t>MULTI-CLASSEURS</a:t>
            </a:r>
          </a:p>
        </p:txBody>
      </p:sp>
      <p:sp>
        <p:nvSpPr>
          <p:cNvPr id="3" name="Slide title"/>
          <p:cNvSpPr txBox="1"/>
          <p:nvPr/>
        </p:nvSpPr>
        <p:spPr>
          <a:xfrm>
            <a:off x="594360" y="859536"/>
            <a:ext cx="11000232" cy="685800"/>
          </a:xfrm>
          <a:prstGeom prst="rect">
            <a:avLst/>
          </a:prstGeom>
          <a:noFill/>
        </p:spPr>
        <p:txBody>
          <a:bodyPr wrap="square" lIns="0" rIns="0" tIns="0" bIns="0" anchor="t">
            <a:noAutofit/>
          </a:bodyPr>
          <a:lstStyle/>
          <a:p>
            <a:pPr algn="l">
              <a:lnSpc>
                <a:spcPct val="108000"/>
              </a:lnSpc>
              <a:spcBef>
                <a:spcPts val="0"/>
              </a:spcBef>
              <a:spcAft>
                <a:spcPts val="500"/>
              </a:spcAft>
            </a:pPr>
            <a:r>
              <a:rPr sz="3600" b="1">
                <a:solidFill>
                  <a:srgbClr val="182630"/>
                </a:solidFill>
                <a:latin typeface="Aptos Display"/>
              </a:rPr>
              <a:t>Consolider sans effacer les conflits</a:t>
            </a:r>
          </a:p>
        </p:txBody>
      </p:sp>
      <p:sp>
        <p:nvSpPr>
          <p:cNvPr id="4" name="TextBox 3"/>
          <p:cNvSpPr txBox="1"/>
          <p:nvPr/>
        </p:nvSpPr>
        <p:spPr>
          <a:xfrm>
            <a:off x="594360" y="1673352"/>
            <a:ext cx="11000232" cy="493776"/>
          </a:xfrm>
          <a:prstGeom prst="rect">
            <a:avLst/>
          </a:prstGeom>
          <a:noFill/>
        </p:spPr>
        <p:txBody>
          <a:bodyPr wrap="square" lIns="0" rIns="0" tIns="0" bIns="0" anchor="t">
            <a:noAutofit/>
          </a:bodyPr>
          <a:lstStyle/>
          <a:p>
            <a:pPr algn="l">
              <a:lnSpc>
                <a:spcPct val="108000"/>
              </a:lnSpc>
              <a:spcBef>
                <a:spcPts val="0"/>
              </a:spcBef>
              <a:spcAft>
                <a:spcPts val="500"/>
              </a:spcAft>
            </a:pPr>
            <a:r>
              <a:rPr sz="1500" b="0">
                <a:solidFill>
                  <a:srgbClr val="52616C"/>
                </a:solidFill>
                <a:latin typeface="Aptos"/>
              </a:rPr>
              <a:t>Une route de modèle partagé distincte du batch de projets indépendants.</a:t>
            </a:r>
          </a:p>
        </p:txBody>
      </p:sp>
      <p:sp>
        <p:nvSpPr>
          <p:cNvPr id="5" name="TextBox 4"/>
          <p:cNvSpPr txBox="1"/>
          <p:nvPr/>
        </p:nvSpPr>
        <p:spPr>
          <a:xfrm>
            <a:off x="594360" y="6199632"/>
            <a:ext cx="10149840" cy="182880"/>
          </a:xfrm>
          <a:prstGeom prst="rect">
            <a:avLst/>
          </a:prstGeom>
          <a:noFill/>
        </p:spPr>
        <p:txBody>
          <a:bodyPr wrap="square" lIns="0" rIns="0" tIns="0" bIns="0" anchor="t">
            <a:noAutofit/>
          </a:bodyPr>
          <a:lstStyle/>
          <a:p>
            <a:pPr algn="l">
              <a:lnSpc>
                <a:spcPct val="108000"/>
              </a:lnSpc>
              <a:spcBef>
                <a:spcPts val="0"/>
              </a:spcBef>
              <a:spcAft>
                <a:spcPts val="500"/>
              </a:spcAft>
            </a:pPr>
            <a:r>
              <a:rPr sz="1000" b="0">
                <a:solidFill>
                  <a:srgbClr val="52616C"/>
                </a:solidFill>
                <a:latin typeface="Aptos"/>
              </a:rPr>
              <a:t>Tableau to Power BI  |  Édition 26.10.2026  |  Multi-classeurs</a:t>
            </a:r>
          </a:p>
        </p:txBody>
      </p:sp>
      <p:sp>
        <p:nvSpPr>
          <p:cNvPr id="6" name="TextBox 5"/>
          <p:cNvSpPr txBox="1"/>
          <p:nvPr/>
        </p:nvSpPr>
        <p:spPr>
          <a:xfrm>
            <a:off x="11000232" y="6181344"/>
            <a:ext cx="594360" cy="210312"/>
          </a:xfrm>
          <a:prstGeom prst="rect">
            <a:avLst/>
          </a:prstGeom>
          <a:noFill/>
        </p:spPr>
        <p:txBody>
          <a:bodyPr wrap="square" lIns="0" rIns="0" tIns="0" bIns="0" anchor="t">
            <a:noAutofit/>
          </a:bodyPr>
          <a:lstStyle/>
          <a:p>
            <a:pPr algn="r">
              <a:lnSpc>
                <a:spcPct val="108000"/>
              </a:lnSpc>
              <a:spcBef>
                <a:spcPts val="0"/>
              </a:spcBef>
              <a:spcAft>
                <a:spcPts val="500"/>
              </a:spcAft>
            </a:pPr>
            <a:r>
              <a:rPr sz="1100" b="0">
                <a:solidFill>
                  <a:srgbClr val="52616C"/>
                </a:solidFill>
                <a:latin typeface="Aptos"/>
              </a:rPr>
              <a:t>11</a:t>
            </a:r>
          </a:p>
        </p:txBody>
      </p:sp>
      <p:sp>
        <p:nvSpPr>
          <p:cNvPr id="7" name="Rounded Rectangle 6"/>
          <p:cNvSpPr/>
          <p:nvPr/>
        </p:nvSpPr>
        <p:spPr>
          <a:xfrm>
            <a:off x="594360" y="2514600"/>
            <a:ext cx="2468880" cy="1261872"/>
          </a:xfrm>
          <a:prstGeom prst="roundRect">
            <a:avLst>
              <a:gd name="adj" fmla="val 12000"/>
            </a:avLst>
          </a:prstGeom>
          <a:solidFill>
            <a:srgbClr val="C85A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58952" y="2688336"/>
            <a:ext cx="2139696" cy="402336"/>
          </a:xfrm>
          <a:prstGeom prst="rect">
            <a:avLst/>
          </a:prstGeom>
          <a:noFill/>
        </p:spPr>
        <p:txBody>
          <a:bodyPr wrap="square" lIns="0" rIns="0" tIns="0" bIns="0" anchor="t">
            <a:noAutofit/>
          </a:bodyPr>
          <a:lstStyle/>
          <a:p>
            <a:pPr algn="ctr">
              <a:lnSpc>
                <a:spcPct val="108000"/>
              </a:lnSpc>
              <a:spcBef>
                <a:spcPts val="0"/>
              </a:spcBef>
              <a:spcAft>
                <a:spcPts val="500"/>
              </a:spcAft>
            </a:pPr>
            <a:r>
              <a:rPr sz="1900" b="1">
                <a:solidFill>
                  <a:srgbClr val="FFFFFF"/>
                </a:solidFill>
                <a:latin typeface="Aptos"/>
              </a:rPr>
              <a:t>Classeurs A / B / C</a:t>
            </a:r>
          </a:p>
        </p:txBody>
      </p:sp>
      <p:sp>
        <p:nvSpPr>
          <p:cNvPr id="9" name="TextBox 8"/>
          <p:cNvSpPr txBox="1"/>
          <p:nvPr/>
        </p:nvSpPr>
        <p:spPr>
          <a:xfrm>
            <a:off x="758952" y="3191256"/>
            <a:ext cx="2139696" cy="521207"/>
          </a:xfrm>
          <a:prstGeom prst="rect">
            <a:avLst/>
          </a:prstGeom>
          <a:noFill/>
        </p:spPr>
        <p:txBody>
          <a:bodyPr wrap="square" lIns="0" rIns="0" tIns="0" bIns="0" anchor="t">
            <a:noAutofit/>
          </a:bodyPr>
          <a:lstStyle/>
          <a:p>
            <a:pPr algn="ctr">
              <a:lnSpc>
                <a:spcPct val="108000"/>
              </a:lnSpc>
              <a:spcBef>
                <a:spcPts val="0"/>
              </a:spcBef>
              <a:spcAft>
                <a:spcPts val="500"/>
              </a:spcAft>
            </a:pPr>
            <a:r>
              <a:rPr sz="1400" b="0">
                <a:solidFill>
                  <a:srgbClr val="FFFFFF"/>
                </a:solidFill>
                <a:latin typeface="Aptos"/>
              </a:rPr>
              <a:t>Schémas et calculs</a:t>
            </a:r>
          </a:p>
        </p:txBody>
      </p:sp>
      <p:sp>
        <p:nvSpPr>
          <p:cNvPr id="10" name="Chevron 9"/>
          <p:cNvSpPr/>
          <p:nvPr/>
        </p:nvSpPr>
        <p:spPr>
          <a:xfrm>
            <a:off x="3163824" y="3054096"/>
            <a:ext cx="201168" cy="201168"/>
          </a:xfrm>
          <a:prstGeom prst="chevron">
            <a:avLst/>
          </a:prstGeom>
          <a:solidFill>
            <a:srgbClr val="5261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3520440" y="2514600"/>
            <a:ext cx="3794760" cy="1261872"/>
          </a:xfrm>
          <a:prstGeom prst="roundRect">
            <a:avLst>
              <a:gd name="adj" fmla="val 12000"/>
            </a:avLst>
          </a:prstGeom>
          <a:solidFill>
            <a:srgbClr val="007F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685032" y="2688336"/>
            <a:ext cx="3465576" cy="402336"/>
          </a:xfrm>
          <a:prstGeom prst="rect">
            <a:avLst/>
          </a:prstGeom>
          <a:noFill/>
        </p:spPr>
        <p:txBody>
          <a:bodyPr wrap="square" lIns="0" rIns="0" tIns="0" bIns="0" anchor="t">
            <a:noAutofit/>
          </a:bodyPr>
          <a:lstStyle/>
          <a:p>
            <a:pPr algn="ctr">
              <a:lnSpc>
                <a:spcPct val="108000"/>
              </a:lnSpc>
              <a:spcBef>
                <a:spcPts val="0"/>
              </a:spcBef>
              <a:spcAft>
                <a:spcPts val="500"/>
              </a:spcAft>
            </a:pPr>
            <a:r>
              <a:rPr sz="1900" b="1">
                <a:solidFill>
                  <a:srgbClr val="FFFFFF"/>
                </a:solidFill>
                <a:latin typeface="Aptos"/>
              </a:rPr>
              <a:t>Matching + résolution</a:t>
            </a:r>
          </a:p>
        </p:txBody>
      </p:sp>
      <p:sp>
        <p:nvSpPr>
          <p:cNvPr id="13" name="TextBox 12"/>
          <p:cNvSpPr txBox="1"/>
          <p:nvPr/>
        </p:nvSpPr>
        <p:spPr>
          <a:xfrm>
            <a:off x="3685032" y="3191256"/>
            <a:ext cx="3465576" cy="521207"/>
          </a:xfrm>
          <a:prstGeom prst="rect">
            <a:avLst/>
          </a:prstGeom>
          <a:noFill/>
        </p:spPr>
        <p:txBody>
          <a:bodyPr wrap="square" lIns="0" rIns="0" tIns="0" bIns="0" anchor="t">
            <a:noAutofit/>
          </a:bodyPr>
          <a:lstStyle/>
          <a:p>
            <a:pPr algn="ctr">
              <a:lnSpc>
                <a:spcPct val="108000"/>
              </a:lnSpc>
              <a:spcBef>
                <a:spcPts val="0"/>
              </a:spcBef>
              <a:spcAft>
                <a:spcPts val="500"/>
              </a:spcAft>
            </a:pPr>
            <a:r>
              <a:rPr sz="1400" b="0">
                <a:solidFill>
                  <a:srgbClr val="FFFFFF"/>
                </a:solidFill>
                <a:latin typeface="Aptos"/>
              </a:rPr>
              <a:t>Empreintes, colonnes, noms et conflits</a:t>
            </a:r>
          </a:p>
        </p:txBody>
      </p:sp>
      <p:sp>
        <p:nvSpPr>
          <p:cNvPr id="14" name="Chevron 13"/>
          <p:cNvSpPr/>
          <p:nvPr/>
        </p:nvSpPr>
        <p:spPr>
          <a:xfrm>
            <a:off x="7434072" y="3054096"/>
            <a:ext cx="201168" cy="201168"/>
          </a:xfrm>
          <a:prstGeom prst="chevron">
            <a:avLst/>
          </a:prstGeom>
          <a:solidFill>
            <a:srgbClr val="5261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7818120" y="2514600"/>
            <a:ext cx="3749039" cy="1261872"/>
          </a:xfrm>
          <a:prstGeom prst="roundRect">
            <a:avLst>
              <a:gd name="adj" fmla="val 12000"/>
            </a:avLst>
          </a:prstGeom>
          <a:solidFill>
            <a:srgbClr val="1826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982712" y="2688336"/>
            <a:ext cx="3419856" cy="402336"/>
          </a:xfrm>
          <a:prstGeom prst="rect">
            <a:avLst/>
          </a:prstGeom>
          <a:noFill/>
        </p:spPr>
        <p:txBody>
          <a:bodyPr wrap="square" lIns="0" rIns="0" tIns="0" bIns="0" anchor="t">
            <a:noAutofit/>
          </a:bodyPr>
          <a:lstStyle/>
          <a:p>
            <a:pPr algn="ctr">
              <a:lnSpc>
                <a:spcPct val="108000"/>
              </a:lnSpc>
              <a:spcBef>
                <a:spcPts val="0"/>
              </a:spcBef>
              <a:spcAft>
                <a:spcPts val="500"/>
              </a:spcAft>
            </a:pPr>
            <a:r>
              <a:rPr sz="1900" b="1">
                <a:solidFill>
                  <a:srgbClr val="FFFFFF"/>
                </a:solidFill>
                <a:latin typeface="Aptos"/>
              </a:rPr>
              <a:t>Modèle commun</a:t>
            </a:r>
          </a:p>
        </p:txBody>
      </p:sp>
      <p:sp>
        <p:nvSpPr>
          <p:cNvPr id="17" name="TextBox 16"/>
          <p:cNvSpPr txBox="1"/>
          <p:nvPr/>
        </p:nvSpPr>
        <p:spPr>
          <a:xfrm>
            <a:off x="7982712" y="3191256"/>
            <a:ext cx="3419856" cy="521207"/>
          </a:xfrm>
          <a:prstGeom prst="rect">
            <a:avLst/>
          </a:prstGeom>
          <a:noFill/>
        </p:spPr>
        <p:txBody>
          <a:bodyPr wrap="square" lIns="0" rIns="0" tIns="0" bIns="0" anchor="t">
            <a:noAutofit/>
          </a:bodyPr>
          <a:lstStyle/>
          <a:p>
            <a:pPr algn="ctr">
              <a:lnSpc>
                <a:spcPct val="108000"/>
              </a:lnSpc>
              <a:spcBef>
                <a:spcPts val="0"/>
              </a:spcBef>
              <a:spcAft>
                <a:spcPts val="500"/>
              </a:spcAft>
            </a:pPr>
            <a:r>
              <a:rPr sz="1400" b="0">
                <a:solidFill>
                  <a:srgbClr val="FFFFFF"/>
                </a:solidFill>
                <a:latin typeface="Aptos"/>
              </a:rPr>
              <a:t>Rapports fins par classeur</a:t>
            </a:r>
          </a:p>
        </p:txBody>
      </p:sp>
      <p:sp>
        <p:nvSpPr>
          <p:cNvPr id="18" name="Rounded Rectangle 17"/>
          <p:cNvSpPr/>
          <p:nvPr/>
        </p:nvSpPr>
        <p:spPr>
          <a:xfrm>
            <a:off x="594360" y="4270248"/>
            <a:ext cx="5312664" cy="987552"/>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04672" y="4434840"/>
            <a:ext cx="4892040" cy="393192"/>
          </a:xfrm>
          <a:prstGeom prst="rect">
            <a:avLst/>
          </a:prstGeom>
          <a:noFill/>
        </p:spPr>
        <p:txBody>
          <a:bodyPr wrap="square" lIns="0" rIns="0" tIns="0" bIns="0" anchor="t">
            <a:noAutofit/>
          </a:bodyPr>
          <a:lstStyle/>
          <a:p>
            <a:pPr algn="l">
              <a:lnSpc>
                <a:spcPct val="108000"/>
              </a:lnSpc>
              <a:spcBef>
                <a:spcPts val="0"/>
              </a:spcBef>
              <a:spcAft>
                <a:spcPts val="500"/>
              </a:spcAft>
            </a:pPr>
            <a:r>
              <a:rPr sz="1900" b="1">
                <a:solidFill>
                  <a:srgbClr val="007F79"/>
                </a:solidFill>
                <a:latin typeface="Aptos"/>
              </a:rPr>
              <a:t>Décisions explicites</a:t>
            </a:r>
          </a:p>
        </p:txBody>
      </p:sp>
      <p:sp>
        <p:nvSpPr>
          <p:cNvPr id="20" name="TextBox 19"/>
          <p:cNvSpPr txBox="1"/>
          <p:nvPr/>
        </p:nvSpPr>
        <p:spPr>
          <a:xfrm>
            <a:off x="804672" y="4873752"/>
            <a:ext cx="4892040" cy="292608"/>
          </a:xfrm>
          <a:prstGeom prst="rect">
            <a:avLst/>
          </a:prstGeom>
          <a:noFill/>
        </p:spPr>
        <p:txBody>
          <a:bodyPr wrap="square" lIns="0" rIns="0" tIns="0" bIns="0" anchor="t">
            <a:noAutofit/>
          </a:bodyPr>
          <a:lstStyle/>
          <a:p>
            <a:pPr algn="l">
              <a:lnSpc>
                <a:spcPct val="108000"/>
              </a:lnSpc>
              <a:spcBef>
                <a:spcPts val="0"/>
              </a:spcBef>
              <a:spcAft>
                <a:spcPts val="500"/>
              </a:spcAft>
            </a:pPr>
            <a:r>
              <a:rPr sz="1450" b="0">
                <a:solidFill>
                  <a:srgbClr val="182630"/>
                </a:solidFill>
                <a:latin typeface="Aptos"/>
              </a:rPr>
              <a:t>Mesures, tables et paramètres.</a:t>
            </a:r>
          </a:p>
        </p:txBody>
      </p:sp>
      <p:sp>
        <p:nvSpPr>
          <p:cNvPr id="21" name="Rounded Rectangle 20"/>
          <p:cNvSpPr/>
          <p:nvPr/>
        </p:nvSpPr>
        <p:spPr>
          <a:xfrm>
            <a:off x="6272784" y="4270248"/>
            <a:ext cx="5312664" cy="987552"/>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83096" y="4434840"/>
            <a:ext cx="4892040" cy="393192"/>
          </a:xfrm>
          <a:prstGeom prst="rect">
            <a:avLst/>
          </a:prstGeom>
          <a:noFill/>
        </p:spPr>
        <p:txBody>
          <a:bodyPr wrap="square" lIns="0" rIns="0" tIns="0" bIns="0" anchor="t">
            <a:noAutofit/>
          </a:bodyPr>
          <a:lstStyle/>
          <a:p>
            <a:pPr algn="l">
              <a:lnSpc>
                <a:spcPct val="108000"/>
              </a:lnSpc>
              <a:spcBef>
                <a:spcPts val="0"/>
              </a:spcBef>
              <a:spcAft>
                <a:spcPts val="500"/>
              </a:spcAft>
            </a:pPr>
            <a:r>
              <a:rPr sz="1900" b="1">
                <a:solidFill>
                  <a:srgbClr val="007F79"/>
                </a:solidFill>
                <a:latin typeface="Aptos"/>
              </a:rPr>
              <a:t>Contrôles renforcés</a:t>
            </a:r>
          </a:p>
        </p:txBody>
      </p:sp>
      <p:sp>
        <p:nvSpPr>
          <p:cNvPr id="23" name="TextBox 22"/>
          <p:cNvSpPr txBox="1"/>
          <p:nvPr/>
        </p:nvSpPr>
        <p:spPr>
          <a:xfrm>
            <a:off x="6483096" y="4873752"/>
            <a:ext cx="4892040" cy="292608"/>
          </a:xfrm>
          <a:prstGeom prst="rect">
            <a:avLst/>
          </a:prstGeom>
          <a:noFill/>
        </p:spPr>
        <p:txBody>
          <a:bodyPr wrap="square" lIns="0" rIns="0" tIns="0" bIns="0" anchor="t">
            <a:noAutofit/>
          </a:bodyPr>
          <a:lstStyle/>
          <a:p>
            <a:pPr algn="l">
              <a:lnSpc>
                <a:spcPct val="108000"/>
              </a:lnSpc>
              <a:spcBef>
                <a:spcPts val="0"/>
              </a:spcBef>
              <a:spcAft>
                <a:spcPts val="500"/>
              </a:spcAft>
            </a:pPr>
            <a:r>
              <a:rPr sz="1450" b="0">
                <a:solidFill>
                  <a:srgbClr val="182630"/>
                </a:solidFill>
                <a:latin typeface="Aptos"/>
              </a:rPr>
              <a:t>RLS, relations et sémantique métier.</a:t>
            </a:r>
          </a:p>
        </p:txBody>
      </p:sp>
      <p:sp>
        <p:nvSpPr>
          <p:cNvPr id="24" name="Rounded Rectangle 23"/>
          <p:cNvSpPr/>
          <p:nvPr/>
        </p:nvSpPr>
        <p:spPr>
          <a:xfrm>
            <a:off x="594360" y="5522976"/>
            <a:ext cx="11000232" cy="429768"/>
          </a:xfrm>
          <a:prstGeom prst="roundRect">
            <a:avLst>
              <a:gd name="adj" fmla="val 12000"/>
            </a:avLst>
          </a:prstGeom>
          <a:solidFill>
            <a:srgbClr val="1826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86384" y="5614416"/>
            <a:ext cx="10616184" cy="256032"/>
          </a:xfrm>
          <a:prstGeom prst="rect">
            <a:avLst/>
          </a:prstGeom>
          <a:noFill/>
        </p:spPr>
        <p:txBody>
          <a:bodyPr wrap="square" lIns="0" rIns="0" tIns="0" bIns="0" anchor="t">
            <a:noAutofit/>
          </a:bodyPr>
          <a:lstStyle/>
          <a:p>
            <a:pPr algn="l">
              <a:lnSpc>
                <a:spcPct val="108000"/>
              </a:lnSpc>
              <a:spcBef>
                <a:spcPts val="0"/>
              </a:spcBef>
              <a:spcAft>
                <a:spcPts val="500"/>
              </a:spcAft>
            </a:pPr>
            <a:r>
              <a:rPr sz="1300" b="1">
                <a:solidFill>
                  <a:srgbClr val="FFFFFF"/>
                </a:solidFill>
                <a:latin typeface="Aptos"/>
              </a:rPr>
              <a:t>Un score de rapprochement ne suffit pas à prouver l'identité métier de deux tables.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5F7F8"/>
        </a:solidFill>
        <a:effectLst/>
      </p:bgPr>
    </p:bg>
    <p:spTree>
      <p:nvGrpSpPr>
        <p:cNvPr id="1" name=""/>
        <p:cNvGrpSpPr/>
        <p:nvPr/>
      </p:nvGrpSpPr>
      <p:grpSpPr/>
      <p:sp>
        <p:nvSpPr>
          <p:cNvPr id="2" name="TextBox 1"/>
          <p:cNvSpPr txBox="1"/>
          <p:nvPr/>
        </p:nvSpPr>
        <p:spPr>
          <a:xfrm>
            <a:off x="594360" y="466344"/>
            <a:ext cx="10789920" cy="201168"/>
          </a:xfrm>
          <a:prstGeom prst="rect">
            <a:avLst/>
          </a:prstGeom>
          <a:noFill/>
        </p:spPr>
        <p:txBody>
          <a:bodyPr wrap="square" lIns="0" rIns="0" tIns="0" bIns="0" anchor="t">
            <a:noAutofit/>
          </a:bodyPr>
          <a:lstStyle/>
          <a:p>
            <a:pPr algn="l">
              <a:lnSpc>
                <a:spcPct val="108000"/>
              </a:lnSpc>
              <a:spcBef>
                <a:spcPts val="0"/>
              </a:spcBef>
              <a:spcAft>
                <a:spcPts val="500"/>
              </a:spcAft>
            </a:pPr>
            <a:r>
              <a:rPr sz="1050" b="1">
                <a:solidFill>
                  <a:srgbClr val="007F79"/>
                </a:solidFill>
                <a:latin typeface="Aptos"/>
              </a:rPr>
              <a:t>TABLEAU PREP</a:t>
            </a:r>
          </a:p>
        </p:txBody>
      </p:sp>
      <p:sp>
        <p:nvSpPr>
          <p:cNvPr id="3" name="Slide title"/>
          <p:cNvSpPr txBox="1"/>
          <p:nvPr/>
        </p:nvSpPr>
        <p:spPr>
          <a:xfrm>
            <a:off x="594360" y="859536"/>
            <a:ext cx="11000232" cy="685800"/>
          </a:xfrm>
          <a:prstGeom prst="rect">
            <a:avLst/>
          </a:prstGeom>
          <a:noFill/>
        </p:spPr>
        <p:txBody>
          <a:bodyPr wrap="square" lIns="0" rIns="0" tIns="0" bIns="0" anchor="t">
            <a:noAutofit/>
          </a:bodyPr>
          <a:lstStyle/>
          <a:p>
            <a:pPr algn="l">
              <a:lnSpc>
                <a:spcPct val="108000"/>
              </a:lnSpc>
              <a:spcBef>
                <a:spcPts val="0"/>
              </a:spcBef>
              <a:spcAft>
                <a:spcPts val="500"/>
              </a:spcAft>
            </a:pPr>
            <a:r>
              <a:rPr sz="3600" b="1">
                <a:solidFill>
                  <a:srgbClr val="182630"/>
                </a:solidFill>
                <a:latin typeface="Aptos Display"/>
              </a:rPr>
              <a:t>Prep autonome : M, sources et lignage</a:t>
            </a:r>
          </a:p>
        </p:txBody>
      </p:sp>
      <p:sp>
        <p:nvSpPr>
          <p:cNvPr id="4" name="TextBox 3"/>
          <p:cNvSpPr txBox="1"/>
          <p:nvPr/>
        </p:nvSpPr>
        <p:spPr>
          <a:xfrm>
            <a:off x="594360" y="1673352"/>
            <a:ext cx="11000232" cy="493776"/>
          </a:xfrm>
          <a:prstGeom prst="rect">
            <a:avLst/>
          </a:prstGeom>
          <a:noFill/>
        </p:spPr>
        <p:txBody>
          <a:bodyPr wrap="square" lIns="0" rIns="0" tIns="0" bIns="0" anchor="t">
            <a:noAutofit/>
          </a:bodyPr>
          <a:lstStyle/>
          <a:p>
            <a:pPr algn="l">
              <a:lnSpc>
                <a:spcPct val="108000"/>
              </a:lnSpc>
              <a:spcBef>
                <a:spcPts val="0"/>
              </a:spcBef>
              <a:spcAft>
                <a:spcPts val="500"/>
              </a:spcAft>
            </a:pPr>
            <a:r>
              <a:rPr sz="1500" b="0">
                <a:solidFill>
                  <a:srgbClr val="52616C"/>
                </a:solidFill>
                <a:latin typeface="Aptos"/>
              </a:rPr>
              <a:t>Pas de PBIP généré pour les fichiers .tfl / .tflx autonomes.</a:t>
            </a:r>
          </a:p>
        </p:txBody>
      </p:sp>
      <p:sp>
        <p:nvSpPr>
          <p:cNvPr id="5" name="TextBox 4"/>
          <p:cNvSpPr txBox="1"/>
          <p:nvPr/>
        </p:nvSpPr>
        <p:spPr>
          <a:xfrm>
            <a:off x="594360" y="6199632"/>
            <a:ext cx="10149840" cy="182880"/>
          </a:xfrm>
          <a:prstGeom prst="rect">
            <a:avLst/>
          </a:prstGeom>
          <a:noFill/>
        </p:spPr>
        <p:txBody>
          <a:bodyPr wrap="square" lIns="0" rIns="0" tIns="0" bIns="0" anchor="t">
            <a:noAutofit/>
          </a:bodyPr>
          <a:lstStyle/>
          <a:p>
            <a:pPr algn="l">
              <a:lnSpc>
                <a:spcPct val="108000"/>
              </a:lnSpc>
              <a:spcBef>
                <a:spcPts val="0"/>
              </a:spcBef>
              <a:spcAft>
                <a:spcPts val="500"/>
              </a:spcAft>
            </a:pPr>
            <a:r>
              <a:rPr sz="1000" b="0">
                <a:solidFill>
                  <a:srgbClr val="52616C"/>
                </a:solidFill>
                <a:latin typeface="Aptos"/>
              </a:rPr>
              <a:t>Tableau to Power BI  |  Édition 26.10.2026  |  Tableau Prep</a:t>
            </a:r>
          </a:p>
        </p:txBody>
      </p:sp>
      <p:sp>
        <p:nvSpPr>
          <p:cNvPr id="6" name="TextBox 5"/>
          <p:cNvSpPr txBox="1"/>
          <p:nvPr/>
        </p:nvSpPr>
        <p:spPr>
          <a:xfrm>
            <a:off x="11000232" y="6181344"/>
            <a:ext cx="594360" cy="210312"/>
          </a:xfrm>
          <a:prstGeom prst="rect">
            <a:avLst/>
          </a:prstGeom>
          <a:noFill/>
        </p:spPr>
        <p:txBody>
          <a:bodyPr wrap="square" lIns="0" rIns="0" tIns="0" bIns="0" anchor="t">
            <a:noAutofit/>
          </a:bodyPr>
          <a:lstStyle/>
          <a:p>
            <a:pPr algn="r">
              <a:lnSpc>
                <a:spcPct val="108000"/>
              </a:lnSpc>
              <a:spcBef>
                <a:spcPts val="0"/>
              </a:spcBef>
              <a:spcAft>
                <a:spcPts val="500"/>
              </a:spcAft>
            </a:pPr>
            <a:r>
              <a:rPr sz="1100" b="0">
                <a:solidFill>
                  <a:srgbClr val="52616C"/>
                </a:solidFill>
                <a:latin typeface="Aptos"/>
              </a:rPr>
              <a:t>12</a:t>
            </a:r>
          </a:p>
        </p:txBody>
      </p:sp>
      <p:sp>
        <p:nvSpPr>
          <p:cNvPr id="7" name="Rounded Rectangle 6"/>
          <p:cNvSpPr/>
          <p:nvPr/>
        </p:nvSpPr>
        <p:spPr>
          <a:xfrm>
            <a:off x="594360" y="2532888"/>
            <a:ext cx="3429000" cy="1472184"/>
          </a:xfrm>
          <a:prstGeom prst="roundRect">
            <a:avLst>
              <a:gd name="adj" fmla="val 12000"/>
            </a:avLst>
          </a:prstGeom>
          <a:solidFill>
            <a:srgbClr val="1826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58952" y="2706624"/>
            <a:ext cx="3099816" cy="402336"/>
          </a:xfrm>
          <a:prstGeom prst="rect">
            <a:avLst/>
          </a:prstGeom>
          <a:noFill/>
        </p:spPr>
        <p:txBody>
          <a:bodyPr wrap="square" lIns="0" rIns="0" tIns="0" bIns="0" anchor="t">
            <a:noAutofit/>
          </a:bodyPr>
          <a:lstStyle/>
          <a:p>
            <a:pPr algn="ctr">
              <a:lnSpc>
                <a:spcPct val="108000"/>
              </a:lnSpc>
              <a:spcBef>
                <a:spcPts val="0"/>
              </a:spcBef>
              <a:spcAft>
                <a:spcPts val="500"/>
              </a:spcAft>
            </a:pPr>
            <a:r>
              <a:rPr sz="1900" b="1">
                <a:solidFill>
                  <a:srgbClr val="FFFFFF"/>
                </a:solidFill>
                <a:latin typeface="Aptos"/>
              </a:rPr>
              <a:t>Analyser le DAG</a:t>
            </a:r>
          </a:p>
        </p:txBody>
      </p:sp>
      <p:sp>
        <p:nvSpPr>
          <p:cNvPr id="9" name="TextBox 8"/>
          <p:cNvSpPr txBox="1"/>
          <p:nvPr/>
        </p:nvSpPr>
        <p:spPr>
          <a:xfrm>
            <a:off x="758952" y="3209544"/>
            <a:ext cx="3099816" cy="731520"/>
          </a:xfrm>
          <a:prstGeom prst="rect">
            <a:avLst/>
          </a:prstGeom>
          <a:noFill/>
        </p:spPr>
        <p:txBody>
          <a:bodyPr wrap="square" lIns="0" rIns="0" tIns="0" bIns="0" anchor="t">
            <a:noAutofit/>
          </a:bodyPr>
          <a:lstStyle/>
          <a:p>
            <a:pPr algn="ctr">
              <a:lnSpc>
                <a:spcPct val="108000"/>
              </a:lnSpc>
              <a:spcBef>
                <a:spcPts val="0"/>
              </a:spcBef>
              <a:spcAft>
                <a:spcPts val="500"/>
              </a:spcAft>
            </a:pPr>
            <a:r>
              <a:rPr sz="1400" b="0">
                <a:solidFill>
                  <a:srgbClr val="FFFFFF"/>
                </a:solidFill>
                <a:latin typeface="Aptos"/>
              </a:rPr>
              <a:t>Entrées, transformations, sorties</a:t>
            </a:r>
          </a:p>
        </p:txBody>
      </p:sp>
      <p:sp>
        <p:nvSpPr>
          <p:cNvPr id="10" name="Chevron 9"/>
          <p:cNvSpPr/>
          <p:nvPr/>
        </p:nvSpPr>
        <p:spPr>
          <a:xfrm>
            <a:off x="4123944" y="3136392"/>
            <a:ext cx="155448" cy="201168"/>
          </a:xfrm>
          <a:prstGeom prst="chevron">
            <a:avLst/>
          </a:prstGeom>
          <a:solidFill>
            <a:srgbClr val="5261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4379976" y="2532888"/>
            <a:ext cx="3429000" cy="1472184"/>
          </a:xfrm>
          <a:prstGeom prst="roundRect">
            <a:avLst>
              <a:gd name="adj" fmla="val 12000"/>
            </a:avLst>
          </a:prstGeom>
          <a:solidFill>
            <a:srgbClr val="007F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44568" y="2706624"/>
            <a:ext cx="3099816" cy="402336"/>
          </a:xfrm>
          <a:prstGeom prst="rect">
            <a:avLst/>
          </a:prstGeom>
          <a:noFill/>
        </p:spPr>
        <p:txBody>
          <a:bodyPr wrap="square" lIns="0" rIns="0" tIns="0" bIns="0" anchor="t">
            <a:noAutofit/>
          </a:bodyPr>
          <a:lstStyle/>
          <a:p>
            <a:pPr algn="ctr">
              <a:lnSpc>
                <a:spcPct val="108000"/>
              </a:lnSpc>
              <a:spcBef>
                <a:spcPts val="0"/>
              </a:spcBef>
              <a:spcAft>
                <a:spcPts val="500"/>
              </a:spcAft>
            </a:pPr>
            <a:r>
              <a:rPr sz="1900" b="1">
                <a:solidFill>
                  <a:srgbClr val="FFFFFF"/>
                </a:solidFill>
                <a:latin typeface="Aptos"/>
              </a:rPr>
              <a:t>Exporter</a:t>
            </a:r>
          </a:p>
        </p:txBody>
      </p:sp>
      <p:sp>
        <p:nvSpPr>
          <p:cNvPr id="13" name="TextBox 12"/>
          <p:cNvSpPr txBox="1"/>
          <p:nvPr/>
        </p:nvSpPr>
        <p:spPr>
          <a:xfrm>
            <a:off x="4544568" y="3209544"/>
            <a:ext cx="3099816" cy="731520"/>
          </a:xfrm>
          <a:prstGeom prst="rect">
            <a:avLst/>
          </a:prstGeom>
          <a:noFill/>
        </p:spPr>
        <p:txBody>
          <a:bodyPr wrap="square" lIns="0" rIns="0" tIns="0" bIns="0" anchor="t">
            <a:noAutofit/>
          </a:bodyPr>
          <a:lstStyle/>
          <a:p>
            <a:pPr algn="ctr">
              <a:lnSpc>
                <a:spcPct val="108000"/>
              </a:lnSpc>
              <a:spcBef>
                <a:spcPts val="0"/>
              </a:spcBef>
              <a:spcAft>
                <a:spcPts val="500"/>
              </a:spcAft>
            </a:pPr>
            <a:r>
              <a:rPr sz="1400" b="0">
                <a:solidFill>
                  <a:srgbClr val="FFFFFF"/>
                </a:solidFill>
                <a:latin typeface="Aptos"/>
              </a:rPr>
              <a:t>PowerQuery/*.pq ; Sources/*.json</a:t>
            </a:r>
          </a:p>
        </p:txBody>
      </p:sp>
      <p:sp>
        <p:nvSpPr>
          <p:cNvPr id="14" name="Chevron 13"/>
          <p:cNvSpPr/>
          <p:nvPr/>
        </p:nvSpPr>
        <p:spPr>
          <a:xfrm>
            <a:off x="7909560" y="3136392"/>
            <a:ext cx="155448" cy="201168"/>
          </a:xfrm>
          <a:prstGeom prst="chevron">
            <a:avLst/>
          </a:prstGeom>
          <a:solidFill>
            <a:srgbClr val="5261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8165592" y="2532888"/>
            <a:ext cx="3429000" cy="1472184"/>
          </a:xfrm>
          <a:prstGeom prst="roundRect">
            <a:avLst>
              <a:gd name="adj" fmla="val 12000"/>
            </a:avLst>
          </a:prstGeom>
          <a:solidFill>
            <a:srgbClr val="1826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330183" y="2706624"/>
            <a:ext cx="3099816" cy="402336"/>
          </a:xfrm>
          <a:prstGeom prst="rect">
            <a:avLst/>
          </a:prstGeom>
          <a:noFill/>
        </p:spPr>
        <p:txBody>
          <a:bodyPr wrap="square" lIns="0" rIns="0" tIns="0" bIns="0" anchor="t">
            <a:noAutofit/>
          </a:bodyPr>
          <a:lstStyle/>
          <a:p>
            <a:pPr algn="ctr">
              <a:lnSpc>
                <a:spcPct val="108000"/>
              </a:lnSpc>
              <a:spcBef>
                <a:spcPts val="0"/>
              </a:spcBef>
              <a:spcAft>
                <a:spcPts val="500"/>
              </a:spcAft>
            </a:pPr>
            <a:r>
              <a:rPr sz="1900" b="1">
                <a:solidFill>
                  <a:srgbClr val="FFFFFF"/>
                </a:solidFill>
                <a:latin typeface="Aptos"/>
              </a:rPr>
              <a:t>Évaluer &amp; relier</a:t>
            </a:r>
          </a:p>
        </p:txBody>
      </p:sp>
      <p:sp>
        <p:nvSpPr>
          <p:cNvPr id="17" name="TextBox 16"/>
          <p:cNvSpPr txBox="1"/>
          <p:nvPr/>
        </p:nvSpPr>
        <p:spPr>
          <a:xfrm>
            <a:off x="8330183" y="3209544"/>
            <a:ext cx="3099816" cy="731520"/>
          </a:xfrm>
          <a:prstGeom prst="rect">
            <a:avLst/>
          </a:prstGeom>
          <a:noFill/>
        </p:spPr>
        <p:txBody>
          <a:bodyPr wrap="square" lIns="0" rIns="0" tIns="0" bIns="0" anchor="t">
            <a:noAutofit/>
          </a:bodyPr>
          <a:lstStyle/>
          <a:p>
            <a:pPr algn="ctr">
              <a:lnSpc>
                <a:spcPct val="108000"/>
              </a:lnSpc>
              <a:spcBef>
                <a:spcPts val="0"/>
              </a:spcBef>
              <a:spcAft>
                <a:spcPts val="500"/>
              </a:spcAft>
            </a:pPr>
            <a:r>
              <a:rPr sz="1400" b="0">
                <a:solidFill>
                  <a:srgbClr val="FFFFFF"/>
                </a:solidFill>
                <a:latin typeface="Aptos"/>
              </a:rPr>
              <a:t>assessment.json ; lignage inter-flows</a:t>
            </a:r>
          </a:p>
        </p:txBody>
      </p:sp>
      <p:sp>
        <p:nvSpPr>
          <p:cNvPr id="18" name="TextBox 17"/>
          <p:cNvSpPr txBox="1"/>
          <p:nvPr/>
        </p:nvSpPr>
        <p:spPr>
          <a:xfrm>
            <a:off x="658368" y="4507992"/>
            <a:ext cx="10789920" cy="649224"/>
          </a:xfrm>
          <a:prstGeom prst="rect">
            <a:avLst/>
          </a:prstGeom>
          <a:noFill/>
        </p:spPr>
        <p:txBody>
          <a:bodyPr wrap="square" lIns="0" rIns="0" tIns="0" bIns="0" anchor="t">
            <a:noAutofit/>
          </a:bodyPr>
          <a:lstStyle/>
          <a:p>
            <a:pPr algn="l">
              <a:lnSpc>
                <a:spcPct val="108000"/>
              </a:lnSpc>
              <a:spcBef>
                <a:spcPts val="0"/>
              </a:spcBef>
              <a:spcAft>
                <a:spcPts val="500"/>
              </a:spcAft>
            </a:pPr>
            <a:r>
              <a:rPr sz="1800" b="0">
                <a:solidFill>
                  <a:srgbClr val="182630"/>
                </a:solidFill>
                <a:latin typeface="Aptos"/>
              </a:rPr>
              <a:t>Lignage croisé automatique si au moins 2 flows réussissent.</a:t>
            </a:r>
          </a:p>
          <a:p>
            <a:pPr algn="l">
              <a:lnSpc>
                <a:spcPct val="108000"/>
              </a:lnSpc>
              <a:spcBef>
                <a:spcPts val="0"/>
              </a:spcBef>
              <a:spcAft>
                <a:spcPts val="500"/>
              </a:spcAft>
            </a:pPr>
            <a:r>
              <a:rPr sz="1800" b="0">
                <a:solidFill>
                  <a:srgbClr val="182630"/>
                </a:solidFill>
                <a:latin typeface="Aptos"/>
              </a:rPr>
              <a:t>Parser et dialectes bornés : opérations non prises en charge à revoir.</a:t>
            </a:r>
          </a:p>
        </p:txBody>
      </p:sp>
      <p:sp>
        <p:nvSpPr>
          <p:cNvPr id="19" name="Rounded Rectangle 18"/>
          <p:cNvSpPr/>
          <p:nvPr/>
        </p:nvSpPr>
        <p:spPr>
          <a:xfrm>
            <a:off x="594360" y="5522976"/>
            <a:ext cx="11000232" cy="429768"/>
          </a:xfrm>
          <a:prstGeom prst="roundRect">
            <a:avLst>
              <a:gd name="adj" fmla="val 12000"/>
            </a:avLst>
          </a:prstGeom>
          <a:solidFill>
            <a:srgbClr val="1826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86384" y="5614416"/>
            <a:ext cx="10616184" cy="256032"/>
          </a:xfrm>
          <a:prstGeom prst="rect">
            <a:avLst/>
          </a:prstGeom>
          <a:noFill/>
        </p:spPr>
        <p:txBody>
          <a:bodyPr wrap="square" lIns="0" rIns="0" tIns="0" bIns="0" anchor="t">
            <a:noAutofit/>
          </a:bodyPr>
          <a:lstStyle/>
          <a:p>
            <a:pPr algn="l">
              <a:lnSpc>
                <a:spcPct val="108000"/>
              </a:lnSpc>
              <a:spcBef>
                <a:spcPts val="0"/>
              </a:spcBef>
              <a:spcAft>
                <a:spcPts val="500"/>
              </a:spcAft>
            </a:pPr>
            <a:r>
              <a:rPr sz="1300" b="1">
                <a:solidFill>
                  <a:srgbClr val="FFFFFF"/>
                </a:solidFill>
                <a:latin typeface="Aptos"/>
              </a:rPr>
              <a:t>Joins, agrégations et expressions converties doivent être validés sur les données.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5F7F8"/>
        </a:solidFill>
        <a:effectLst/>
      </p:bgPr>
    </p:bg>
    <p:spTree>
      <p:nvGrpSpPr>
        <p:cNvPr id="1" name=""/>
        <p:cNvGrpSpPr/>
        <p:nvPr/>
      </p:nvGrpSpPr>
      <p:grpSpPr/>
      <p:sp>
        <p:nvSpPr>
          <p:cNvPr id="2" name="TextBox 1"/>
          <p:cNvSpPr txBox="1"/>
          <p:nvPr/>
        </p:nvSpPr>
        <p:spPr>
          <a:xfrm>
            <a:off x="594360" y="466344"/>
            <a:ext cx="10789920" cy="201168"/>
          </a:xfrm>
          <a:prstGeom prst="rect">
            <a:avLst/>
          </a:prstGeom>
          <a:noFill/>
        </p:spPr>
        <p:txBody>
          <a:bodyPr wrap="square" lIns="0" rIns="0" tIns="0" bIns="0" anchor="t">
            <a:noAutofit/>
          </a:bodyPr>
          <a:lstStyle/>
          <a:p>
            <a:pPr algn="l">
              <a:lnSpc>
                <a:spcPct val="108000"/>
              </a:lnSpc>
              <a:spcBef>
                <a:spcPts val="0"/>
              </a:spcBef>
              <a:spcAft>
                <a:spcPts val="500"/>
              </a:spcAft>
            </a:pPr>
            <a:r>
              <a:rPr sz="1050" b="1">
                <a:solidFill>
                  <a:srgbClr val="007F79"/>
                </a:solidFill>
                <a:latin typeface="Aptos"/>
              </a:rPr>
              <a:t>SORTIE FABRIC</a:t>
            </a:r>
          </a:p>
        </p:txBody>
      </p:sp>
      <p:sp>
        <p:nvSpPr>
          <p:cNvPr id="3" name="Slide title"/>
          <p:cNvSpPr txBox="1"/>
          <p:nvPr/>
        </p:nvSpPr>
        <p:spPr>
          <a:xfrm>
            <a:off x="594360" y="859536"/>
            <a:ext cx="11000232" cy="685800"/>
          </a:xfrm>
          <a:prstGeom prst="rect">
            <a:avLst/>
          </a:prstGeom>
          <a:noFill/>
        </p:spPr>
        <p:txBody>
          <a:bodyPr wrap="square" lIns="0" rIns="0" tIns="0" bIns="0" anchor="t">
            <a:noAutofit/>
          </a:bodyPr>
          <a:lstStyle/>
          <a:p>
            <a:pPr algn="l">
              <a:lnSpc>
                <a:spcPct val="108000"/>
              </a:lnSpc>
              <a:spcBef>
                <a:spcPts val="0"/>
              </a:spcBef>
              <a:spcAft>
                <a:spcPts val="500"/>
              </a:spcAft>
            </a:pPr>
            <a:r>
              <a:rPr sz="3600" b="1">
                <a:solidFill>
                  <a:srgbClr val="182630"/>
                </a:solidFill>
                <a:latin typeface="Aptos Display"/>
              </a:rPr>
              <a:t>Fabric : un scaffold à configurer et déployer</a:t>
            </a:r>
          </a:p>
        </p:txBody>
      </p:sp>
      <p:sp>
        <p:nvSpPr>
          <p:cNvPr id="4" name="TextBox 3"/>
          <p:cNvSpPr txBox="1"/>
          <p:nvPr/>
        </p:nvSpPr>
        <p:spPr>
          <a:xfrm>
            <a:off x="594360" y="1673352"/>
            <a:ext cx="11000232" cy="493776"/>
          </a:xfrm>
          <a:prstGeom prst="rect">
            <a:avLst/>
          </a:prstGeom>
          <a:noFill/>
        </p:spPr>
        <p:txBody>
          <a:bodyPr wrap="square" lIns="0" rIns="0" tIns="0" bIns="0" anchor="t">
            <a:noAutofit/>
          </a:bodyPr>
          <a:lstStyle/>
          <a:p>
            <a:pPr algn="l">
              <a:lnSpc>
                <a:spcPct val="108000"/>
              </a:lnSpc>
              <a:spcBef>
                <a:spcPts val="0"/>
              </a:spcBef>
              <a:spcAft>
                <a:spcPts val="500"/>
              </a:spcAft>
            </a:pPr>
            <a:r>
              <a:rPr sz="1500" b="0">
                <a:solidFill>
                  <a:srgbClr val="52616C"/>
                </a:solidFill>
                <a:latin typeface="Aptos"/>
              </a:rPr>
              <a:t>Les artefacts sont générés localement ; la présence d'un fichier n'est pas une exécution cloud.</a:t>
            </a:r>
          </a:p>
        </p:txBody>
      </p:sp>
      <p:sp>
        <p:nvSpPr>
          <p:cNvPr id="5" name="TextBox 4"/>
          <p:cNvSpPr txBox="1"/>
          <p:nvPr/>
        </p:nvSpPr>
        <p:spPr>
          <a:xfrm>
            <a:off x="594360" y="6199632"/>
            <a:ext cx="10149840" cy="182880"/>
          </a:xfrm>
          <a:prstGeom prst="rect">
            <a:avLst/>
          </a:prstGeom>
          <a:noFill/>
        </p:spPr>
        <p:txBody>
          <a:bodyPr wrap="square" lIns="0" rIns="0" tIns="0" bIns="0" anchor="t">
            <a:noAutofit/>
          </a:bodyPr>
          <a:lstStyle/>
          <a:p>
            <a:pPr algn="l">
              <a:lnSpc>
                <a:spcPct val="108000"/>
              </a:lnSpc>
              <a:spcBef>
                <a:spcPts val="0"/>
              </a:spcBef>
              <a:spcAft>
                <a:spcPts val="500"/>
              </a:spcAft>
            </a:pPr>
            <a:r>
              <a:rPr sz="1000" b="0">
                <a:solidFill>
                  <a:srgbClr val="52616C"/>
                </a:solidFill>
                <a:latin typeface="Aptos"/>
              </a:rPr>
              <a:t>Tableau to Power BI  |  Édition 26.10.2026  |  Sortie Fabric</a:t>
            </a:r>
          </a:p>
        </p:txBody>
      </p:sp>
      <p:sp>
        <p:nvSpPr>
          <p:cNvPr id="6" name="TextBox 5"/>
          <p:cNvSpPr txBox="1"/>
          <p:nvPr/>
        </p:nvSpPr>
        <p:spPr>
          <a:xfrm>
            <a:off x="11000232" y="6181344"/>
            <a:ext cx="594360" cy="210312"/>
          </a:xfrm>
          <a:prstGeom prst="rect">
            <a:avLst/>
          </a:prstGeom>
          <a:noFill/>
        </p:spPr>
        <p:txBody>
          <a:bodyPr wrap="square" lIns="0" rIns="0" tIns="0" bIns="0" anchor="t">
            <a:noAutofit/>
          </a:bodyPr>
          <a:lstStyle/>
          <a:p>
            <a:pPr algn="r">
              <a:lnSpc>
                <a:spcPct val="108000"/>
              </a:lnSpc>
              <a:spcBef>
                <a:spcPts val="0"/>
              </a:spcBef>
              <a:spcAft>
                <a:spcPts val="500"/>
              </a:spcAft>
            </a:pPr>
            <a:r>
              <a:rPr sz="1100" b="0">
                <a:solidFill>
                  <a:srgbClr val="52616C"/>
                </a:solidFill>
                <a:latin typeface="Aptos"/>
              </a:rPr>
              <a:t>13</a:t>
            </a:r>
          </a:p>
        </p:txBody>
      </p:sp>
      <p:sp>
        <p:nvSpPr>
          <p:cNvPr id="7" name="Rounded Rectangle 6"/>
          <p:cNvSpPr/>
          <p:nvPr/>
        </p:nvSpPr>
        <p:spPr>
          <a:xfrm>
            <a:off x="594360" y="2496312"/>
            <a:ext cx="3429000" cy="1261872"/>
          </a:xfrm>
          <a:prstGeom prst="roundRect">
            <a:avLst>
              <a:gd name="adj" fmla="val 12000"/>
            </a:avLst>
          </a:prstGeom>
          <a:solidFill>
            <a:srgbClr val="007F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58952" y="2670048"/>
            <a:ext cx="3099816" cy="402336"/>
          </a:xfrm>
          <a:prstGeom prst="rect">
            <a:avLst/>
          </a:prstGeom>
          <a:noFill/>
        </p:spPr>
        <p:txBody>
          <a:bodyPr wrap="square" lIns="0" rIns="0" tIns="0" bIns="0" anchor="t">
            <a:noAutofit/>
          </a:bodyPr>
          <a:lstStyle/>
          <a:p>
            <a:pPr algn="ctr">
              <a:lnSpc>
                <a:spcPct val="108000"/>
              </a:lnSpc>
              <a:spcBef>
                <a:spcPts val="0"/>
              </a:spcBef>
              <a:spcAft>
                <a:spcPts val="500"/>
              </a:spcAft>
            </a:pPr>
            <a:r>
              <a:rPr sz="1900" b="1">
                <a:solidFill>
                  <a:srgbClr val="FFFFFF"/>
                </a:solidFill>
                <a:latin typeface="Aptos"/>
              </a:rPr>
              <a:t>Dataflow Gen2</a:t>
            </a:r>
          </a:p>
        </p:txBody>
      </p:sp>
      <p:sp>
        <p:nvSpPr>
          <p:cNvPr id="9" name="TextBox 8"/>
          <p:cNvSpPr txBox="1"/>
          <p:nvPr/>
        </p:nvSpPr>
        <p:spPr>
          <a:xfrm>
            <a:off x="758952" y="3172968"/>
            <a:ext cx="3099816" cy="521207"/>
          </a:xfrm>
          <a:prstGeom prst="rect">
            <a:avLst/>
          </a:prstGeom>
          <a:noFill/>
        </p:spPr>
        <p:txBody>
          <a:bodyPr wrap="square" lIns="0" rIns="0" tIns="0" bIns="0" anchor="t">
            <a:noAutofit/>
          </a:bodyPr>
          <a:lstStyle/>
          <a:p>
            <a:pPr algn="ctr">
              <a:lnSpc>
                <a:spcPct val="108000"/>
              </a:lnSpc>
              <a:spcBef>
                <a:spcPts val="0"/>
              </a:spcBef>
              <a:spcAft>
                <a:spcPts val="500"/>
              </a:spcAft>
            </a:pPr>
            <a:r>
              <a:rPr sz="1400" b="0">
                <a:solidFill>
                  <a:srgbClr val="FFFFFF"/>
                </a:solidFill>
                <a:latin typeface="Aptos"/>
              </a:rPr>
              <a:t>Ingestion M</a:t>
            </a:r>
          </a:p>
        </p:txBody>
      </p:sp>
      <p:sp>
        <p:nvSpPr>
          <p:cNvPr id="10" name="Chevron 9"/>
          <p:cNvSpPr/>
          <p:nvPr/>
        </p:nvSpPr>
        <p:spPr>
          <a:xfrm>
            <a:off x="4123944" y="3035808"/>
            <a:ext cx="155448" cy="201168"/>
          </a:xfrm>
          <a:prstGeom prst="chevron">
            <a:avLst/>
          </a:prstGeom>
          <a:solidFill>
            <a:srgbClr val="5261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4379976" y="2496312"/>
            <a:ext cx="3429000" cy="1261872"/>
          </a:xfrm>
          <a:prstGeom prst="roundRect">
            <a:avLst>
              <a:gd name="adj" fmla="val 12000"/>
            </a:avLst>
          </a:prstGeom>
          <a:solidFill>
            <a:srgbClr val="1826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44568" y="2670048"/>
            <a:ext cx="3099816" cy="402336"/>
          </a:xfrm>
          <a:prstGeom prst="rect">
            <a:avLst/>
          </a:prstGeom>
          <a:noFill/>
        </p:spPr>
        <p:txBody>
          <a:bodyPr wrap="square" lIns="0" rIns="0" tIns="0" bIns="0" anchor="t">
            <a:noAutofit/>
          </a:bodyPr>
          <a:lstStyle/>
          <a:p>
            <a:pPr algn="ctr">
              <a:lnSpc>
                <a:spcPct val="108000"/>
              </a:lnSpc>
              <a:spcBef>
                <a:spcPts val="0"/>
              </a:spcBef>
              <a:spcAft>
                <a:spcPts val="500"/>
              </a:spcAft>
            </a:pPr>
            <a:r>
              <a:rPr sz="1900" b="1">
                <a:solidFill>
                  <a:srgbClr val="FFFFFF"/>
                </a:solidFill>
                <a:latin typeface="Aptos"/>
              </a:rPr>
              <a:t>Notebook</a:t>
            </a:r>
          </a:p>
        </p:txBody>
      </p:sp>
      <p:sp>
        <p:nvSpPr>
          <p:cNvPr id="13" name="TextBox 12"/>
          <p:cNvSpPr txBox="1"/>
          <p:nvPr/>
        </p:nvSpPr>
        <p:spPr>
          <a:xfrm>
            <a:off x="4544568" y="3172968"/>
            <a:ext cx="3099816" cy="521207"/>
          </a:xfrm>
          <a:prstGeom prst="rect">
            <a:avLst/>
          </a:prstGeom>
          <a:noFill/>
        </p:spPr>
        <p:txBody>
          <a:bodyPr wrap="square" lIns="0" rIns="0" tIns="0" bIns="0" anchor="t">
            <a:noAutofit/>
          </a:bodyPr>
          <a:lstStyle/>
          <a:p>
            <a:pPr algn="ctr">
              <a:lnSpc>
                <a:spcPct val="108000"/>
              </a:lnSpc>
              <a:spcBef>
                <a:spcPts val="0"/>
              </a:spcBef>
              <a:spcAft>
                <a:spcPts val="500"/>
              </a:spcAft>
            </a:pPr>
            <a:r>
              <a:rPr sz="1400" b="0">
                <a:solidFill>
                  <a:srgbClr val="FFFFFF"/>
                </a:solidFill>
                <a:latin typeface="Aptos"/>
              </a:rPr>
              <a:t>ETL / transformations</a:t>
            </a:r>
          </a:p>
        </p:txBody>
      </p:sp>
      <p:sp>
        <p:nvSpPr>
          <p:cNvPr id="14" name="Chevron 13"/>
          <p:cNvSpPr/>
          <p:nvPr/>
        </p:nvSpPr>
        <p:spPr>
          <a:xfrm>
            <a:off x="7909560" y="3035808"/>
            <a:ext cx="155448" cy="201168"/>
          </a:xfrm>
          <a:prstGeom prst="chevron">
            <a:avLst/>
          </a:prstGeom>
          <a:solidFill>
            <a:srgbClr val="5261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8165592" y="2496312"/>
            <a:ext cx="3429000" cy="1261872"/>
          </a:xfrm>
          <a:prstGeom prst="roundRect">
            <a:avLst>
              <a:gd name="adj" fmla="val 12000"/>
            </a:avLst>
          </a:prstGeom>
          <a:solidFill>
            <a:srgbClr val="1826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330183" y="2670048"/>
            <a:ext cx="3099816" cy="402336"/>
          </a:xfrm>
          <a:prstGeom prst="rect">
            <a:avLst/>
          </a:prstGeom>
          <a:noFill/>
        </p:spPr>
        <p:txBody>
          <a:bodyPr wrap="square" lIns="0" rIns="0" tIns="0" bIns="0" anchor="t">
            <a:noAutofit/>
          </a:bodyPr>
          <a:lstStyle/>
          <a:p>
            <a:pPr algn="ctr">
              <a:lnSpc>
                <a:spcPct val="108000"/>
              </a:lnSpc>
              <a:spcBef>
                <a:spcPts val="0"/>
              </a:spcBef>
              <a:spcAft>
                <a:spcPts val="500"/>
              </a:spcAft>
            </a:pPr>
            <a:r>
              <a:rPr sz="1900" b="1">
                <a:solidFill>
                  <a:srgbClr val="FFFFFF"/>
                </a:solidFill>
                <a:latin typeface="Aptos"/>
              </a:rPr>
              <a:t>DirectLake</a:t>
            </a:r>
          </a:p>
        </p:txBody>
      </p:sp>
      <p:sp>
        <p:nvSpPr>
          <p:cNvPr id="17" name="TextBox 16"/>
          <p:cNvSpPr txBox="1"/>
          <p:nvPr/>
        </p:nvSpPr>
        <p:spPr>
          <a:xfrm>
            <a:off x="8330183" y="3172968"/>
            <a:ext cx="3099816" cy="521207"/>
          </a:xfrm>
          <a:prstGeom prst="rect">
            <a:avLst/>
          </a:prstGeom>
          <a:noFill/>
        </p:spPr>
        <p:txBody>
          <a:bodyPr wrap="square" lIns="0" rIns="0" tIns="0" bIns="0" anchor="t">
            <a:noAutofit/>
          </a:bodyPr>
          <a:lstStyle/>
          <a:p>
            <a:pPr algn="ctr">
              <a:lnSpc>
                <a:spcPct val="108000"/>
              </a:lnSpc>
              <a:spcBef>
                <a:spcPts val="0"/>
              </a:spcBef>
              <a:spcAft>
                <a:spcPts val="500"/>
              </a:spcAft>
            </a:pPr>
            <a:r>
              <a:rPr sz="1400" b="0">
                <a:solidFill>
                  <a:srgbClr val="FFFFFF"/>
                </a:solidFill>
                <a:latin typeface="Aptos"/>
              </a:rPr>
              <a:t>Modèle sémantique</a:t>
            </a:r>
          </a:p>
        </p:txBody>
      </p:sp>
      <p:sp>
        <p:nvSpPr>
          <p:cNvPr id="18" name="Rounded Rectangle 17"/>
          <p:cNvSpPr/>
          <p:nvPr/>
        </p:nvSpPr>
        <p:spPr>
          <a:xfrm>
            <a:off x="594360" y="4233672"/>
            <a:ext cx="11000232" cy="512064"/>
          </a:xfrm>
          <a:prstGeom prst="roundRect">
            <a:avLst>
              <a:gd name="adj" fmla="val 12000"/>
            </a:avLst>
          </a:prstGeom>
          <a:solidFill>
            <a:srgbClr val="E0F1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2960" y="4352544"/>
            <a:ext cx="10543032" cy="265176"/>
          </a:xfrm>
          <a:prstGeom prst="rect">
            <a:avLst/>
          </a:prstGeom>
          <a:noFill/>
        </p:spPr>
        <p:txBody>
          <a:bodyPr wrap="square" lIns="0" rIns="0" tIns="0" bIns="0" anchor="t">
            <a:noAutofit/>
          </a:bodyPr>
          <a:lstStyle/>
          <a:p>
            <a:pPr algn="l">
              <a:lnSpc>
                <a:spcPct val="108000"/>
              </a:lnSpc>
              <a:spcBef>
                <a:spcPts val="0"/>
              </a:spcBef>
              <a:spcAft>
                <a:spcPts val="500"/>
              </a:spcAft>
            </a:pPr>
            <a:r>
              <a:rPr sz="1700" b="1">
                <a:solidFill>
                  <a:srgbClr val="007F79"/>
                </a:solidFill>
                <a:latin typeface="Aptos"/>
              </a:rPr>
              <a:t>Lakehouse / OneLake : tables Delta et staging propres à la route Fabric</a:t>
            </a:r>
          </a:p>
        </p:txBody>
      </p:sp>
      <p:sp>
        <p:nvSpPr>
          <p:cNvPr id="20" name="TextBox 19"/>
          <p:cNvSpPr txBox="1"/>
          <p:nvPr/>
        </p:nvSpPr>
        <p:spPr>
          <a:xfrm>
            <a:off x="658368" y="5010912"/>
            <a:ext cx="10789920" cy="347472"/>
          </a:xfrm>
          <a:prstGeom prst="rect">
            <a:avLst/>
          </a:prstGeom>
          <a:noFill/>
        </p:spPr>
        <p:txBody>
          <a:bodyPr wrap="square" lIns="0" rIns="0" tIns="0" bIns="0" anchor="t">
            <a:noAutofit/>
          </a:bodyPr>
          <a:lstStyle/>
          <a:p>
            <a:pPr algn="l">
              <a:lnSpc>
                <a:spcPct val="108000"/>
              </a:lnSpc>
              <a:spcBef>
                <a:spcPts val="0"/>
              </a:spcBef>
              <a:spcAft>
                <a:spcPts val="500"/>
              </a:spcAft>
            </a:pPr>
            <a:r>
              <a:rPr sz="1700" b="0">
                <a:solidFill>
                  <a:srgbClr val="182630"/>
                </a:solidFill>
                <a:latin typeface="Aptos"/>
              </a:rPr>
              <a:t>Pipeline : Dataflow → Notebook → refresh du modèle ; identifiants à renseigner.</a:t>
            </a:r>
          </a:p>
        </p:txBody>
      </p:sp>
      <p:sp>
        <p:nvSpPr>
          <p:cNvPr id="21" name="Rounded Rectangle 20"/>
          <p:cNvSpPr/>
          <p:nvPr/>
        </p:nvSpPr>
        <p:spPr>
          <a:xfrm>
            <a:off x="594360" y="5522976"/>
            <a:ext cx="11000232" cy="429768"/>
          </a:xfrm>
          <a:prstGeom prst="roundRect">
            <a:avLst>
              <a:gd name="adj" fmla="val 12000"/>
            </a:avLst>
          </a:prstGeom>
          <a:solidFill>
            <a:srgbClr val="1826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86384" y="5614416"/>
            <a:ext cx="10616184" cy="256032"/>
          </a:xfrm>
          <a:prstGeom prst="rect">
            <a:avLst/>
          </a:prstGeom>
          <a:noFill/>
        </p:spPr>
        <p:txBody>
          <a:bodyPr wrap="square" lIns="0" rIns="0" tIns="0" bIns="0" anchor="t">
            <a:noAutofit/>
          </a:bodyPr>
          <a:lstStyle/>
          <a:p>
            <a:pPr algn="l">
              <a:lnSpc>
                <a:spcPct val="108000"/>
              </a:lnSpc>
              <a:spcBef>
                <a:spcPts val="0"/>
              </a:spcBef>
              <a:spcAft>
                <a:spcPts val="500"/>
              </a:spcAft>
            </a:pPr>
            <a:r>
              <a:rPr sz="1300" b="1">
                <a:solidFill>
                  <a:srgbClr val="FFFFFF"/>
                </a:solidFill>
                <a:latin typeface="Aptos"/>
              </a:rPr>
              <a:t>Connexions, capacité, identités, IDs d'activités et exécution restent à configurer.</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5F7F8"/>
        </a:solidFill>
        <a:effectLst/>
      </p:bgPr>
    </p:bg>
    <p:spTree>
      <p:nvGrpSpPr>
        <p:cNvPr id="1" name=""/>
        <p:cNvGrpSpPr/>
        <p:nvPr/>
      </p:nvGrpSpPr>
      <p:grpSpPr/>
      <p:sp>
        <p:nvSpPr>
          <p:cNvPr id="2" name="TextBox 1"/>
          <p:cNvSpPr txBox="1"/>
          <p:nvPr/>
        </p:nvSpPr>
        <p:spPr>
          <a:xfrm>
            <a:off x="594360" y="466344"/>
            <a:ext cx="10789920" cy="201168"/>
          </a:xfrm>
          <a:prstGeom prst="rect">
            <a:avLst/>
          </a:prstGeom>
          <a:noFill/>
        </p:spPr>
        <p:txBody>
          <a:bodyPr wrap="square" lIns="0" rIns="0" tIns="0" bIns="0" anchor="t">
            <a:noAutofit/>
          </a:bodyPr>
          <a:lstStyle/>
          <a:p>
            <a:pPr algn="l">
              <a:lnSpc>
                <a:spcPct val="108000"/>
              </a:lnSpc>
              <a:spcBef>
                <a:spcPts val="0"/>
              </a:spcBef>
              <a:spcAft>
                <a:spcPts val="500"/>
              </a:spcAft>
            </a:pPr>
            <a:r>
              <a:rPr sz="1050" b="1">
                <a:solidFill>
                  <a:srgbClr val="007F79"/>
                </a:solidFill>
                <a:latin typeface="Aptos"/>
              </a:rPr>
              <a:t>QUALITÉ &amp; RECETTE</a:t>
            </a:r>
          </a:p>
        </p:txBody>
      </p:sp>
      <p:sp>
        <p:nvSpPr>
          <p:cNvPr id="3" name="Slide title"/>
          <p:cNvSpPr txBox="1"/>
          <p:nvPr/>
        </p:nvSpPr>
        <p:spPr>
          <a:xfrm>
            <a:off x="594360" y="859536"/>
            <a:ext cx="11000232" cy="685800"/>
          </a:xfrm>
          <a:prstGeom prst="rect">
            <a:avLst/>
          </a:prstGeom>
          <a:noFill/>
        </p:spPr>
        <p:txBody>
          <a:bodyPr wrap="square" lIns="0" rIns="0" tIns="0" bIns="0" anchor="t">
            <a:noAutofit/>
          </a:bodyPr>
          <a:lstStyle/>
          <a:p>
            <a:pPr algn="l">
              <a:lnSpc>
                <a:spcPct val="108000"/>
              </a:lnSpc>
              <a:spcBef>
                <a:spcPts val="0"/>
              </a:spcBef>
              <a:spcAft>
                <a:spcPts val="500"/>
              </a:spcAft>
            </a:pPr>
            <a:r>
              <a:rPr sz="3600" b="1">
                <a:solidFill>
                  <a:srgbClr val="182630"/>
                </a:solidFill>
                <a:latin typeface="Aptos Display"/>
              </a:rPr>
              <a:t>Empiler les preuves, sans les confondre</a:t>
            </a:r>
          </a:p>
        </p:txBody>
      </p:sp>
      <p:sp>
        <p:nvSpPr>
          <p:cNvPr id="4" name="TextBox 3"/>
          <p:cNvSpPr txBox="1"/>
          <p:nvPr/>
        </p:nvSpPr>
        <p:spPr>
          <a:xfrm>
            <a:off x="594360" y="1673352"/>
            <a:ext cx="11000232" cy="493776"/>
          </a:xfrm>
          <a:prstGeom prst="rect">
            <a:avLst/>
          </a:prstGeom>
          <a:noFill/>
        </p:spPr>
        <p:txBody>
          <a:bodyPr wrap="square" lIns="0" rIns="0" tIns="0" bIns="0" anchor="t">
            <a:noAutofit/>
          </a:bodyPr>
          <a:lstStyle/>
          <a:p>
            <a:pPr algn="l">
              <a:lnSpc>
                <a:spcPct val="108000"/>
              </a:lnSpc>
              <a:spcBef>
                <a:spcPts val="0"/>
              </a:spcBef>
              <a:spcAft>
                <a:spcPts val="500"/>
              </a:spcAft>
            </a:pPr>
            <a:r>
              <a:rPr sz="1500" b="0">
                <a:solidFill>
                  <a:srgbClr val="52616C"/>
                </a:solidFill>
                <a:latin typeface="Aptos"/>
              </a:rPr>
              <a:t>Une vérification non exécutée reste not_run ; un PASS statique ne la remplace pas.</a:t>
            </a:r>
          </a:p>
        </p:txBody>
      </p:sp>
      <p:sp>
        <p:nvSpPr>
          <p:cNvPr id="5" name="TextBox 4"/>
          <p:cNvSpPr txBox="1"/>
          <p:nvPr/>
        </p:nvSpPr>
        <p:spPr>
          <a:xfrm>
            <a:off x="594360" y="6199632"/>
            <a:ext cx="10149840" cy="182880"/>
          </a:xfrm>
          <a:prstGeom prst="rect">
            <a:avLst/>
          </a:prstGeom>
          <a:noFill/>
        </p:spPr>
        <p:txBody>
          <a:bodyPr wrap="square" lIns="0" rIns="0" tIns="0" bIns="0" anchor="t">
            <a:noAutofit/>
          </a:bodyPr>
          <a:lstStyle/>
          <a:p>
            <a:pPr algn="l">
              <a:lnSpc>
                <a:spcPct val="108000"/>
              </a:lnSpc>
              <a:spcBef>
                <a:spcPts val="0"/>
              </a:spcBef>
              <a:spcAft>
                <a:spcPts val="500"/>
              </a:spcAft>
            </a:pPr>
            <a:r>
              <a:rPr sz="1000" b="0">
                <a:solidFill>
                  <a:srgbClr val="52616C"/>
                </a:solidFill>
                <a:latin typeface="Aptos"/>
              </a:rPr>
              <a:t>Tableau to Power BI  |  Édition 26.10.2026  |  Qualité &amp; recette</a:t>
            </a:r>
          </a:p>
        </p:txBody>
      </p:sp>
      <p:sp>
        <p:nvSpPr>
          <p:cNvPr id="6" name="TextBox 5"/>
          <p:cNvSpPr txBox="1"/>
          <p:nvPr/>
        </p:nvSpPr>
        <p:spPr>
          <a:xfrm>
            <a:off x="11000232" y="6181344"/>
            <a:ext cx="594360" cy="210312"/>
          </a:xfrm>
          <a:prstGeom prst="rect">
            <a:avLst/>
          </a:prstGeom>
          <a:noFill/>
        </p:spPr>
        <p:txBody>
          <a:bodyPr wrap="square" lIns="0" rIns="0" tIns="0" bIns="0" anchor="t">
            <a:noAutofit/>
          </a:bodyPr>
          <a:lstStyle/>
          <a:p>
            <a:pPr algn="r">
              <a:lnSpc>
                <a:spcPct val="108000"/>
              </a:lnSpc>
              <a:spcBef>
                <a:spcPts val="0"/>
              </a:spcBef>
              <a:spcAft>
                <a:spcPts val="500"/>
              </a:spcAft>
            </a:pPr>
            <a:r>
              <a:rPr sz="1100" b="0">
                <a:solidFill>
                  <a:srgbClr val="52616C"/>
                </a:solidFill>
                <a:latin typeface="Aptos"/>
              </a:rPr>
              <a:t>14</a:t>
            </a:r>
          </a:p>
        </p:txBody>
      </p:sp>
      <p:sp>
        <p:nvSpPr>
          <p:cNvPr id="7" name="Rounded Rectangle 6"/>
          <p:cNvSpPr/>
          <p:nvPr/>
        </p:nvSpPr>
        <p:spPr>
          <a:xfrm>
            <a:off x="594360" y="2505456"/>
            <a:ext cx="2468880" cy="1755648"/>
          </a:xfrm>
          <a:prstGeom prst="roundRect">
            <a:avLst>
              <a:gd name="adj" fmla="val 12000"/>
            </a:avLst>
          </a:prstGeom>
          <a:solidFill>
            <a:srgbClr val="007F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58952" y="2679192"/>
            <a:ext cx="2139696" cy="402336"/>
          </a:xfrm>
          <a:prstGeom prst="rect">
            <a:avLst/>
          </a:prstGeom>
          <a:noFill/>
        </p:spPr>
        <p:txBody>
          <a:bodyPr wrap="square" lIns="0" rIns="0" tIns="0" bIns="0" anchor="t">
            <a:noAutofit/>
          </a:bodyPr>
          <a:lstStyle/>
          <a:p>
            <a:pPr algn="ctr">
              <a:lnSpc>
                <a:spcPct val="108000"/>
              </a:lnSpc>
              <a:spcBef>
                <a:spcPts val="0"/>
              </a:spcBef>
              <a:spcAft>
                <a:spcPts val="500"/>
              </a:spcAft>
            </a:pPr>
            <a:r>
              <a:rPr sz="1900" b="1">
                <a:solidFill>
                  <a:srgbClr val="FFFFFF"/>
                </a:solidFill>
                <a:latin typeface="Aptos"/>
              </a:rPr>
              <a:t>Structure</a:t>
            </a:r>
          </a:p>
        </p:txBody>
      </p:sp>
      <p:sp>
        <p:nvSpPr>
          <p:cNvPr id="9" name="TextBox 8"/>
          <p:cNvSpPr txBox="1"/>
          <p:nvPr/>
        </p:nvSpPr>
        <p:spPr>
          <a:xfrm>
            <a:off x="758952" y="3182112"/>
            <a:ext cx="2139696" cy="1014983"/>
          </a:xfrm>
          <a:prstGeom prst="rect">
            <a:avLst/>
          </a:prstGeom>
          <a:noFill/>
        </p:spPr>
        <p:txBody>
          <a:bodyPr wrap="square" lIns="0" rIns="0" tIns="0" bIns="0" anchor="t">
            <a:noAutofit/>
          </a:bodyPr>
          <a:lstStyle/>
          <a:p>
            <a:pPr algn="ctr">
              <a:lnSpc>
                <a:spcPct val="108000"/>
              </a:lnSpc>
              <a:spcBef>
                <a:spcPts val="0"/>
              </a:spcBef>
              <a:spcAft>
                <a:spcPts val="500"/>
              </a:spcAft>
            </a:pPr>
            <a:r>
              <a:rPr sz="1400" b="0">
                <a:solidFill>
                  <a:srgbClr val="FFFFFF"/>
                </a:solidFill>
                <a:latin typeface="Aptos"/>
              </a:rPr>
              <a:t>JSON, TMDL,</a:t>
            </a:r>
          </a:p>
          <a:p>
            <a:pPr algn="ctr">
              <a:lnSpc>
                <a:spcPct val="108000"/>
              </a:lnSpc>
              <a:spcBef>
                <a:spcPts val="0"/>
              </a:spcBef>
              <a:spcAft>
                <a:spcPts val="500"/>
              </a:spcAft>
            </a:pPr>
            <a:r>
              <a:rPr sz="1400" b="0">
                <a:solidFill>
                  <a:srgbClr val="FFFFFF"/>
                </a:solidFill>
                <a:latin typeface="Aptos"/>
              </a:rPr>
              <a:t>références et schémas</a:t>
            </a:r>
          </a:p>
        </p:txBody>
      </p:sp>
      <p:sp>
        <p:nvSpPr>
          <p:cNvPr id="10" name="Chevron 9"/>
          <p:cNvSpPr/>
          <p:nvPr/>
        </p:nvSpPr>
        <p:spPr>
          <a:xfrm>
            <a:off x="3145536" y="3264408"/>
            <a:ext cx="201168" cy="201168"/>
          </a:xfrm>
          <a:prstGeom prst="chevron">
            <a:avLst/>
          </a:prstGeom>
          <a:solidFill>
            <a:srgbClr val="5261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3429000" y="2505456"/>
            <a:ext cx="2468880" cy="1755648"/>
          </a:xfrm>
          <a:prstGeom prst="roundRect">
            <a:avLst>
              <a:gd name="adj" fmla="val 12000"/>
            </a:avLst>
          </a:prstGeom>
          <a:solidFill>
            <a:srgbClr val="1826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593592" y="2679192"/>
            <a:ext cx="2139696" cy="402336"/>
          </a:xfrm>
          <a:prstGeom prst="rect">
            <a:avLst/>
          </a:prstGeom>
          <a:noFill/>
        </p:spPr>
        <p:txBody>
          <a:bodyPr wrap="square" lIns="0" rIns="0" tIns="0" bIns="0" anchor="t">
            <a:noAutofit/>
          </a:bodyPr>
          <a:lstStyle/>
          <a:p>
            <a:pPr algn="ctr">
              <a:lnSpc>
                <a:spcPct val="108000"/>
              </a:lnSpc>
              <a:spcBef>
                <a:spcPts val="0"/>
              </a:spcBef>
              <a:spcAft>
                <a:spcPts val="500"/>
              </a:spcAft>
            </a:pPr>
            <a:r>
              <a:rPr sz="1900" b="1">
                <a:solidFill>
                  <a:srgbClr val="FFFFFF"/>
                </a:solidFill>
                <a:latin typeface="Aptos"/>
              </a:rPr>
              <a:t>Modèle</a:t>
            </a:r>
          </a:p>
        </p:txBody>
      </p:sp>
      <p:sp>
        <p:nvSpPr>
          <p:cNvPr id="13" name="TextBox 12"/>
          <p:cNvSpPr txBox="1"/>
          <p:nvPr/>
        </p:nvSpPr>
        <p:spPr>
          <a:xfrm>
            <a:off x="3593592" y="3182112"/>
            <a:ext cx="2139696" cy="1014983"/>
          </a:xfrm>
          <a:prstGeom prst="rect">
            <a:avLst/>
          </a:prstGeom>
          <a:noFill/>
        </p:spPr>
        <p:txBody>
          <a:bodyPr wrap="square" lIns="0" rIns="0" tIns="0" bIns="0" anchor="t">
            <a:noAutofit/>
          </a:bodyPr>
          <a:lstStyle/>
          <a:p>
            <a:pPr algn="ctr">
              <a:lnSpc>
                <a:spcPct val="108000"/>
              </a:lnSpc>
              <a:spcBef>
                <a:spcPts val="0"/>
              </a:spcBef>
              <a:spcAft>
                <a:spcPts val="500"/>
              </a:spcAft>
            </a:pPr>
            <a:r>
              <a:rPr sz="1400" b="0">
                <a:solidFill>
                  <a:srgbClr val="FFFFFF"/>
                </a:solidFill>
                <a:latin typeface="Aptos"/>
              </a:rPr>
              <a:t>Moteur DAX,</a:t>
            </a:r>
          </a:p>
          <a:p>
            <a:pPr algn="ctr">
              <a:lnSpc>
                <a:spcPct val="108000"/>
              </a:lnSpc>
              <a:spcBef>
                <a:spcPts val="0"/>
              </a:spcBef>
              <a:spcAft>
                <a:spcPts val="500"/>
              </a:spcAft>
            </a:pPr>
            <a:r>
              <a:rPr sz="1400" b="0">
                <a:solidFill>
                  <a:srgbClr val="FFFFFF"/>
                </a:solidFill>
                <a:latin typeface="Aptos"/>
              </a:rPr>
              <a:t>relations et RLS</a:t>
            </a:r>
          </a:p>
        </p:txBody>
      </p:sp>
      <p:sp>
        <p:nvSpPr>
          <p:cNvPr id="14" name="Chevron 13"/>
          <p:cNvSpPr/>
          <p:nvPr/>
        </p:nvSpPr>
        <p:spPr>
          <a:xfrm>
            <a:off x="5980176" y="3264408"/>
            <a:ext cx="201168" cy="201168"/>
          </a:xfrm>
          <a:prstGeom prst="chevron">
            <a:avLst/>
          </a:prstGeom>
          <a:solidFill>
            <a:srgbClr val="5261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2505456"/>
            <a:ext cx="2468880" cy="1755648"/>
          </a:xfrm>
          <a:prstGeom prst="roundRect">
            <a:avLst>
              <a:gd name="adj" fmla="val 12000"/>
            </a:avLst>
          </a:prstGeom>
          <a:solidFill>
            <a:srgbClr val="1826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28232" y="2679192"/>
            <a:ext cx="2139696" cy="402336"/>
          </a:xfrm>
          <a:prstGeom prst="rect">
            <a:avLst/>
          </a:prstGeom>
          <a:noFill/>
        </p:spPr>
        <p:txBody>
          <a:bodyPr wrap="square" lIns="0" rIns="0" tIns="0" bIns="0" anchor="t">
            <a:noAutofit/>
          </a:bodyPr>
          <a:lstStyle/>
          <a:p>
            <a:pPr algn="ctr">
              <a:lnSpc>
                <a:spcPct val="108000"/>
              </a:lnSpc>
              <a:spcBef>
                <a:spcPts val="0"/>
              </a:spcBef>
              <a:spcAft>
                <a:spcPts val="500"/>
              </a:spcAft>
            </a:pPr>
            <a:r>
              <a:rPr sz="1900" b="1">
                <a:solidFill>
                  <a:srgbClr val="FFFFFF"/>
                </a:solidFill>
                <a:latin typeface="Aptos"/>
              </a:rPr>
              <a:t>Refresh</a:t>
            </a:r>
          </a:p>
        </p:txBody>
      </p:sp>
      <p:sp>
        <p:nvSpPr>
          <p:cNvPr id="17" name="TextBox 16"/>
          <p:cNvSpPr txBox="1"/>
          <p:nvPr/>
        </p:nvSpPr>
        <p:spPr>
          <a:xfrm>
            <a:off x="6428232" y="3182112"/>
            <a:ext cx="2139696" cy="1014983"/>
          </a:xfrm>
          <a:prstGeom prst="rect">
            <a:avLst/>
          </a:prstGeom>
          <a:noFill/>
        </p:spPr>
        <p:txBody>
          <a:bodyPr wrap="square" lIns="0" rIns="0" tIns="0" bIns="0" anchor="t">
            <a:noAutofit/>
          </a:bodyPr>
          <a:lstStyle/>
          <a:p>
            <a:pPr algn="ctr">
              <a:lnSpc>
                <a:spcPct val="108000"/>
              </a:lnSpc>
              <a:spcBef>
                <a:spcPts val="0"/>
              </a:spcBef>
              <a:spcAft>
                <a:spcPts val="500"/>
              </a:spcAft>
            </a:pPr>
            <a:r>
              <a:rPr sz="1400" b="0">
                <a:solidFill>
                  <a:srgbClr val="FFFFFF"/>
                </a:solidFill>
                <a:latin typeface="Aptos"/>
              </a:rPr>
              <a:t>Accès, données,</a:t>
            </a:r>
          </a:p>
          <a:p>
            <a:pPr algn="ctr">
              <a:lnSpc>
                <a:spcPct val="108000"/>
              </a:lnSpc>
              <a:spcBef>
                <a:spcPts val="0"/>
              </a:spcBef>
              <a:spcAft>
                <a:spcPts val="500"/>
              </a:spcAft>
            </a:pPr>
            <a:r>
              <a:rPr sz="1400" b="0">
                <a:solidFill>
                  <a:srgbClr val="FFFFFF"/>
                </a:solidFill>
                <a:latin typeface="Aptos"/>
              </a:rPr>
              <a:t>sauvegarde / réouverture</a:t>
            </a:r>
          </a:p>
        </p:txBody>
      </p:sp>
      <p:sp>
        <p:nvSpPr>
          <p:cNvPr id="18" name="Chevron 17"/>
          <p:cNvSpPr/>
          <p:nvPr/>
        </p:nvSpPr>
        <p:spPr>
          <a:xfrm>
            <a:off x="8814816" y="3264408"/>
            <a:ext cx="201168" cy="201168"/>
          </a:xfrm>
          <a:prstGeom prst="chevron">
            <a:avLst/>
          </a:prstGeom>
          <a:solidFill>
            <a:srgbClr val="5261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9098280" y="2505456"/>
            <a:ext cx="2468880" cy="1755648"/>
          </a:xfrm>
          <a:prstGeom prst="roundRect">
            <a:avLst>
              <a:gd name="adj" fmla="val 12000"/>
            </a:avLst>
          </a:prstGeom>
          <a:solidFill>
            <a:srgbClr val="1826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262872" y="2679192"/>
            <a:ext cx="2139696" cy="402336"/>
          </a:xfrm>
          <a:prstGeom prst="rect">
            <a:avLst/>
          </a:prstGeom>
          <a:noFill/>
        </p:spPr>
        <p:txBody>
          <a:bodyPr wrap="square" lIns="0" rIns="0" tIns="0" bIns="0" anchor="t">
            <a:noAutofit/>
          </a:bodyPr>
          <a:lstStyle/>
          <a:p>
            <a:pPr algn="ctr">
              <a:lnSpc>
                <a:spcPct val="108000"/>
              </a:lnSpc>
              <a:spcBef>
                <a:spcPts val="0"/>
              </a:spcBef>
              <a:spcAft>
                <a:spcPts val="500"/>
              </a:spcAft>
            </a:pPr>
            <a:r>
              <a:rPr sz="1900" b="1">
                <a:solidFill>
                  <a:srgbClr val="FFFFFF"/>
                </a:solidFill>
                <a:latin typeface="Aptos"/>
              </a:rPr>
              <a:t>Parité</a:t>
            </a:r>
          </a:p>
        </p:txBody>
      </p:sp>
      <p:sp>
        <p:nvSpPr>
          <p:cNvPr id="21" name="TextBox 20"/>
          <p:cNvSpPr txBox="1"/>
          <p:nvPr/>
        </p:nvSpPr>
        <p:spPr>
          <a:xfrm>
            <a:off x="9262872" y="3182112"/>
            <a:ext cx="2139696" cy="1014983"/>
          </a:xfrm>
          <a:prstGeom prst="rect">
            <a:avLst/>
          </a:prstGeom>
          <a:noFill/>
        </p:spPr>
        <p:txBody>
          <a:bodyPr wrap="square" lIns="0" rIns="0" tIns="0" bIns="0" anchor="t">
            <a:noAutofit/>
          </a:bodyPr>
          <a:lstStyle/>
          <a:p>
            <a:pPr algn="ctr">
              <a:lnSpc>
                <a:spcPct val="108000"/>
              </a:lnSpc>
              <a:spcBef>
                <a:spcPts val="0"/>
              </a:spcBef>
              <a:spcAft>
                <a:spcPts val="500"/>
              </a:spcAft>
            </a:pPr>
            <a:r>
              <a:rPr sz="1400" b="0">
                <a:solidFill>
                  <a:srgbClr val="FFFFFF"/>
                </a:solidFill>
                <a:latin typeface="Aptos"/>
              </a:rPr>
              <a:t>Valeurs, captures,</a:t>
            </a:r>
          </a:p>
          <a:p>
            <a:pPr algn="ctr">
              <a:lnSpc>
                <a:spcPct val="108000"/>
              </a:lnSpc>
              <a:spcBef>
                <a:spcPts val="0"/>
              </a:spcBef>
              <a:spcAft>
                <a:spcPts val="500"/>
              </a:spcAft>
            </a:pPr>
            <a:r>
              <a:rPr sz="1400" b="0">
                <a:solidFill>
                  <a:srgbClr val="FFFFFF"/>
                </a:solidFill>
                <a:latin typeface="Aptos"/>
              </a:rPr>
              <a:t>interactions métier</a:t>
            </a:r>
          </a:p>
        </p:txBody>
      </p:sp>
      <p:sp>
        <p:nvSpPr>
          <p:cNvPr id="22" name="TextBox 21"/>
          <p:cNvSpPr txBox="1"/>
          <p:nvPr/>
        </p:nvSpPr>
        <p:spPr>
          <a:xfrm>
            <a:off x="658368" y="4718304"/>
            <a:ext cx="10789920" cy="457200"/>
          </a:xfrm>
          <a:prstGeom prst="rect">
            <a:avLst/>
          </a:prstGeom>
          <a:noFill/>
        </p:spPr>
        <p:txBody>
          <a:bodyPr wrap="square" lIns="0" rIns="0" tIns="0" bIns="0" anchor="t">
            <a:noAutofit/>
          </a:bodyPr>
          <a:lstStyle/>
          <a:p>
            <a:pPr algn="l">
              <a:lnSpc>
                <a:spcPct val="108000"/>
              </a:lnSpc>
              <a:spcBef>
                <a:spcPts val="0"/>
              </a:spcBef>
              <a:spcAft>
                <a:spcPts val="500"/>
              </a:spcAft>
            </a:pPr>
            <a:r>
              <a:rPr sz="1800" b="0">
                <a:solidFill>
                  <a:srgbClr val="182630"/>
                </a:solidFill>
                <a:latin typeface="Aptos"/>
              </a:rPr>
              <a:t>Puis validation opérationnelle et publication autorisée — chacune avec ses critères.</a:t>
            </a:r>
          </a:p>
        </p:txBody>
      </p:sp>
      <p:sp>
        <p:nvSpPr>
          <p:cNvPr id="23" name="Rounded Rectangle 22"/>
          <p:cNvSpPr/>
          <p:nvPr/>
        </p:nvSpPr>
        <p:spPr>
          <a:xfrm>
            <a:off x="594360" y="5522976"/>
            <a:ext cx="11000232" cy="429768"/>
          </a:xfrm>
          <a:prstGeom prst="roundRect">
            <a:avLst>
              <a:gd name="adj" fmla="val 12000"/>
            </a:avLst>
          </a:prstGeom>
          <a:solidFill>
            <a:srgbClr val="1826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86384" y="5614416"/>
            <a:ext cx="10616184" cy="256032"/>
          </a:xfrm>
          <a:prstGeom prst="rect">
            <a:avLst/>
          </a:prstGeom>
          <a:noFill/>
        </p:spPr>
        <p:txBody>
          <a:bodyPr wrap="square" lIns="0" rIns="0" tIns="0" bIns="0" anchor="t">
            <a:noAutofit/>
          </a:bodyPr>
          <a:lstStyle/>
          <a:p>
            <a:pPr algn="l">
              <a:lnSpc>
                <a:spcPct val="108000"/>
              </a:lnSpc>
              <a:spcBef>
                <a:spcPts val="0"/>
              </a:spcBef>
              <a:spcAft>
                <a:spcPts val="500"/>
              </a:spcAft>
            </a:pPr>
            <a:r>
              <a:rPr sz="1300" b="1">
                <a:solidFill>
                  <a:srgbClr val="FFFFFF"/>
                </a:solidFill>
                <a:latin typeface="Aptos"/>
              </a:rPr>
              <a:t>Validation Microsoft PBIR optionnelle ≠ validation du moteur modèle ou du runtime Desktop.</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5F7F8"/>
        </a:solidFill>
        <a:effectLst/>
      </p:bgPr>
    </p:bg>
    <p:spTree>
      <p:nvGrpSpPr>
        <p:cNvPr id="1" name=""/>
        <p:cNvGrpSpPr/>
        <p:nvPr/>
      </p:nvGrpSpPr>
      <p:grpSpPr/>
      <p:sp>
        <p:nvSpPr>
          <p:cNvPr id="2" name="TextBox 1"/>
          <p:cNvSpPr txBox="1"/>
          <p:nvPr/>
        </p:nvSpPr>
        <p:spPr>
          <a:xfrm>
            <a:off x="594360" y="466344"/>
            <a:ext cx="10789920" cy="201168"/>
          </a:xfrm>
          <a:prstGeom prst="rect">
            <a:avLst/>
          </a:prstGeom>
          <a:noFill/>
        </p:spPr>
        <p:txBody>
          <a:bodyPr wrap="square" lIns="0" rIns="0" tIns="0" bIns="0" anchor="t">
            <a:noAutofit/>
          </a:bodyPr>
          <a:lstStyle/>
          <a:p>
            <a:pPr algn="l">
              <a:lnSpc>
                <a:spcPct val="108000"/>
              </a:lnSpc>
              <a:spcBef>
                <a:spcPts val="0"/>
              </a:spcBef>
              <a:spcAft>
                <a:spcPts val="500"/>
              </a:spcAft>
            </a:pPr>
            <a:r>
              <a:rPr sz="1050" b="1">
                <a:solidFill>
                  <a:srgbClr val="007F79"/>
                </a:solidFill>
                <a:latin typeface="Aptos"/>
              </a:rPr>
              <a:t>PREUVES DATÉES</a:t>
            </a:r>
          </a:p>
        </p:txBody>
      </p:sp>
      <p:sp>
        <p:nvSpPr>
          <p:cNvPr id="3" name="Slide title"/>
          <p:cNvSpPr txBox="1"/>
          <p:nvPr/>
        </p:nvSpPr>
        <p:spPr>
          <a:xfrm>
            <a:off x="594360" y="859536"/>
            <a:ext cx="11000232" cy="685800"/>
          </a:xfrm>
          <a:prstGeom prst="rect">
            <a:avLst/>
          </a:prstGeom>
          <a:noFill/>
        </p:spPr>
        <p:txBody>
          <a:bodyPr wrap="square" lIns="0" rIns="0" tIns="0" bIns="0" anchor="t">
            <a:noAutofit/>
          </a:bodyPr>
          <a:lstStyle/>
          <a:p>
            <a:pPr algn="l">
              <a:lnSpc>
                <a:spcPct val="108000"/>
              </a:lnSpc>
              <a:spcBef>
                <a:spcPts val="0"/>
              </a:spcBef>
              <a:spcAft>
                <a:spcPts val="500"/>
              </a:spcAft>
            </a:pPr>
            <a:r>
              <a:rPr sz="3600" b="1">
                <a:solidFill>
                  <a:srgbClr val="182630"/>
                </a:solidFill>
                <a:latin typeface="Aptos Display"/>
              </a:rPr>
              <a:t>Une preuve statique, pas une promesse de parité</a:t>
            </a:r>
          </a:p>
        </p:txBody>
      </p:sp>
      <p:sp>
        <p:nvSpPr>
          <p:cNvPr id="4" name="TextBox 3"/>
          <p:cNvSpPr txBox="1"/>
          <p:nvPr/>
        </p:nvSpPr>
        <p:spPr>
          <a:xfrm>
            <a:off x="594360" y="1673352"/>
            <a:ext cx="11000232" cy="493776"/>
          </a:xfrm>
          <a:prstGeom prst="rect">
            <a:avLst/>
          </a:prstGeom>
          <a:noFill/>
        </p:spPr>
        <p:txBody>
          <a:bodyPr wrap="square" lIns="0" rIns="0" tIns="0" bIns="0" anchor="t">
            <a:noAutofit/>
          </a:bodyPr>
          <a:lstStyle/>
          <a:p>
            <a:pPr algn="l">
              <a:lnSpc>
                <a:spcPct val="108000"/>
              </a:lnSpc>
              <a:spcBef>
                <a:spcPts val="0"/>
              </a:spcBef>
              <a:spcAft>
                <a:spcPts val="500"/>
              </a:spcAft>
            </a:pPr>
            <a:r>
              <a:rPr sz="1500" b="0">
                <a:solidFill>
                  <a:srgbClr val="52616C"/>
                </a:solidFill>
                <a:latin typeface="Aptos"/>
              </a:rPr>
              <a:t>Observations locales du 23.10.2026 sur un corpus public / synthétique.</a:t>
            </a:r>
          </a:p>
        </p:txBody>
      </p:sp>
      <p:sp>
        <p:nvSpPr>
          <p:cNvPr id="5" name="TextBox 4"/>
          <p:cNvSpPr txBox="1"/>
          <p:nvPr/>
        </p:nvSpPr>
        <p:spPr>
          <a:xfrm>
            <a:off x="594360" y="6199632"/>
            <a:ext cx="10149840" cy="182880"/>
          </a:xfrm>
          <a:prstGeom prst="rect">
            <a:avLst/>
          </a:prstGeom>
          <a:noFill/>
        </p:spPr>
        <p:txBody>
          <a:bodyPr wrap="square" lIns="0" rIns="0" tIns="0" bIns="0" anchor="t">
            <a:noAutofit/>
          </a:bodyPr>
          <a:lstStyle/>
          <a:p>
            <a:pPr algn="l">
              <a:lnSpc>
                <a:spcPct val="108000"/>
              </a:lnSpc>
              <a:spcBef>
                <a:spcPts val="0"/>
              </a:spcBef>
              <a:spcAft>
                <a:spcPts val="500"/>
              </a:spcAft>
            </a:pPr>
            <a:r>
              <a:rPr sz="1000" b="0">
                <a:solidFill>
                  <a:srgbClr val="52616C"/>
                </a:solidFill>
                <a:latin typeface="Aptos"/>
              </a:rPr>
              <a:t>Tableau to Power BI  |  Édition 26.10.2026  |  Preuves datées</a:t>
            </a:r>
          </a:p>
        </p:txBody>
      </p:sp>
      <p:sp>
        <p:nvSpPr>
          <p:cNvPr id="6" name="TextBox 5"/>
          <p:cNvSpPr txBox="1"/>
          <p:nvPr/>
        </p:nvSpPr>
        <p:spPr>
          <a:xfrm>
            <a:off x="11000232" y="6181344"/>
            <a:ext cx="594360" cy="210312"/>
          </a:xfrm>
          <a:prstGeom prst="rect">
            <a:avLst/>
          </a:prstGeom>
          <a:noFill/>
        </p:spPr>
        <p:txBody>
          <a:bodyPr wrap="square" lIns="0" rIns="0" tIns="0" bIns="0" anchor="t">
            <a:noAutofit/>
          </a:bodyPr>
          <a:lstStyle/>
          <a:p>
            <a:pPr algn="r">
              <a:lnSpc>
                <a:spcPct val="108000"/>
              </a:lnSpc>
              <a:spcBef>
                <a:spcPts val="0"/>
              </a:spcBef>
              <a:spcAft>
                <a:spcPts val="500"/>
              </a:spcAft>
            </a:pPr>
            <a:r>
              <a:rPr sz="1100" b="0">
                <a:solidFill>
                  <a:srgbClr val="52616C"/>
                </a:solidFill>
                <a:latin typeface="Aptos"/>
              </a:rPr>
              <a:t>15</a:t>
            </a:r>
          </a:p>
        </p:txBody>
      </p:sp>
      <p:sp>
        <p:nvSpPr>
          <p:cNvPr id="7" name="Rounded Rectangle 6"/>
          <p:cNvSpPr/>
          <p:nvPr/>
        </p:nvSpPr>
        <p:spPr>
          <a:xfrm>
            <a:off x="594360" y="2542032"/>
            <a:ext cx="3429000" cy="192024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4672" y="2752344"/>
            <a:ext cx="3008376" cy="603504"/>
          </a:xfrm>
          <a:prstGeom prst="rect">
            <a:avLst/>
          </a:prstGeom>
          <a:noFill/>
        </p:spPr>
        <p:txBody>
          <a:bodyPr wrap="square" lIns="0" rIns="0" tIns="0" bIns="0" anchor="t">
            <a:noAutofit/>
          </a:bodyPr>
          <a:lstStyle/>
          <a:p>
            <a:pPr algn="l">
              <a:lnSpc>
                <a:spcPct val="108000"/>
              </a:lnSpc>
              <a:spcBef>
                <a:spcPts val="0"/>
              </a:spcBef>
              <a:spcAft>
                <a:spcPts val="500"/>
              </a:spcAft>
            </a:pPr>
            <a:r>
              <a:rPr sz="3500" b="1">
                <a:solidFill>
                  <a:srgbClr val="007F79"/>
                </a:solidFill>
                <a:latin typeface="Aptos"/>
              </a:rPr>
              <a:t>4 → 10 / 10</a:t>
            </a:r>
          </a:p>
        </p:txBody>
      </p:sp>
      <p:sp>
        <p:nvSpPr>
          <p:cNvPr id="9" name="TextBox 8"/>
          <p:cNvSpPr txBox="1"/>
          <p:nvPr/>
        </p:nvSpPr>
        <p:spPr>
          <a:xfrm>
            <a:off x="804672" y="3520440"/>
            <a:ext cx="3008376" cy="301752"/>
          </a:xfrm>
          <a:prstGeom prst="rect">
            <a:avLst/>
          </a:prstGeom>
          <a:noFill/>
        </p:spPr>
        <p:txBody>
          <a:bodyPr wrap="square" lIns="0" rIns="0" tIns="0" bIns="0" anchor="t">
            <a:noAutofit/>
          </a:bodyPr>
          <a:lstStyle/>
          <a:p>
            <a:pPr algn="l">
              <a:lnSpc>
                <a:spcPct val="108000"/>
              </a:lnSpc>
              <a:spcBef>
                <a:spcPts val="0"/>
              </a:spcBef>
              <a:spcAft>
                <a:spcPts val="500"/>
              </a:spcAft>
            </a:pPr>
            <a:r>
              <a:rPr sz="1800" b="1">
                <a:solidFill>
                  <a:srgbClr val="182630"/>
                </a:solidFill>
                <a:latin typeface="Aptos"/>
              </a:rPr>
              <a:t>Rapports validés</a:t>
            </a:r>
          </a:p>
        </p:txBody>
      </p:sp>
      <p:sp>
        <p:nvSpPr>
          <p:cNvPr id="10" name="TextBox 9"/>
          <p:cNvSpPr txBox="1"/>
          <p:nvPr/>
        </p:nvSpPr>
        <p:spPr>
          <a:xfrm>
            <a:off x="804672" y="3950208"/>
            <a:ext cx="3008376" cy="329184"/>
          </a:xfrm>
          <a:prstGeom prst="rect">
            <a:avLst/>
          </a:prstGeom>
          <a:noFill/>
        </p:spPr>
        <p:txBody>
          <a:bodyPr wrap="square" lIns="0" rIns="0" tIns="0" bIns="0" anchor="t">
            <a:noAutofit/>
          </a:bodyPr>
          <a:lstStyle/>
          <a:p>
            <a:pPr algn="l">
              <a:lnSpc>
                <a:spcPct val="108000"/>
              </a:lnSpc>
              <a:spcBef>
                <a:spcPts val="0"/>
              </a:spcBef>
              <a:spcAft>
                <a:spcPts val="500"/>
              </a:spcAft>
            </a:pPr>
            <a:r>
              <a:rPr sz="1200" b="0">
                <a:solidFill>
                  <a:srgbClr val="52616C"/>
                </a:solidFill>
                <a:latin typeface="Aptos"/>
              </a:rPr>
              <a:t>Validation Microsoft PBIR</a:t>
            </a:r>
          </a:p>
        </p:txBody>
      </p:sp>
      <p:sp>
        <p:nvSpPr>
          <p:cNvPr id="11" name="Rounded Rectangle 10"/>
          <p:cNvSpPr/>
          <p:nvPr/>
        </p:nvSpPr>
        <p:spPr>
          <a:xfrm>
            <a:off x="4379976" y="2542032"/>
            <a:ext cx="3429000" cy="192024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90288" y="2752344"/>
            <a:ext cx="3008376" cy="603504"/>
          </a:xfrm>
          <a:prstGeom prst="rect">
            <a:avLst/>
          </a:prstGeom>
          <a:noFill/>
        </p:spPr>
        <p:txBody>
          <a:bodyPr wrap="square" lIns="0" rIns="0" tIns="0" bIns="0" anchor="t">
            <a:noAutofit/>
          </a:bodyPr>
          <a:lstStyle/>
          <a:p>
            <a:pPr algn="l">
              <a:lnSpc>
                <a:spcPct val="108000"/>
              </a:lnSpc>
              <a:spcBef>
                <a:spcPts val="0"/>
              </a:spcBef>
              <a:spcAft>
                <a:spcPts val="500"/>
              </a:spcAft>
            </a:pPr>
            <a:r>
              <a:rPr sz="3500" b="1">
                <a:solidFill>
                  <a:srgbClr val="007F79"/>
                </a:solidFill>
                <a:latin typeface="Aptos"/>
              </a:rPr>
              <a:t>22 → 0</a:t>
            </a:r>
          </a:p>
        </p:txBody>
      </p:sp>
      <p:sp>
        <p:nvSpPr>
          <p:cNvPr id="13" name="TextBox 12"/>
          <p:cNvSpPr txBox="1"/>
          <p:nvPr/>
        </p:nvSpPr>
        <p:spPr>
          <a:xfrm>
            <a:off x="4590288" y="3520440"/>
            <a:ext cx="3008376" cy="301752"/>
          </a:xfrm>
          <a:prstGeom prst="rect">
            <a:avLst/>
          </a:prstGeom>
          <a:noFill/>
        </p:spPr>
        <p:txBody>
          <a:bodyPr wrap="square" lIns="0" rIns="0" tIns="0" bIns="0" anchor="t">
            <a:noAutofit/>
          </a:bodyPr>
          <a:lstStyle/>
          <a:p>
            <a:pPr algn="l">
              <a:lnSpc>
                <a:spcPct val="108000"/>
              </a:lnSpc>
              <a:spcBef>
                <a:spcPts val="0"/>
              </a:spcBef>
              <a:spcAft>
                <a:spcPts val="500"/>
              </a:spcAft>
            </a:pPr>
            <a:r>
              <a:rPr sz="1800" b="1">
                <a:solidFill>
                  <a:srgbClr val="182630"/>
                </a:solidFill>
                <a:latin typeface="Aptos"/>
              </a:rPr>
              <a:t>Erreurs CLI</a:t>
            </a:r>
          </a:p>
        </p:txBody>
      </p:sp>
      <p:sp>
        <p:nvSpPr>
          <p:cNvPr id="14" name="TextBox 13"/>
          <p:cNvSpPr txBox="1"/>
          <p:nvPr/>
        </p:nvSpPr>
        <p:spPr>
          <a:xfrm>
            <a:off x="4590288" y="3950208"/>
            <a:ext cx="3008376" cy="329184"/>
          </a:xfrm>
          <a:prstGeom prst="rect">
            <a:avLst/>
          </a:prstGeom>
          <a:noFill/>
        </p:spPr>
        <p:txBody>
          <a:bodyPr wrap="square" lIns="0" rIns="0" tIns="0" bIns="0" anchor="t">
            <a:noAutofit/>
          </a:bodyPr>
          <a:lstStyle/>
          <a:p>
            <a:pPr algn="l">
              <a:lnSpc>
                <a:spcPct val="108000"/>
              </a:lnSpc>
              <a:spcBef>
                <a:spcPts val="0"/>
              </a:spcBef>
              <a:spcAft>
                <a:spcPts val="500"/>
              </a:spcAft>
            </a:pPr>
            <a:r>
              <a:rPr sz="1200" b="0">
                <a:solidFill>
                  <a:srgbClr val="52616C"/>
                </a:solidFill>
                <a:latin typeface="Aptos"/>
              </a:rPr>
              <a:t>Schémas activés ; 0 warning final</a:t>
            </a:r>
          </a:p>
        </p:txBody>
      </p:sp>
      <p:sp>
        <p:nvSpPr>
          <p:cNvPr id="15" name="Rounded Rectangle 14"/>
          <p:cNvSpPr/>
          <p:nvPr/>
        </p:nvSpPr>
        <p:spPr>
          <a:xfrm>
            <a:off x="8165592" y="2542032"/>
            <a:ext cx="3429000" cy="192024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375904" y="2752344"/>
            <a:ext cx="3008376" cy="603504"/>
          </a:xfrm>
          <a:prstGeom prst="rect">
            <a:avLst/>
          </a:prstGeom>
          <a:noFill/>
        </p:spPr>
        <p:txBody>
          <a:bodyPr wrap="square" lIns="0" rIns="0" tIns="0" bIns="0" anchor="t">
            <a:noAutofit/>
          </a:bodyPr>
          <a:lstStyle/>
          <a:p>
            <a:pPr algn="l">
              <a:lnSpc>
                <a:spcPct val="108000"/>
              </a:lnSpc>
              <a:spcBef>
                <a:spcPts val="0"/>
              </a:spcBef>
              <a:spcAft>
                <a:spcPts val="500"/>
              </a:spcAft>
            </a:pPr>
            <a:r>
              <a:rPr sz="3500" b="1">
                <a:solidFill>
                  <a:srgbClr val="007F79"/>
                </a:solidFill>
                <a:latin typeface="Aptos"/>
              </a:rPr>
              <a:t>11 850</a:t>
            </a:r>
          </a:p>
        </p:txBody>
      </p:sp>
      <p:sp>
        <p:nvSpPr>
          <p:cNvPr id="17" name="TextBox 16"/>
          <p:cNvSpPr txBox="1"/>
          <p:nvPr/>
        </p:nvSpPr>
        <p:spPr>
          <a:xfrm>
            <a:off x="8375904" y="3520440"/>
            <a:ext cx="3008376" cy="301752"/>
          </a:xfrm>
          <a:prstGeom prst="rect">
            <a:avLst/>
          </a:prstGeom>
          <a:noFill/>
        </p:spPr>
        <p:txBody>
          <a:bodyPr wrap="square" lIns="0" rIns="0" tIns="0" bIns="0" anchor="t">
            <a:noAutofit/>
          </a:bodyPr>
          <a:lstStyle/>
          <a:p>
            <a:pPr algn="l">
              <a:lnSpc>
                <a:spcPct val="108000"/>
              </a:lnSpc>
              <a:spcBef>
                <a:spcPts val="0"/>
              </a:spcBef>
              <a:spcAft>
                <a:spcPts val="500"/>
              </a:spcAft>
            </a:pPr>
            <a:r>
              <a:rPr sz="1800" b="1">
                <a:solidFill>
                  <a:srgbClr val="182630"/>
                </a:solidFill>
                <a:latin typeface="Aptos"/>
              </a:rPr>
              <a:t>Tests locaux réussis</a:t>
            </a:r>
          </a:p>
        </p:txBody>
      </p:sp>
      <p:sp>
        <p:nvSpPr>
          <p:cNvPr id="18" name="TextBox 17"/>
          <p:cNvSpPr txBox="1"/>
          <p:nvPr/>
        </p:nvSpPr>
        <p:spPr>
          <a:xfrm>
            <a:off x="8375904" y="3950208"/>
            <a:ext cx="3008376" cy="329184"/>
          </a:xfrm>
          <a:prstGeom prst="rect">
            <a:avLst/>
          </a:prstGeom>
          <a:noFill/>
        </p:spPr>
        <p:txBody>
          <a:bodyPr wrap="square" lIns="0" rIns="0" tIns="0" bIns="0" anchor="t">
            <a:noAutofit/>
          </a:bodyPr>
          <a:lstStyle/>
          <a:p>
            <a:pPr algn="l">
              <a:lnSpc>
                <a:spcPct val="108000"/>
              </a:lnSpc>
              <a:spcBef>
                <a:spcPts val="0"/>
              </a:spcBef>
              <a:spcAft>
                <a:spcPts val="500"/>
              </a:spcAft>
            </a:pPr>
            <a:r>
              <a:rPr sz="1200" b="0">
                <a:solidFill>
                  <a:srgbClr val="52616C"/>
                </a:solidFill>
                <a:latin typeface="Aptos"/>
              </a:rPr>
              <a:t>66 skipped ; 1 xfailed ; 1 warning</a:t>
            </a:r>
          </a:p>
        </p:txBody>
      </p:sp>
      <p:sp>
        <p:nvSpPr>
          <p:cNvPr id="19" name="TextBox 18"/>
          <p:cNvSpPr txBox="1"/>
          <p:nvPr/>
        </p:nvSpPr>
        <p:spPr>
          <a:xfrm>
            <a:off x="658368" y="4818888"/>
            <a:ext cx="10789920" cy="329184"/>
          </a:xfrm>
          <a:prstGeom prst="rect">
            <a:avLst/>
          </a:prstGeom>
          <a:noFill/>
        </p:spPr>
        <p:txBody>
          <a:bodyPr wrap="square" lIns="0" rIns="0" tIns="0" bIns="0" anchor="t">
            <a:noAutofit/>
          </a:bodyPr>
          <a:lstStyle/>
          <a:p>
            <a:pPr algn="l">
              <a:lnSpc>
                <a:spcPct val="108000"/>
              </a:lnSpc>
              <a:spcBef>
                <a:spcPts val="0"/>
              </a:spcBef>
              <a:spcAft>
                <a:spcPts val="500"/>
              </a:spcAft>
            </a:pPr>
            <a:r>
              <a:rPr sz="1700" b="1">
                <a:solidFill>
                  <a:srgbClr val="182630"/>
                </a:solidFill>
                <a:latin typeface="Aptos"/>
              </a:rPr>
              <a:t>Qualité unifiée : 4 PASS / 6 WARN / 0 FAIL — les réserves restent visibles.</a:t>
            </a:r>
          </a:p>
        </p:txBody>
      </p:sp>
      <p:sp>
        <p:nvSpPr>
          <p:cNvPr id="20" name="Rounded Rectangle 19"/>
          <p:cNvSpPr/>
          <p:nvPr/>
        </p:nvSpPr>
        <p:spPr>
          <a:xfrm>
            <a:off x="594360" y="5522976"/>
            <a:ext cx="11000232" cy="429768"/>
          </a:xfrm>
          <a:prstGeom prst="roundRect">
            <a:avLst>
              <a:gd name="adj" fmla="val 12000"/>
            </a:avLst>
          </a:prstGeom>
          <a:solidFill>
            <a:srgbClr val="1826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86384" y="5614416"/>
            <a:ext cx="10616184" cy="256032"/>
          </a:xfrm>
          <a:prstGeom prst="rect">
            <a:avLst/>
          </a:prstGeom>
          <a:noFill/>
        </p:spPr>
        <p:txBody>
          <a:bodyPr wrap="square" lIns="0" rIns="0" tIns="0" bIns="0" anchor="t">
            <a:noAutofit/>
          </a:bodyPr>
          <a:lstStyle/>
          <a:p>
            <a:pPr algn="l">
              <a:lnSpc>
                <a:spcPct val="108000"/>
              </a:lnSpc>
              <a:spcBef>
                <a:spcPts val="0"/>
              </a:spcBef>
              <a:spcAft>
                <a:spcPts val="500"/>
              </a:spcAft>
            </a:pPr>
            <a:r>
              <a:rPr sz="1300" b="1">
                <a:solidFill>
                  <a:srgbClr val="FFFFFF"/>
                </a:solidFill>
                <a:latin typeface="Aptos"/>
              </a:rPr>
              <a:t>Moteur modèle, ouverture Desktop, refresh, parité et déploiement : preuves séparées.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5F7F8"/>
        </a:solidFill>
        <a:effectLst/>
      </p:bgPr>
    </p:bg>
    <p:spTree>
      <p:nvGrpSpPr>
        <p:cNvPr id="1" name=""/>
        <p:cNvGrpSpPr/>
        <p:nvPr/>
      </p:nvGrpSpPr>
      <p:grpSpPr/>
      <p:sp>
        <p:nvSpPr>
          <p:cNvPr id="2" name="TextBox 1"/>
          <p:cNvSpPr txBox="1"/>
          <p:nvPr/>
        </p:nvSpPr>
        <p:spPr>
          <a:xfrm>
            <a:off x="594360" y="466344"/>
            <a:ext cx="10789920" cy="201168"/>
          </a:xfrm>
          <a:prstGeom prst="rect">
            <a:avLst/>
          </a:prstGeom>
          <a:noFill/>
        </p:spPr>
        <p:txBody>
          <a:bodyPr wrap="square" lIns="0" rIns="0" tIns="0" bIns="0" anchor="t">
            <a:noAutofit/>
          </a:bodyPr>
          <a:lstStyle/>
          <a:p>
            <a:pPr algn="l">
              <a:lnSpc>
                <a:spcPct val="108000"/>
              </a:lnSpc>
              <a:spcBef>
                <a:spcPts val="0"/>
              </a:spcBef>
              <a:spcAft>
                <a:spcPts val="500"/>
              </a:spcAft>
            </a:pPr>
            <a:r>
              <a:rPr sz="1050" b="1">
                <a:solidFill>
                  <a:srgbClr val="007F79"/>
                </a:solidFill>
                <a:latin typeface="Aptos"/>
              </a:rPr>
              <a:t>AUTO-RÉPARATION &amp; OWNERSHIP</a:t>
            </a:r>
          </a:p>
        </p:txBody>
      </p:sp>
      <p:sp>
        <p:nvSpPr>
          <p:cNvPr id="3" name="Slide title"/>
          <p:cNvSpPr txBox="1"/>
          <p:nvPr/>
        </p:nvSpPr>
        <p:spPr>
          <a:xfrm>
            <a:off x="594360" y="859536"/>
            <a:ext cx="11000232" cy="685800"/>
          </a:xfrm>
          <a:prstGeom prst="rect">
            <a:avLst/>
          </a:prstGeom>
          <a:noFill/>
        </p:spPr>
        <p:txBody>
          <a:bodyPr wrap="square" lIns="0" rIns="0" tIns="0" bIns="0" anchor="t">
            <a:noAutofit/>
          </a:bodyPr>
          <a:lstStyle/>
          <a:p>
            <a:pPr algn="l">
              <a:lnSpc>
                <a:spcPct val="108000"/>
              </a:lnSpc>
              <a:spcBef>
                <a:spcPts val="0"/>
              </a:spcBef>
              <a:spcAft>
                <a:spcPts val="500"/>
              </a:spcAft>
            </a:pPr>
            <a:r>
              <a:rPr sz="3600" b="1">
                <a:solidFill>
                  <a:srgbClr val="182630"/>
                </a:solidFill>
                <a:latin typeface="Aptos Display"/>
              </a:rPr>
              <a:t>Réparer avec une trace et une nouvelle preuve</a:t>
            </a:r>
          </a:p>
        </p:txBody>
      </p:sp>
      <p:sp>
        <p:nvSpPr>
          <p:cNvPr id="4" name="TextBox 3"/>
          <p:cNvSpPr txBox="1"/>
          <p:nvPr/>
        </p:nvSpPr>
        <p:spPr>
          <a:xfrm>
            <a:off x="594360" y="1673352"/>
            <a:ext cx="11000232" cy="493776"/>
          </a:xfrm>
          <a:prstGeom prst="rect">
            <a:avLst/>
          </a:prstGeom>
          <a:noFill/>
        </p:spPr>
        <p:txBody>
          <a:bodyPr wrap="square" lIns="0" rIns="0" tIns="0" bIns="0" anchor="t">
            <a:noAutofit/>
          </a:bodyPr>
          <a:lstStyle/>
          <a:p>
            <a:pPr algn="l">
              <a:lnSpc>
                <a:spcPct val="108000"/>
              </a:lnSpc>
              <a:spcBef>
                <a:spcPts val="0"/>
              </a:spcBef>
              <a:spcAft>
                <a:spcPts val="500"/>
              </a:spcAft>
            </a:pPr>
            <a:r>
              <a:rPr sz="1500" b="0">
                <a:solidFill>
                  <a:srgbClr val="52616C"/>
                </a:solidFill>
                <a:latin typeface="Aptos"/>
              </a:rPr>
              <a:t>Les réparations déterministes et les experts n'ont pas le même rôle.</a:t>
            </a:r>
          </a:p>
        </p:txBody>
      </p:sp>
      <p:sp>
        <p:nvSpPr>
          <p:cNvPr id="5" name="TextBox 4"/>
          <p:cNvSpPr txBox="1"/>
          <p:nvPr/>
        </p:nvSpPr>
        <p:spPr>
          <a:xfrm>
            <a:off x="594360" y="6199632"/>
            <a:ext cx="10149840" cy="182880"/>
          </a:xfrm>
          <a:prstGeom prst="rect">
            <a:avLst/>
          </a:prstGeom>
          <a:noFill/>
        </p:spPr>
        <p:txBody>
          <a:bodyPr wrap="square" lIns="0" rIns="0" tIns="0" bIns="0" anchor="t">
            <a:noAutofit/>
          </a:bodyPr>
          <a:lstStyle/>
          <a:p>
            <a:pPr algn="l">
              <a:lnSpc>
                <a:spcPct val="108000"/>
              </a:lnSpc>
              <a:spcBef>
                <a:spcPts val="0"/>
              </a:spcBef>
              <a:spcAft>
                <a:spcPts val="500"/>
              </a:spcAft>
            </a:pPr>
            <a:r>
              <a:rPr sz="1000" b="0">
                <a:solidFill>
                  <a:srgbClr val="52616C"/>
                </a:solidFill>
                <a:latin typeface="Aptos"/>
              </a:rPr>
              <a:t>Tableau to Power BI  |  Édition 26.10.2026  |  Auto-réparation &amp; ownership</a:t>
            </a:r>
          </a:p>
        </p:txBody>
      </p:sp>
      <p:sp>
        <p:nvSpPr>
          <p:cNvPr id="6" name="TextBox 5"/>
          <p:cNvSpPr txBox="1"/>
          <p:nvPr/>
        </p:nvSpPr>
        <p:spPr>
          <a:xfrm>
            <a:off x="11000232" y="6181344"/>
            <a:ext cx="594360" cy="210312"/>
          </a:xfrm>
          <a:prstGeom prst="rect">
            <a:avLst/>
          </a:prstGeom>
          <a:noFill/>
        </p:spPr>
        <p:txBody>
          <a:bodyPr wrap="square" lIns="0" rIns="0" tIns="0" bIns="0" anchor="t">
            <a:noAutofit/>
          </a:bodyPr>
          <a:lstStyle/>
          <a:p>
            <a:pPr algn="r">
              <a:lnSpc>
                <a:spcPct val="108000"/>
              </a:lnSpc>
              <a:spcBef>
                <a:spcPts val="0"/>
              </a:spcBef>
              <a:spcAft>
                <a:spcPts val="500"/>
              </a:spcAft>
            </a:pPr>
            <a:r>
              <a:rPr sz="1100" b="0">
                <a:solidFill>
                  <a:srgbClr val="52616C"/>
                </a:solidFill>
                <a:latin typeface="Aptos"/>
              </a:rPr>
              <a:t>16</a:t>
            </a:r>
          </a:p>
        </p:txBody>
      </p:sp>
      <p:sp>
        <p:nvSpPr>
          <p:cNvPr id="7" name="Rounded Rectangle 6"/>
          <p:cNvSpPr/>
          <p:nvPr/>
        </p:nvSpPr>
        <p:spPr>
          <a:xfrm>
            <a:off x="594360" y="2450592"/>
            <a:ext cx="2468880" cy="1243584"/>
          </a:xfrm>
          <a:prstGeom prst="roundRect">
            <a:avLst>
              <a:gd name="adj" fmla="val 12000"/>
            </a:avLst>
          </a:prstGeom>
          <a:solidFill>
            <a:srgbClr val="1826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58952" y="2624328"/>
            <a:ext cx="2139696" cy="402336"/>
          </a:xfrm>
          <a:prstGeom prst="rect">
            <a:avLst/>
          </a:prstGeom>
          <a:noFill/>
        </p:spPr>
        <p:txBody>
          <a:bodyPr wrap="square" lIns="0" rIns="0" tIns="0" bIns="0" anchor="t">
            <a:noAutofit/>
          </a:bodyPr>
          <a:lstStyle/>
          <a:p>
            <a:pPr algn="ctr">
              <a:lnSpc>
                <a:spcPct val="108000"/>
              </a:lnSpc>
              <a:spcBef>
                <a:spcPts val="0"/>
              </a:spcBef>
              <a:spcAft>
                <a:spcPts val="500"/>
              </a:spcAft>
            </a:pPr>
            <a:r>
              <a:rPr sz="1900" b="1">
                <a:solidFill>
                  <a:srgbClr val="FFFFFF"/>
                </a:solidFill>
                <a:latin typeface="Aptos"/>
              </a:rPr>
              <a:t>Détecter</a:t>
            </a:r>
          </a:p>
        </p:txBody>
      </p:sp>
      <p:sp>
        <p:nvSpPr>
          <p:cNvPr id="9" name="TextBox 8"/>
          <p:cNvSpPr txBox="1"/>
          <p:nvPr/>
        </p:nvSpPr>
        <p:spPr>
          <a:xfrm>
            <a:off x="758952" y="3127248"/>
            <a:ext cx="2139696" cy="502920"/>
          </a:xfrm>
          <a:prstGeom prst="rect">
            <a:avLst/>
          </a:prstGeom>
          <a:noFill/>
        </p:spPr>
        <p:txBody>
          <a:bodyPr wrap="square" lIns="0" rIns="0" tIns="0" bIns="0" anchor="t">
            <a:noAutofit/>
          </a:bodyPr>
          <a:lstStyle/>
          <a:p>
            <a:pPr algn="ctr">
              <a:lnSpc>
                <a:spcPct val="108000"/>
              </a:lnSpc>
              <a:spcBef>
                <a:spcPts val="0"/>
              </a:spcBef>
              <a:spcAft>
                <a:spcPts val="500"/>
              </a:spcAft>
            </a:pPr>
            <a:r>
              <a:rPr sz="1400" b="0">
                <a:solidFill>
                  <a:srgbClr val="FFFFFF"/>
                </a:solidFill>
                <a:latin typeface="Aptos"/>
              </a:rPr>
              <a:t>Erreurs et écarts</a:t>
            </a:r>
          </a:p>
        </p:txBody>
      </p:sp>
      <p:sp>
        <p:nvSpPr>
          <p:cNvPr id="10" name="Chevron 9"/>
          <p:cNvSpPr/>
          <p:nvPr/>
        </p:nvSpPr>
        <p:spPr>
          <a:xfrm>
            <a:off x="3145536" y="2971800"/>
            <a:ext cx="201168" cy="201168"/>
          </a:xfrm>
          <a:prstGeom prst="chevron">
            <a:avLst/>
          </a:prstGeom>
          <a:solidFill>
            <a:srgbClr val="5261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3429000" y="2450592"/>
            <a:ext cx="2468880" cy="1243584"/>
          </a:xfrm>
          <a:prstGeom prst="roundRect">
            <a:avLst>
              <a:gd name="adj" fmla="val 12000"/>
            </a:avLst>
          </a:prstGeom>
          <a:solidFill>
            <a:srgbClr val="1826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593592" y="2624328"/>
            <a:ext cx="2139696" cy="402336"/>
          </a:xfrm>
          <a:prstGeom prst="rect">
            <a:avLst/>
          </a:prstGeom>
          <a:noFill/>
        </p:spPr>
        <p:txBody>
          <a:bodyPr wrap="square" lIns="0" rIns="0" tIns="0" bIns="0" anchor="t">
            <a:noAutofit/>
          </a:bodyPr>
          <a:lstStyle/>
          <a:p>
            <a:pPr algn="ctr">
              <a:lnSpc>
                <a:spcPct val="108000"/>
              </a:lnSpc>
              <a:spcBef>
                <a:spcPts val="0"/>
              </a:spcBef>
              <a:spcAft>
                <a:spcPts val="500"/>
              </a:spcAft>
            </a:pPr>
            <a:r>
              <a:rPr sz="1900" b="1">
                <a:solidFill>
                  <a:srgbClr val="FFFFFF"/>
                </a:solidFill>
                <a:latin typeface="Aptos"/>
              </a:rPr>
              <a:t>Corriger</a:t>
            </a:r>
          </a:p>
        </p:txBody>
      </p:sp>
      <p:sp>
        <p:nvSpPr>
          <p:cNvPr id="13" name="TextBox 12"/>
          <p:cNvSpPr txBox="1"/>
          <p:nvPr/>
        </p:nvSpPr>
        <p:spPr>
          <a:xfrm>
            <a:off x="3593592" y="3127248"/>
            <a:ext cx="2139696" cy="502920"/>
          </a:xfrm>
          <a:prstGeom prst="rect">
            <a:avLst/>
          </a:prstGeom>
          <a:noFill/>
        </p:spPr>
        <p:txBody>
          <a:bodyPr wrap="square" lIns="0" rIns="0" tIns="0" bIns="0" anchor="t">
            <a:noAutofit/>
          </a:bodyPr>
          <a:lstStyle/>
          <a:p>
            <a:pPr algn="ctr">
              <a:lnSpc>
                <a:spcPct val="108000"/>
              </a:lnSpc>
              <a:spcBef>
                <a:spcPts val="0"/>
              </a:spcBef>
              <a:spcAft>
                <a:spcPts val="500"/>
              </a:spcAft>
            </a:pPr>
            <a:r>
              <a:rPr sz="1400" b="0">
                <a:solidFill>
                  <a:srgbClr val="FFFFFF"/>
                </a:solidFill>
                <a:latin typeface="Aptos"/>
              </a:rPr>
              <a:t>Règles déterministes</a:t>
            </a:r>
          </a:p>
        </p:txBody>
      </p:sp>
      <p:sp>
        <p:nvSpPr>
          <p:cNvPr id="14" name="Chevron 13"/>
          <p:cNvSpPr/>
          <p:nvPr/>
        </p:nvSpPr>
        <p:spPr>
          <a:xfrm>
            <a:off x="5980176" y="2971800"/>
            <a:ext cx="201168" cy="201168"/>
          </a:xfrm>
          <a:prstGeom prst="chevron">
            <a:avLst/>
          </a:prstGeom>
          <a:solidFill>
            <a:srgbClr val="5261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2450592"/>
            <a:ext cx="2468880" cy="1243584"/>
          </a:xfrm>
          <a:prstGeom prst="roundRect">
            <a:avLst>
              <a:gd name="adj" fmla="val 12000"/>
            </a:avLst>
          </a:prstGeom>
          <a:solidFill>
            <a:srgbClr val="007F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28232" y="2624328"/>
            <a:ext cx="2139696" cy="402336"/>
          </a:xfrm>
          <a:prstGeom prst="rect">
            <a:avLst/>
          </a:prstGeom>
          <a:noFill/>
        </p:spPr>
        <p:txBody>
          <a:bodyPr wrap="square" lIns="0" rIns="0" tIns="0" bIns="0" anchor="t">
            <a:noAutofit/>
          </a:bodyPr>
          <a:lstStyle/>
          <a:p>
            <a:pPr algn="ctr">
              <a:lnSpc>
                <a:spcPct val="108000"/>
              </a:lnSpc>
              <a:spcBef>
                <a:spcPts val="0"/>
              </a:spcBef>
              <a:spcAft>
                <a:spcPts val="500"/>
              </a:spcAft>
            </a:pPr>
            <a:r>
              <a:rPr sz="1900" b="1">
                <a:solidFill>
                  <a:srgbClr val="FFFFFF"/>
                </a:solidFill>
                <a:latin typeface="Aptos"/>
              </a:rPr>
              <a:t>Revalider</a:t>
            </a:r>
          </a:p>
        </p:txBody>
      </p:sp>
      <p:sp>
        <p:nvSpPr>
          <p:cNvPr id="17" name="TextBox 16"/>
          <p:cNvSpPr txBox="1"/>
          <p:nvPr/>
        </p:nvSpPr>
        <p:spPr>
          <a:xfrm>
            <a:off x="6428232" y="3127248"/>
            <a:ext cx="2139696" cy="502920"/>
          </a:xfrm>
          <a:prstGeom prst="rect">
            <a:avLst/>
          </a:prstGeom>
          <a:noFill/>
        </p:spPr>
        <p:txBody>
          <a:bodyPr wrap="square" lIns="0" rIns="0" tIns="0" bIns="0" anchor="t">
            <a:noAutofit/>
          </a:bodyPr>
          <a:lstStyle/>
          <a:p>
            <a:pPr algn="ctr">
              <a:lnSpc>
                <a:spcPct val="108000"/>
              </a:lnSpc>
              <a:spcBef>
                <a:spcPts val="0"/>
              </a:spcBef>
              <a:spcAft>
                <a:spcPts val="500"/>
              </a:spcAft>
            </a:pPr>
            <a:r>
              <a:rPr sz="1400" b="0">
                <a:solidFill>
                  <a:srgbClr val="FFFFFF"/>
                </a:solidFill>
                <a:latin typeface="Aptos"/>
              </a:rPr>
              <a:t>Contrôles ciblés</a:t>
            </a:r>
          </a:p>
        </p:txBody>
      </p:sp>
      <p:sp>
        <p:nvSpPr>
          <p:cNvPr id="18" name="Chevron 17"/>
          <p:cNvSpPr/>
          <p:nvPr/>
        </p:nvSpPr>
        <p:spPr>
          <a:xfrm>
            <a:off x="8814816" y="2971800"/>
            <a:ext cx="201168" cy="201168"/>
          </a:xfrm>
          <a:prstGeom prst="chevron">
            <a:avLst/>
          </a:prstGeom>
          <a:solidFill>
            <a:srgbClr val="5261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9098280" y="2450592"/>
            <a:ext cx="2468880" cy="1243584"/>
          </a:xfrm>
          <a:prstGeom prst="roundRect">
            <a:avLst>
              <a:gd name="adj" fmla="val 12000"/>
            </a:avLst>
          </a:prstGeom>
          <a:solidFill>
            <a:srgbClr val="1826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262872" y="2624328"/>
            <a:ext cx="2139696" cy="402336"/>
          </a:xfrm>
          <a:prstGeom prst="rect">
            <a:avLst/>
          </a:prstGeom>
          <a:noFill/>
        </p:spPr>
        <p:txBody>
          <a:bodyPr wrap="square" lIns="0" rIns="0" tIns="0" bIns="0" anchor="t">
            <a:noAutofit/>
          </a:bodyPr>
          <a:lstStyle/>
          <a:p>
            <a:pPr algn="ctr">
              <a:lnSpc>
                <a:spcPct val="108000"/>
              </a:lnSpc>
              <a:spcBef>
                <a:spcPts val="0"/>
              </a:spcBef>
              <a:spcAft>
                <a:spcPts val="500"/>
              </a:spcAft>
            </a:pPr>
            <a:r>
              <a:rPr sz="1900" b="1">
                <a:solidFill>
                  <a:srgbClr val="FFFFFF"/>
                </a:solidFill>
                <a:latin typeface="Aptos"/>
              </a:rPr>
              <a:t>Tracer</a:t>
            </a:r>
          </a:p>
        </p:txBody>
      </p:sp>
      <p:sp>
        <p:nvSpPr>
          <p:cNvPr id="21" name="TextBox 20"/>
          <p:cNvSpPr txBox="1"/>
          <p:nvPr/>
        </p:nvSpPr>
        <p:spPr>
          <a:xfrm>
            <a:off x="9262872" y="3127248"/>
            <a:ext cx="2139696" cy="502920"/>
          </a:xfrm>
          <a:prstGeom prst="rect">
            <a:avLst/>
          </a:prstGeom>
          <a:noFill/>
        </p:spPr>
        <p:txBody>
          <a:bodyPr wrap="square" lIns="0" rIns="0" tIns="0" bIns="0" anchor="t">
            <a:noAutofit/>
          </a:bodyPr>
          <a:lstStyle/>
          <a:p>
            <a:pPr algn="ctr">
              <a:lnSpc>
                <a:spcPct val="108000"/>
              </a:lnSpc>
              <a:spcBef>
                <a:spcPts val="0"/>
              </a:spcBef>
              <a:spcAft>
                <a:spcPts val="500"/>
              </a:spcAft>
            </a:pPr>
            <a:r>
              <a:rPr sz="1400" b="0">
                <a:solidFill>
                  <a:srgbClr val="FFFFFF"/>
                </a:solidFill>
                <a:latin typeface="Aptos"/>
              </a:rPr>
              <a:t>Preuves et réserves</a:t>
            </a:r>
          </a:p>
        </p:txBody>
      </p:sp>
      <p:sp>
        <p:nvSpPr>
          <p:cNvPr id="22" name="Rounded Rectangle 21"/>
          <p:cNvSpPr/>
          <p:nvPr/>
        </p:nvSpPr>
        <p:spPr>
          <a:xfrm>
            <a:off x="594360" y="4133087"/>
            <a:ext cx="5312664" cy="1133856"/>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04672" y="4297679"/>
            <a:ext cx="4892040" cy="393192"/>
          </a:xfrm>
          <a:prstGeom prst="rect">
            <a:avLst/>
          </a:prstGeom>
          <a:noFill/>
        </p:spPr>
        <p:txBody>
          <a:bodyPr wrap="square" lIns="0" rIns="0" tIns="0" bIns="0" anchor="t">
            <a:noAutofit/>
          </a:bodyPr>
          <a:lstStyle/>
          <a:p>
            <a:pPr algn="l">
              <a:lnSpc>
                <a:spcPct val="108000"/>
              </a:lnSpc>
              <a:spcBef>
                <a:spcPts val="0"/>
              </a:spcBef>
              <a:spcAft>
                <a:spcPts val="500"/>
              </a:spcAft>
            </a:pPr>
            <a:r>
              <a:rPr sz="1900" b="1">
                <a:solidFill>
                  <a:srgbClr val="007F79"/>
                </a:solidFill>
                <a:latin typeface="Aptos"/>
              </a:rPr>
              <a:t>17 spécialistes + 2 rôles de gouvernance</a:t>
            </a:r>
          </a:p>
        </p:txBody>
      </p:sp>
      <p:sp>
        <p:nvSpPr>
          <p:cNvPr id="24" name="TextBox 23"/>
          <p:cNvSpPr txBox="1"/>
          <p:nvPr/>
        </p:nvSpPr>
        <p:spPr>
          <a:xfrm>
            <a:off x="804672" y="4736592"/>
            <a:ext cx="4892040" cy="438912"/>
          </a:xfrm>
          <a:prstGeom prst="rect">
            <a:avLst/>
          </a:prstGeom>
          <a:noFill/>
        </p:spPr>
        <p:txBody>
          <a:bodyPr wrap="square" lIns="0" rIns="0" tIns="0" bIns="0" anchor="t">
            <a:noAutofit/>
          </a:bodyPr>
          <a:lstStyle/>
          <a:p>
            <a:pPr algn="l">
              <a:lnSpc>
                <a:spcPct val="108000"/>
              </a:lnSpc>
              <a:spcBef>
                <a:spcPts val="0"/>
              </a:spcBef>
              <a:spcAft>
                <a:spcPts val="500"/>
              </a:spcAft>
            </a:pPr>
            <a:r>
              <a:rPr sz="1450" b="0">
                <a:solidFill>
                  <a:srgbClr val="182630"/>
                </a:solidFill>
                <a:latin typeface="Aptos"/>
              </a:rPr>
              <a:t>Propriété par fichier ; handoff explicite.</a:t>
            </a:r>
          </a:p>
        </p:txBody>
      </p:sp>
      <p:sp>
        <p:nvSpPr>
          <p:cNvPr id="25" name="Rounded Rectangle 24"/>
          <p:cNvSpPr/>
          <p:nvPr/>
        </p:nvSpPr>
        <p:spPr>
          <a:xfrm>
            <a:off x="6272784" y="4133087"/>
            <a:ext cx="5312664" cy="1133856"/>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83096" y="4297679"/>
            <a:ext cx="4892040" cy="393192"/>
          </a:xfrm>
          <a:prstGeom prst="rect">
            <a:avLst/>
          </a:prstGeom>
          <a:noFill/>
        </p:spPr>
        <p:txBody>
          <a:bodyPr wrap="square" lIns="0" rIns="0" tIns="0" bIns="0" anchor="t">
            <a:noAutofit/>
          </a:bodyPr>
          <a:lstStyle/>
          <a:p>
            <a:pPr algn="l">
              <a:lnSpc>
                <a:spcPct val="108000"/>
              </a:lnSpc>
              <a:spcBef>
                <a:spcPts val="0"/>
              </a:spcBef>
              <a:spcAft>
                <a:spcPts val="500"/>
              </a:spcAft>
            </a:pPr>
            <a:r>
              <a:rPr sz="1900" b="1">
                <a:solidFill>
                  <a:srgbClr val="007F79"/>
                </a:solidFill>
                <a:latin typeface="Aptos"/>
              </a:rPr>
              <a:t>Pas de dispatch automatique des experts</a:t>
            </a:r>
          </a:p>
        </p:txBody>
      </p:sp>
      <p:sp>
        <p:nvSpPr>
          <p:cNvPr id="27" name="TextBox 26"/>
          <p:cNvSpPr txBox="1"/>
          <p:nvPr/>
        </p:nvSpPr>
        <p:spPr>
          <a:xfrm>
            <a:off x="6483096" y="4736592"/>
            <a:ext cx="4892040" cy="438912"/>
          </a:xfrm>
          <a:prstGeom prst="rect">
            <a:avLst/>
          </a:prstGeom>
          <a:noFill/>
        </p:spPr>
        <p:txBody>
          <a:bodyPr wrap="square" lIns="0" rIns="0" tIns="0" bIns="0" anchor="t">
            <a:noAutofit/>
          </a:bodyPr>
          <a:lstStyle/>
          <a:p>
            <a:pPr algn="l">
              <a:lnSpc>
                <a:spcPct val="108000"/>
              </a:lnSpc>
              <a:spcBef>
                <a:spcPts val="0"/>
              </a:spcBef>
              <a:spcAft>
                <a:spcPts val="500"/>
              </a:spcAft>
            </a:pPr>
            <a:r>
              <a:rPr sz="1450" b="0">
                <a:solidFill>
                  <a:srgbClr val="182630"/>
                </a:solidFill>
                <a:latin typeface="Aptos"/>
              </a:rPr>
              <a:t>Batch / shared-model n'invoquent pas le preceptor.</a:t>
            </a:r>
          </a:p>
        </p:txBody>
      </p:sp>
      <p:sp>
        <p:nvSpPr>
          <p:cNvPr id="28" name="Rounded Rectangle 27"/>
          <p:cNvSpPr/>
          <p:nvPr/>
        </p:nvSpPr>
        <p:spPr>
          <a:xfrm>
            <a:off x="594360" y="5522976"/>
            <a:ext cx="11000232" cy="429768"/>
          </a:xfrm>
          <a:prstGeom prst="roundRect">
            <a:avLst>
              <a:gd name="adj" fmla="val 12000"/>
            </a:avLst>
          </a:prstGeom>
          <a:solidFill>
            <a:srgbClr val="1826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86384" y="5614416"/>
            <a:ext cx="10616184" cy="256032"/>
          </a:xfrm>
          <a:prstGeom prst="rect">
            <a:avLst/>
          </a:prstGeom>
          <a:noFill/>
        </p:spPr>
        <p:txBody>
          <a:bodyPr wrap="square" lIns="0" rIns="0" tIns="0" bIns="0" anchor="t">
            <a:noAutofit/>
          </a:bodyPr>
          <a:lstStyle/>
          <a:p>
            <a:pPr algn="l">
              <a:lnSpc>
                <a:spcPct val="108000"/>
              </a:lnSpc>
              <a:spcBef>
                <a:spcPts val="0"/>
              </a:spcBef>
              <a:spcAft>
                <a:spcPts val="500"/>
              </a:spcAft>
            </a:pPr>
            <a:r>
              <a:rPr sz="1300" b="1">
                <a:solidFill>
                  <a:srgbClr val="FFFFFF"/>
                </a:solidFill>
                <a:latin typeface="Aptos"/>
              </a:rPr>
              <a:t>Une suggestion ou un ACK de handoff ne constitue pas une correction durable appliquée.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5F7F8"/>
        </a:solidFill>
        <a:effectLst/>
      </p:bgPr>
    </p:bg>
    <p:spTree>
      <p:nvGrpSpPr>
        <p:cNvPr id="1" name=""/>
        <p:cNvGrpSpPr/>
        <p:nvPr/>
      </p:nvGrpSpPr>
      <p:grpSpPr/>
      <p:sp>
        <p:nvSpPr>
          <p:cNvPr id="2" name="TextBox 1"/>
          <p:cNvSpPr txBox="1"/>
          <p:nvPr/>
        </p:nvSpPr>
        <p:spPr>
          <a:xfrm>
            <a:off x="594360" y="466344"/>
            <a:ext cx="10789920" cy="201168"/>
          </a:xfrm>
          <a:prstGeom prst="rect">
            <a:avLst/>
          </a:prstGeom>
          <a:noFill/>
        </p:spPr>
        <p:txBody>
          <a:bodyPr wrap="square" lIns="0" rIns="0" tIns="0" bIns="0" anchor="t">
            <a:noAutofit/>
          </a:bodyPr>
          <a:lstStyle/>
          <a:p>
            <a:pPr algn="l">
              <a:lnSpc>
                <a:spcPct val="108000"/>
              </a:lnSpc>
              <a:spcBef>
                <a:spcPts val="0"/>
              </a:spcBef>
              <a:spcAft>
                <a:spcPts val="500"/>
              </a:spcAft>
            </a:pPr>
            <a:r>
              <a:rPr sz="1050" b="1">
                <a:solidFill>
                  <a:srgbClr val="007F79"/>
                </a:solidFill>
                <a:latin typeface="Aptos"/>
              </a:rPr>
              <a:t>ASSISTANCE OPTIONNELLE</a:t>
            </a:r>
          </a:p>
        </p:txBody>
      </p:sp>
      <p:sp>
        <p:nvSpPr>
          <p:cNvPr id="3" name="Slide title"/>
          <p:cNvSpPr txBox="1"/>
          <p:nvPr/>
        </p:nvSpPr>
        <p:spPr>
          <a:xfrm>
            <a:off x="594360" y="859536"/>
            <a:ext cx="11000232" cy="685800"/>
          </a:xfrm>
          <a:prstGeom prst="rect">
            <a:avLst/>
          </a:prstGeom>
          <a:noFill/>
        </p:spPr>
        <p:txBody>
          <a:bodyPr wrap="square" lIns="0" rIns="0" tIns="0" bIns="0" anchor="t">
            <a:noAutofit/>
          </a:bodyPr>
          <a:lstStyle/>
          <a:p>
            <a:pPr algn="l">
              <a:lnSpc>
                <a:spcPct val="108000"/>
              </a:lnSpc>
              <a:spcBef>
                <a:spcPts val="0"/>
              </a:spcBef>
              <a:spcAft>
                <a:spcPts val="500"/>
              </a:spcAft>
            </a:pPr>
            <a:r>
              <a:rPr sz="3600" b="1">
                <a:solidFill>
                  <a:srgbClr val="182630"/>
                </a:solidFill>
                <a:latin typeface="Aptos Display"/>
              </a:rPr>
              <a:t>Skills Microsoft, MCP et cœur déterministe</a:t>
            </a:r>
          </a:p>
        </p:txBody>
      </p:sp>
      <p:sp>
        <p:nvSpPr>
          <p:cNvPr id="4" name="TextBox 3"/>
          <p:cNvSpPr txBox="1"/>
          <p:nvPr/>
        </p:nvSpPr>
        <p:spPr>
          <a:xfrm>
            <a:off x="594360" y="1673352"/>
            <a:ext cx="11000232" cy="493776"/>
          </a:xfrm>
          <a:prstGeom prst="rect">
            <a:avLst/>
          </a:prstGeom>
          <a:noFill/>
        </p:spPr>
        <p:txBody>
          <a:bodyPr wrap="square" lIns="0" rIns="0" tIns="0" bIns="0" anchor="t">
            <a:noAutofit/>
          </a:bodyPr>
          <a:lstStyle/>
          <a:p>
            <a:pPr algn="l">
              <a:lnSpc>
                <a:spcPct val="108000"/>
              </a:lnSpc>
              <a:spcBef>
                <a:spcPts val="0"/>
              </a:spcBef>
              <a:spcAft>
                <a:spcPts val="500"/>
              </a:spcAft>
            </a:pPr>
            <a:r>
              <a:rPr sz="1500" b="0">
                <a:solidFill>
                  <a:srgbClr val="52616C"/>
                </a:solidFill>
                <a:latin typeface="Aptos"/>
              </a:rPr>
              <a:t>Les références officielles améliorent l'authoring ; elles ne remplacent pas la recette.</a:t>
            </a:r>
          </a:p>
        </p:txBody>
      </p:sp>
      <p:sp>
        <p:nvSpPr>
          <p:cNvPr id="5" name="TextBox 4"/>
          <p:cNvSpPr txBox="1"/>
          <p:nvPr/>
        </p:nvSpPr>
        <p:spPr>
          <a:xfrm>
            <a:off x="594360" y="6199632"/>
            <a:ext cx="10149840" cy="182880"/>
          </a:xfrm>
          <a:prstGeom prst="rect">
            <a:avLst/>
          </a:prstGeom>
          <a:noFill/>
        </p:spPr>
        <p:txBody>
          <a:bodyPr wrap="square" lIns="0" rIns="0" tIns="0" bIns="0" anchor="t">
            <a:noAutofit/>
          </a:bodyPr>
          <a:lstStyle/>
          <a:p>
            <a:pPr algn="l">
              <a:lnSpc>
                <a:spcPct val="108000"/>
              </a:lnSpc>
              <a:spcBef>
                <a:spcPts val="0"/>
              </a:spcBef>
              <a:spcAft>
                <a:spcPts val="500"/>
              </a:spcAft>
            </a:pPr>
            <a:r>
              <a:rPr sz="1000" b="0">
                <a:solidFill>
                  <a:srgbClr val="52616C"/>
                </a:solidFill>
                <a:latin typeface="Aptos"/>
              </a:rPr>
              <a:t>Tableau to Power BI  |  Édition 26.10.2026  |  Assistance optionnelle</a:t>
            </a:r>
          </a:p>
        </p:txBody>
      </p:sp>
      <p:sp>
        <p:nvSpPr>
          <p:cNvPr id="6" name="TextBox 5"/>
          <p:cNvSpPr txBox="1"/>
          <p:nvPr/>
        </p:nvSpPr>
        <p:spPr>
          <a:xfrm>
            <a:off x="11000232" y="6181344"/>
            <a:ext cx="594360" cy="210312"/>
          </a:xfrm>
          <a:prstGeom prst="rect">
            <a:avLst/>
          </a:prstGeom>
          <a:noFill/>
        </p:spPr>
        <p:txBody>
          <a:bodyPr wrap="square" lIns="0" rIns="0" tIns="0" bIns="0" anchor="t">
            <a:noAutofit/>
          </a:bodyPr>
          <a:lstStyle/>
          <a:p>
            <a:pPr algn="r">
              <a:lnSpc>
                <a:spcPct val="108000"/>
              </a:lnSpc>
              <a:spcBef>
                <a:spcPts val="0"/>
              </a:spcBef>
              <a:spcAft>
                <a:spcPts val="500"/>
              </a:spcAft>
            </a:pPr>
            <a:r>
              <a:rPr sz="1100" b="0">
                <a:solidFill>
                  <a:srgbClr val="52616C"/>
                </a:solidFill>
                <a:latin typeface="Aptos"/>
              </a:rPr>
              <a:t>17</a:t>
            </a:r>
          </a:p>
        </p:txBody>
      </p:sp>
      <p:sp>
        <p:nvSpPr>
          <p:cNvPr id="7" name="Rounded Rectangle 6"/>
          <p:cNvSpPr/>
          <p:nvPr/>
        </p:nvSpPr>
        <p:spPr>
          <a:xfrm>
            <a:off x="594360" y="2423160"/>
            <a:ext cx="3429000" cy="269748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04672" y="2624328"/>
            <a:ext cx="347472" cy="347472"/>
          </a:xfrm>
          <a:prstGeom prst="ellipse">
            <a:avLst/>
          </a:prstGeom>
          <a:solidFill>
            <a:srgbClr val="007F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2" y="2656332"/>
            <a:ext cx="347472" cy="219456"/>
          </a:xfrm>
          <a:prstGeom prst="rect">
            <a:avLst/>
          </a:prstGeom>
          <a:noFill/>
        </p:spPr>
        <p:txBody>
          <a:bodyPr wrap="square" lIns="0" rIns="0" tIns="0" bIns="0" anchor="t">
            <a:noAutofit/>
          </a:bodyPr>
          <a:lstStyle/>
          <a:p>
            <a:pPr algn="ctr">
              <a:lnSpc>
                <a:spcPct val="108000"/>
              </a:lnSpc>
              <a:spcBef>
                <a:spcPts val="0"/>
              </a:spcBef>
              <a:spcAft>
                <a:spcPts val="500"/>
              </a:spcAft>
            </a:pPr>
            <a:r>
              <a:rPr sz="1200" b="1">
                <a:solidFill>
                  <a:srgbClr val="FFFFFF"/>
                </a:solidFill>
                <a:latin typeface="Aptos"/>
              </a:rPr>
              <a:t>1</a:t>
            </a:r>
          </a:p>
        </p:txBody>
      </p:sp>
      <p:sp>
        <p:nvSpPr>
          <p:cNvPr id="10" name="TextBox 9"/>
          <p:cNvSpPr txBox="1"/>
          <p:nvPr/>
        </p:nvSpPr>
        <p:spPr>
          <a:xfrm>
            <a:off x="1289304" y="2587752"/>
            <a:ext cx="2523744" cy="640080"/>
          </a:xfrm>
          <a:prstGeom prst="rect">
            <a:avLst/>
          </a:prstGeom>
          <a:noFill/>
        </p:spPr>
        <p:txBody>
          <a:bodyPr wrap="square" lIns="0" rIns="0" tIns="0" bIns="0" anchor="t">
            <a:noAutofit/>
          </a:bodyPr>
          <a:lstStyle/>
          <a:p>
            <a:pPr algn="l">
              <a:lnSpc>
                <a:spcPct val="108000"/>
              </a:lnSpc>
              <a:spcBef>
                <a:spcPts val="0"/>
              </a:spcBef>
              <a:spcAft>
                <a:spcPts val="500"/>
              </a:spcAft>
            </a:pPr>
            <a:r>
              <a:rPr sz="1900" b="1">
                <a:solidFill>
                  <a:srgbClr val="007F79"/>
                </a:solidFill>
                <a:latin typeface="Aptos"/>
              </a:rPr>
              <a:t>Références officielles</a:t>
            </a:r>
          </a:p>
        </p:txBody>
      </p:sp>
      <p:sp>
        <p:nvSpPr>
          <p:cNvPr id="11" name="TextBox 10"/>
          <p:cNvSpPr txBox="1"/>
          <p:nvPr/>
        </p:nvSpPr>
        <p:spPr>
          <a:xfrm>
            <a:off x="804672" y="3310128"/>
            <a:ext cx="3008376" cy="1719072"/>
          </a:xfrm>
          <a:prstGeom prst="rect">
            <a:avLst/>
          </a:prstGeom>
          <a:noFill/>
        </p:spPr>
        <p:txBody>
          <a:bodyPr wrap="square" lIns="0" rIns="0" tIns="0" bIns="0" anchor="t">
            <a:noAutofit/>
          </a:bodyPr>
          <a:lstStyle/>
          <a:p>
            <a:pPr algn="l">
              <a:lnSpc>
                <a:spcPct val="108000"/>
              </a:lnSpc>
              <a:spcBef>
                <a:spcPts val="0"/>
              </a:spcBef>
              <a:spcAft>
                <a:spcPts val="500"/>
              </a:spcAft>
            </a:pPr>
            <a:r>
              <a:rPr sz="1600" b="0">
                <a:solidFill>
                  <a:srgbClr val="182630"/>
                </a:solidFill>
                <a:latin typeface="Aptos"/>
              </a:rPr>
              <a:t>skills-for-fabric.</a:t>
            </a:r>
          </a:p>
          <a:p>
            <a:pPr algn="l">
              <a:lnSpc>
                <a:spcPct val="108000"/>
              </a:lnSpc>
              <a:spcBef>
                <a:spcPts val="0"/>
              </a:spcBef>
              <a:spcAft>
                <a:spcPts val="500"/>
              </a:spcAft>
            </a:pPr>
            <a:r>
              <a:rPr sz="1600" b="0">
                <a:solidFill>
                  <a:srgbClr val="182630"/>
                </a:solidFill>
                <a:latin typeface="Aptos"/>
              </a:rPr>
              <a:t>Métadonnées de rôles et formatage.</a:t>
            </a:r>
          </a:p>
          <a:p>
            <a:pPr algn="l">
              <a:lnSpc>
                <a:spcPct val="108000"/>
              </a:lnSpc>
              <a:spcBef>
                <a:spcPts val="0"/>
              </a:spcBef>
              <a:spcAft>
                <a:spcPts val="500"/>
              </a:spcAft>
            </a:pPr>
            <a:r>
              <a:rPr sz="1600" b="0">
                <a:solidFill>
                  <a:srgbClr val="182630"/>
                </a:solidFill>
                <a:latin typeface="Aptos"/>
              </a:rPr>
              <a:t>CLI Microsoft de validation PBIR.</a:t>
            </a:r>
          </a:p>
        </p:txBody>
      </p:sp>
      <p:sp>
        <p:nvSpPr>
          <p:cNvPr id="12" name="Rounded Rectangle 11"/>
          <p:cNvSpPr/>
          <p:nvPr/>
        </p:nvSpPr>
        <p:spPr>
          <a:xfrm>
            <a:off x="4379976" y="2423160"/>
            <a:ext cx="3429000" cy="269748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4590288" y="2624328"/>
            <a:ext cx="347472" cy="347472"/>
          </a:xfrm>
          <a:prstGeom prst="ellipse">
            <a:avLst/>
          </a:prstGeom>
          <a:solidFill>
            <a:srgbClr val="007F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90288" y="2656332"/>
            <a:ext cx="347472" cy="219456"/>
          </a:xfrm>
          <a:prstGeom prst="rect">
            <a:avLst/>
          </a:prstGeom>
          <a:noFill/>
        </p:spPr>
        <p:txBody>
          <a:bodyPr wrap="square" lIns="0" rIns="0" tIns="0" bIns="0" anchor="t">
            <a:noAutofit/>
          </a:bodyPr>
          <a:lstStyle/>
          <a:p>
            <a:pPr algn="ctr">
              <a:lnSpc>
                <a:spcPct val="108000"/>
              </a:lnSpc>
              <a:spcBef>
                <a:spcPts val="0"/>
              </a:spcBef>
              <a:spcAft>
                <a:spcPts val="500"/>
              </a:spcAft>
            </a:pPr>
            <a:r>
              <a:rPr sz="1200" b="1">
                <a:solidFill>
                  <a:srgbClr val="FFFFFF"/>
                </a:solidFill>
                <a:latin typeface="Aptos"/>
              </a:rPr>
              <a:t>2</a:t>
            </a:r>
          </a:p>
        </p:txBody>
      </p:sp>
      <p:sp>
        <p:nvSpPr>
          <p:cNvPr id="15" name="TextBox 14"/>
          <p:cNvSpPr txBox="1"/>
          <p:nvPr/>
        </p:nvSpPr>
        <p:spPr>
          <a:xfrm>
            <a:off x="5074920" y="2587752"/>
            <a:ext cx="2523744" cy="640080"/>
          </a:xfrm>
          <a:prstGeom prst="rect">
            <a:avLst/>
          </a:prstGeom>
          <a:noFill/>
        </p:spPr>
        <p:txBody>
          <a:bodyPr wrap="square" lIns="0" rIns="0" tIns="0" bIns="0" anchor="t">
            <a:noAutofit/>
          </a:bodyPr>
          <a:lstStyle/>
          <a:p>
            <a:pPr algn="l">
              <a:lnSpc>
                <a:spcPct val="108000"/>
              </a:lnSpc>
              <a:spcBef>
                <a:spcPts val="0"/>
              </a:spcBef>
              <a:spcAft>
                <a:spcPts val="500"/>
              </a:spcAft>
            </a:pPr>
            <a:r>
              <a:rPr sz="1900" b="1">
                <a:solidFill>
                  <a:srgbClr val="007F79"/>
                </a:solidFill>
                <a:latin typeface="Aptos"/>
              </a:rPr>
              <a:t>Outils &amp; suggestions</a:t>
            </a:r>
          </a:p>
        </p:txBody>
      </p:sp>
      <p:sp>
        <p:nvSpPr>
          <p:cNvPr id="16" name="TextBox 15"/>
          <p:cNvSpPr txBox="1"/>
          <p:nvPr/>
        </p:nvSpPr>
        <p:spPr>
          <a:xfrm>
            <a:off x="4590288" y="3310128"/>
            <a:ext cx="3008376" cy="1719072"/>
          </a:xfrm>
          <a:prstGeom prst="rect">
            <a:avLst/>
          </a:prstGeom>
          <a:noFill/>
        </p:spPr>
        <p:txBody>
          <a:bodyPr wrap="square" lIns="0" rIns="0" tIns="0" bIns="0" anchor="t">
            <a:noAutofit/>
          </a:bodyPr>
          <a:lstStyle/>
          <a:p>
            <a:pPr algn="l">
              <a:lnSpc>
                <a:spcPct val="108000"/>
              </a:lnSpc>
              <a:spcBef>
                <a:spcPts val="0"/>
              </a:spcBef>
              <a:spcAft>
                <a:spcPts val="500"/>
              </a:spcAft>
            </a:pPr>
            <a:r>
              <a:rPr sz="1600" b="0">
                <a:solidFill>
                  <a:srgbClr val="182630"/>
                </a:solidFill>
                <a:latin typeface="Aptos"/>
              </a:rPr>
              <a:t>MCP borné et assistance LLM optionnelle.</a:t>
            </a:r>
          </a:p>
          <a:p>
            <a:pPr algn="l">
              <a:lnSpc>
                <a:spcPct val="108000"/>
              </a:lnSpc>
              <a:spcBef>
                <a:spcPts val="0"/>
              </a:spcBef>
              <a:spcAft>
                <a:spcPts val="500"/>
              </a:spcAft>
            </a:pPr>
            <a:r>
              <a:rPr sz="1600" b="0">
                <a:solidFill>
                  <a:srgbClr val="182630"/>
                </a:solidFill>
                <a:latin typeface="Aptos"/>
              </a:rPr>
              <a:t>Contexte, masquage des données sensibles et contrôle humain.</a:t>
            </a:r>
          </a:p>
        </p:txBody>
      </p:sp>
      <p:sp>
        <p:nvSpPr>
          <p:cNvPr id="17" name="Rounded Rectangle 16"/>
          <p:cNvSpPr/>
          <p:nvPr/>
        </p:nvSpPr>
        <p:spPr>
          <a:xfrm>
            <a:off x="8165592" y="2423160"/>
            <a:ext cx="3429000" cy="269748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8375904" y="2624328"/>
            <a:ext cx="347472" cy="347472"/>
          </a:xfrm>
          <a:prstGeom prst="ellipse">
            <a:avLst/>
          </a:prstGeom>
          <a:solidFill>
            <a:srgbClr val="007F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375904" y="2656332"/>
            <a:ext cx="347472" cy="219456"/>
          </a:xfrm>
          <a:prstGeom prst="rect">
            <a:avLst/>
          </a:prstGeom>
          <a:noFill/>
        </p:spPr>
        <p:txBody>
          <a:bodyPr wrap="square" lIns="0" rIns="0" tIns="0" bIns="0" anchor="t">
            <a:noAutofit/>
          </a:bodyPr>
          <a:lstStyle/>
          <a:p>
            <a:pPr algn="ctr">
              <a:lnSpc>
                <a:spcPct val="108000"/>
              </a:lnSpc>
              <a:spcBef>
                <a:spcPts val="0"/>
              </a:spcBef>
              <a:spcAft>
                <a:spcPts val="500"/>
              </a:spcAft>
            </a:pPr>
            <a:r>
              <a:rPr sz="1200" b="1">
                <a:solidFill>
                  <a:srgbClr val="FFFFFF"/>
                </a:solidFill>
                <a:latin typeface="Aptos"/>
              </a:rPr>
              <a:t>3</a:t>
            </a:r>
          </a:p>
        </p:txBody>
      </p:sp>
      <p:sp>
        <p:nvSpPr>
          <p:cNvPr id="20" name="TextBox 19"/>
          <p:cNvSpPr txBox="1"/>
          <p:nvPr/>
        </p:nvSpPr>
        <p:spPr>
          <a:xfrm>
            <a:off x="8860536" y="2587752"/>
            <a:ext cx="2523744" cy="640080"/>
          </a:xfrm>
          <a:prstGeom prst="rect">
            <a:avLst/>
          </a:prstGeom>
          <a:noFill/>
        </p:spPr>
        <p:txBody>
          <a:bodyPr wrap="square" lIns="0" rIns="0" tIns="0" bIns="0" anchor="t">
            <a:noAutofit/>
          </a:bodyPr>
          <a:lstStyle/>
          <a:p>
            <a:pPr algn="l">
              <a:lnSpc>
                <a:spcPct val="108000"/>
              </a:lnSpc>
              <a:spcBef>
                <a:spcPts val="0"/>
              </a:spcBef>
              <a:spcAft>
                <a:spcPts val="500"/>
              </a:spcAft>
            </a:pPr>
            <a:r>
              <a:rPr sz="1900" b="1">
                <a:solidFill>
                  <a:srgbClr val="007F79"/>
                </a:solidFill>
                <a:latin typeface="Aptos"/>
              </a:rPr>
              <a:t>Production vérifiable</a:t>
            </a:r>
          </a:p>
        </p:txBody>
      </p:sp>
      <p:sp>
        <p:nvSpPr>
          <p:cNvPr id="21" name="TextBox 20"/>
          <p:cNvSpPr txBox="1"/>
          <p:nvPr/>
        </p:nvSpPr>
        <p:spPr>
          <a:xfrm>
            <a:off x="8375904" y="3310128"/>
            <a:ext cx="3008376" cy="1719072"/>
          </a:xfrm>
          <a:prstGeom prst="rect">
            <a:avLst/>
          </a:prstGeom>
          <a:noFill/>
        </p:spPr>
        <p:txBody>
          <a:bodyPr wrap="square" lIns="0" rIns="0" tIns="0" bIns="0" anchor="t">
            <a:noAutofit/>
          </a:bodyPr>
          <a:lstStyle/>
          <a:p>
            <a:pPr algn="l">
              <a:lnSpc>
                <a:spcPct val="108000"/>
              </a:lnSpc>
              <a:spcBef>
                <a:spcPts val="0"/>
              </a:spcBef>
              <a:spcAft>
                <a:spcPts val="500"/>
              </a:spcAft>
            </a:pPr>
            <a:r>
              <a:rPr sz="1600" b="0">
                <a:solidFill>
                  <a:srgbClr val="182630"/>
                </a:solidFill>
                <a:latin typeface="Aptos"/>
              </a:rPr>
              <a:t>Générateurs déterministes.</a:t>
            </a:r>
          </a:p>
          <a:p>
            <a:pPr algn="l">
              <a:lnSpc>
                <a:spcPct val="108000"/>
              </a:lnSpc>
              <a:spcBef>
                <a:spcPts val="0"/>
              </a:spcBef>
              <a:spcAft>
                <a:spcPts val="500"/>
              </a:spcAft>
            </a:pPr>
            <a:r>
              <a:rPr sz="1600" b="0">
                <a:solidFill>
                  <a:srgbClr val="182630"/>
                </a:solidFill>
                <a:latin typeface="Aptos"/>
              </a:rPr>
              <a:t>Tests de non-régression.</a:t>
            </a:r>
          </a:p>
          <a:p>
            <a:pPr algn="l">
              <a:lnSpc>
                <a:spcPct val="108000"/>
              </a:lnSpc>
              <a:spcBef>
                <a:spcPts val="0"/>
              </a:spcBef>
              <a:spcAft>
                <a:spcPts val="500"/>
              </a:spcAft>
            </a:pPr>
            <a:r>
              <a:rPr sz="1600" b="0">
                <a:solidFill>
                  <a:srgbClr val="182630"/>
                </a:solidFill>
                <a:latin typeface="Aptos"/>
              </a:rPr>
              <a:t>Écarts et preuves persistés.</a:t>
            </a:r>
          </a:p>
        </p:txBody>
      </p:sp>
      <p:sp>
        <p:nvSpPr>
          <p:cNvPr id="22" name="Rounded Rectangle 21"/>
          <p:cNvSpPr/>
          <p:nvPr/>
        </p:nvSpPr>
        <p:spPr>
          <a:xfrm>
            <a:off x="594360" y="5522976"/>
            <a:ext cx="11000232" cy="429768"/>
          </a:xfrm>
          <a:prstGeom prst="roundRect">
            <a:avLst>
              <a:gd name="adj" fmla="val 12000"/>
            </a:avLst>
          </a:prstGeom>
          <a:solidFill>
            <a:srgbClr val="1826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86384" y="5614416"/>
            <a:ext cx="10616184" cy="256032"/>
          </a:xfrm>
          <a:prstGeom prst="rect">
            <a:avLst/>
          </a:prstGeom>
          <a:noFill/>
        </p:spPr>
        <p:txBody>
          <a:bodyPr wrap="square" lIns="0" rIns="0" tIns="0" bIns="0" anchor="t">
            <a:noAutofit/>
          </a:bodyPr>
          <a:lstStyle/>
          <a:p>
            <a:pPr algn="l">
              <a:lnSpc>
                <a:spcPct val="108000"/>
              </a:lnSpc>
              <a:spcBef>
                <a:spcPts val="0"/>
              </a:spcBef>
              <a:spcAft>
                <a:spcPts val="500"/>
              </a:spcAft>
            </a:pPr>
            <a:r>
              <a:rPr sz="1300" b="1">
                <a:solidFill>
                  <a:srgbClr val="FFFFFF"/>
                </a:solidFill>
                <a:latin typeface="Aptos"/>
              </a:rPr>
              <a:t>EULA du MCP modèle non acceptée : aucun résultat d'exécution moteur n'est revendiqué.</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5F7F8"/>
        </a:solidFill>
        <a:effectLst/>
      </p:bgPr>
    </p:bg>
    <p:spTree>
      <p:nvGrpSpPr>
        <p:cNvPr id="1" name=""/>
        <p:cNvGrpSpPr/>
        <p:nvPr/>
      </p:nvGrpSpPr>
      <p:grpSpPr/>
      <p:sp>
        <p:nvSpPr>
          <p:cNvPr id="2" name="TextBox 1"/>
          <p:cNvSpPr txBox="1"/>
          <p:nvPr/>
        </p:nvSpPr>
        <p:spPr>
          <a:xfrm>
            <a:off x="594360" y="466344"/>
            <a:ext cx="10789920" cy="201168"/>
          </a:xfrm>
          <a:prstGeom prst="rect">
            <a:avLst/>
          </a:prstGeom>
          <a:noFill/>
        </p:spPr>
        <p:txBody>
          <a:bodyPr wrap="square" lIns="0" rIns="0" tIns="0" bIns="0" anchor="t">
            <a:noAutofit/>
          </a:bodyPr>
          <a:lstStyle/>
          <a:p>
            <a:pPr algn="l">
              <a:lnSpc>
                <a:spcPct val="108000"/>
              </a:lnSpc>
              <a:spcBef>
                <a:spcPts val="0"/>
              </a:spcBef>
              <a:spcAft>
                <a:spcPts val="500"/>
              </a:spcAft>
            </a:pPr>
            <a:r>
              <a:rPr sz="1050" b="1">
                <a:solidFill>
                  <a:srgbClr val="007F79"/>
                </a:solidFill>
                <a:latin typeface="Aptos"/>
              </a:rPr>
              <a:t>GOUVERNANCE</a:t>
            </a:r>
          </a:p>
        </p:txBody>
      </p:sp>
      <p:sp>
        <p:nvSpPr>
          <p:cNvPr id="3" name="Slide title"/>
          <p:cNvSpPr txBox="1"/>
          <p:nvPr/>
        </p:nvSpPr>
        <p:spPr>
          <a:xfrm>
            <a:off x="594360" y="859536"/>
            <a:ext cx="11000232" cy="685800"/>
          </a:xfrm>
          <a:prstGeom prst="rect">
            <a:avLst/>
          </a:prstGeom>
          <a:noFill/>
        </p:spPr>
        <p:txBody>
          <a:bodyPr wrap="square" lIns="0" rIns="0" tIns="0" bIns="0" anchor="t">
            <a:noAutofit/>
          </a:bodyPr>
          <a:lstStyle/>
          <a:p>
            <a:pPr algn="l">
              <a:lnSpc>
                <a:spcPct val="108000"/>
              </a:lnSpc>
              <a:spcBef>
                <a:spcPts val="0"/>
              </a:spcBef>
              <a:spcAft>
                <a:spcPts val="500"/>
              </a:spcAft>
            </a:pPr>
            <a:r>
              <a:rPr sz="3600" b="1">
                <a:solidFill>
                  <a:srgbClr val="182630"/>
                </a:solidFill>
                <a:latin typeface="Aptos Display"/>
              </a:rPr>
              <a:t>Séparer génération, accès et publication</a:t>
            </a:r>
          </a:p>
        </p:txBody>
      </p:sp>
      <p:sp>
        <p:nvSpPr>
          <p:cNvPr id="4" name="TextBox 3"/>
          <p:cNvSpPr txBox="1"/>
          <p:nvPr/>
        </p:nvSpPr>
        <p:spPr>
          <a:xfrm>
            <a:off x="594360" y="1673352"/>
            <a:ext cx="11000232" cy="493776"/>
          </a:xfrm>
          <a:prstGeom prst="rect">
            <a:avLst/>
          </a:prstGeom>
          <a:noFill/>
        </p:spPr>
        <p:txBody>
          <a:bodyPr wrap="square" lIns="0" rIns="0" tIns="0" bIns="0" anchor="t">
            <a:noAutofit/>
          </a:bodyPr>
          <a:lstStyle/>
          <a:p>
            <a:pPr algn="l">
              <a:lnSpc>
                <a:spcPct val="108000"/>
              </a:lnSpc>
              <a:spcBef>
                <a:spcPts val="0"/>
              </a:spcBef>
              <a:spcAft>
                <a:spcPts val="500"/>
              </a:spcAft>
            </a:pPr>
            <a:r>
              <a:rPr sz="1500" b="0">
                <a:solidFill>
                  <a:srgbClr val="52616C"/>
                </a:solidFill>
                <a:latin typeface="Aptos"/>
              </a:rPr>
              <a:t>L'exploitation sécurisée dépend aussi des identités et de l'environnement cible.</a:t>
            </a:r>
          </a:p>
        </p:txBody>
      </p:sp>
      <p:sp>
        <p:nvSpPr>
          <p:cNvPr id="5" name="TextBox 4"/>
          <p:cNvSpPr txBox="1"/>
          <p:nvPr/>
        </p:nvSpPr>
        <p:spPr>
          <a:xfrm>
            <a:off x="594360" y="6199632"/>
            <a:ext cx="10149840" cy="182880"/>
          </a:xfrm>
          <a:prstGeom prst="rect">
            <a:avLst/>
          </a:prstGeom>
          <a:noFill/>
        </p:spPr>
        <p:txBody>
          <a:bodyPr wrap="square" lIns="0" rIns="0" tIns="0" bIns="0" anchor="t">
            <a:noAutofit/>
          </a:bodyPr>
          <a:lstStyle/>
          <a:p>
            <a:pPr algn="l">
              <a:lnSpc>
                <a:spcPct val="108000"/>
              </a:lnSpc>
              <a:spcBef>
                <a:spcPts val="0"/>
              </a:spcBef>
              <a:spcAft>
                <a:spcPts val="500"/>
              </a:spcAft>
            </a:pPr>
            <a:r>
              <a:rPr sz="1000" b="0">
                <a:solidFill>
                  <a:srgbClr val="52616C"/>
                </a:solidFill>
                <a:latin typeface="Aptos"/>
              </a:rPr>
              <a:t>Tableau to Power BI  |  Édition 26.10.2026  |  Gouvernance</a:t>
            </a:r>
          </a:p>
        </p:txBody>
      </p:sp>
      <p:sp>
        <p:nvSpPr>
          <p:cNvPr id="6" name="TextBox 5"/>
          <p:cNvSpPr txBox="1"/>
          <p:nvPr/>
        </p:nvSpPr>
        <p:spPr>
          <a:xfrm>
            <a:off x="11000232" y="6181344"/>
            <a:ext cx="594360" cy="210312"/>
          </a:xfrm>
          <a:prstGeom prst="rect">
            <a:avLst/>
          </a:prstGeom>
          <a:noFill/>
        </p:spPr>
        <p:txBody>
          <a:bodyPr wrap="square" lIns="0" rIns="0" tIns="0" bIns="0" anchor="t">
            <a:noAutofit/>
          </a:bodyPr>
          <a:lstStyle/>
          <a:p>
            <a:pPr algn="r">
              <a:lnSpc>
                <a:spcPct val="108000"/>
              </a:lnSpc>
              <a:spcBef>
                <a:spcPts val="0"/>
              </a:spcBef>
              <a:spcAft>
                <a:spcPts val="500"/>
              </a:spcAft>
            </a:pPr>
            <a:r>
              <a:rPr sz="1100" b="0">
                <a:solidFill>
                  <a:srgbClr val="52616C"/>
                </a:solidFill>
                <a:latin typeface="Aptos"/>
              </a:rPr>
              <a:t>18</a:t>
            </a:r>
          </a:p>
        </p:txBody>
      </p:sp>
      <p:sp>
        <p:nvSpPr>
          <p:cNvPr id="7" name="Rounded Rectangle 6"/>
          <p:cNvSpPr/>
          <p:nvPr/>
        </p:nvSpPr>
        <p:spPr>
          <a:xfrm>
            <a:off x="594360" y="2423160"/>
            <a:ext cx="5312664" cy="274320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4672" y="2587752"/>
            <a:ext cx="4892040" cy="640080"/>
          </a:xfrm>
          <a:prstGeom prst="rect">
            <a:avLst/>
          </a:prstGeom>
          <a:noFill/>
        </p:spPr>
        <p:txBody>
          <a:bodyPr wrap="square" lIns="0" rIns="0" tIns="0" bIns="0" anchor="t">
            <a:noAutofit/>
          </a:bodyPr>
          <a:lstStyle/>
          <a:p>
            <a:pPr algn="l">
              <a:lnSpc>
                <a:spcPct val="108000"/>
              </a:lnSpc>
              <a:spcBef>
                <a:spcPts val="0"/>
              </a:spcBef>
              <a:spcAft>
                <a:spcPts val="500"/>
              </a:spcAft>
            </a:pPr>
            <a:r>
              <a:rPr sz="1900" b="1">
                <a:solidFill>
                  <a:srgbClr val="007F79"/>
                </a:solidFill>
                <a:latin typeface="Aptos"/>
              </a:rPr>
              <a:t>Protections dans le pipeline</a:t>
            </a:r>
          </a:p>
        </p:txBody>
      </p:sp>
      <p:sp>
        <p:nvSpPr>
          <p:cNvPr id="9" name="TextBox 8"/>
          <p:cNvSpPr txBox="1"/>
          <p:nvPr/>
        </p:nvSpPr>
        <p:spPr>
          <a:xfrm>
            <a:off x="804672" y="3310128"/>
            <a:ext cx="4892040" cy="1764792"/>
          </a:xfrm>
          <a:prstGeom prst="rect">
            <a:avLst/>
          </a:prstGeom>
          <a:noFill/>
        </p:spPr>
        <p:txBody>
          <a:bodyPr wrap="square" lIns="0" rIns="0" tIns="0" bIns="0" anchor="t">
            <a:noAutofit/>
          </a:bodyPr>
          <a:lstStyle/>
          <a:p>
            <a:pPr algn="l">
              <a:lnSpc>
                <a:spcPct val="108000"/>
              </a:lnSpc>
              <a:spcBef>
                <a:spcPts val="0"/>
              </a:spcBef>
              <a:spcAft>
                <a:spcPts val="500"/>
              </a:spcAft>
            </a:pPr>
            <a:r>
              <a:rPr sz="1600" b="0">
                <a:solidFill>
                  <a:srgbClr val="182630"/>
                </a:solidFill>
                <a:latin typeface="Aptos"/>
              </a:rPr>
              <a:t>Validation des chemins et archives.</a:t>
            </a:r>
          </a:p>
          <a:p>
            <a:pPr algn="l">
              <a:lnSpc>
                <a:spcPct val="108000"/>
              </a:lnSpc>
              <a:spcBef>
                <a:spcPts val="0"/>
              </a:spcBef>
              <a:spcAft>
                <a:spcPts val="500"/>
              </a:spcAft>
            </a:pPr>
            <a:r>
              <a:rPr sz="1600" b="0">
                <a:solidFill>
                  <a:srgbClr val="182630"/>
                </a:solidFill>
                <a:latin typeface="Aptos"/>
              </a:rPr>
              <a:t>Parsing XML protégé.</a:t>
            </a:r>
          </a:p>
          <a:p>
            <a:pPr algn="l">
              <a:lnSpc>
                <a:spcPct val="108000"/>
              </a:lnSpc>
              <a:spcBef>
                <a:spcPts val="0"/>
              </a:spcBef>
              <a:spcAft>
                <a:spcPts val="500"/>
              </a:spcAft>
            </a:pPr>
            <a:r>
              <a:rPr sz="1600" b="0">
                <a:solidFill>
                  <a:srgbClr val="182630"/>
                </a:solidFill>
                <a:latin typeface="Aptos"/>
              </a:rPr>
              <a:t>Détection / masquage des identifiants sensibles.</a:t>
            </a:r>
          </a:p>
          <a:p>
            <a:pPr algn="l">
              <a:lnSpc>
                <a:spcPct val="108000"/>
              </a:lnSpc>
              <a:spcBef>
                <a:spcPts val="0"/>
              </a:spcBef>
              <a:spcAft>
                <a:spcPts val="500"/>
              </a:spcAft>
            </a:pPr>
            <a:r>
              <a:rPr sz="1600" b="0">
                <a:solidFill>
                  <a:srgbClr val="182630"/>
                </a:solidFill>
                <a:latin typeface="Aptos"/>
              </a:rPr>
              <a:t>Journaux et preuves à conserver.</a:t>
            </a:r>
          </a:p>
        </p:txBody>
      </p:sp>
      <p:sp>
        <p:nvSpPr>
          <p:cNvPr id="10" name="Rounded Rectangle 9"/>
          <p:cNvSpPr/>
          <p:nvPr/>
        </p:nvSpPr>
        <p:spPr>
          <a:xfrm>
            <a:off x="6272784" y="2423160"/>
            <a:ext cx="5312664" cy="274320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83096" y="2587752"/>
            <a:ext cx="4892040" cy="640080"/>
          </a:xfrm>
          <a:prstGeom prst="rect">
            <a:avLst/>
          </a:prstGeom>
          <a:noFill/>
        </p:spPr>
        <p:txBody>
          <a:bodyPr wrap="square" lIns="0" rIns="0" tIns="0" bIns="0" anchor="t">
            <a:noAutofit/>
          </a:bodyPr>
          <a:lstStyle/>
          <a:p>
            <a:pPr algn="l">
              <a:lnSpc>
                <a:spcPct val="108000"/>
              </a:lnSpc>
              <a:spcBef>
                <a:spcPts val="0"/>
              </a:spcBef>
              <a:spcAft>
                <a:spcPts val="500"/>
              </a:spcAft>
            </a:pPr>
            <a:r>
              <a:rPr sz="1900" b="1">
                <a:solidFill>
                  <a:srgbClr val="007F79"/>
                </a:solidFill>
                <a:latin typeface="Aptos"/>
              </a:rPr>
              <a:t>Responsabilités d'exploitation</a:t>
            </a:r>
          </a:p>
        </p:txBody>
      </p:sp>
      <p:sp>
        <p:nvSpPr>
          <p:cNvPr id="12" name="TextBox 11"/>
          <p:cNvSpPr txBox="1"/>
          <p:nvPr/>
        </p:nvSpPr>
        <p:spPr>
          <a:xfrm>
            <a:off x="6483096" y="3310128"/>
            <a:ext cx="4892040" cy="1764792"/>
          </a:xfrm>
          <a:prstGeom prst="rect">
            <a:avLst/>
          </a:prstGeom>
          <a:noFill/>
        </p:spPr>
        <p:txBody>
          <a:bodyPr wrap="square" lIns="0" rIns="0" tIns="0" bIns="0" anchor="t">
            <a:noAutofit/>
          </a:bodyPr>
          <a:lstStyle/>
          <a:p>
            <a:pPr algn="l">
              <a:lnSpc>
                <a:spcPct val="108000"/>
              </a:lnSpc>
              <a:spcBef>
                <a:spcPts val="0"/>
              </a:spcBef>
              <a:spcAft>
                <a:spcPts val="500"/>
              </a:spcAft>
            </a:pPr>
            <a:r>
              <a:rPr sz="1600" b="0">
                <a:solidFill>
                  <a:srgbClr val="182630"/>
                </a:solidFill>
                <a:latin typeface="Aptos"/>
              </a:rPr>
              <a:t>Secrets hors dépôt et accès minimaux.</a:t>
            </a:r>
          </a:p>
          <a:p>
            <a:pPr algn="l">
              <a:lnSpc>
                <a:spcPct val="108000"/>
              </a:lnSpc>
              <a:spcBef>
                <a:spcPts val="0"/>
              </a:spcBef>
              <a:spcAft>
                <a:spcPts val="500"/>
              </a:spcAft>
            </a:pPr>
            <a:r>
              <a:rPr sz="1600" b="0">
                <a:solidFill>
                  <a:srgbClr val="182630"/>
                </a:solidFill>
                <a:latin typeface="Aptos"/>
              </a:rPr>
              <a:t>Identités, gateways et RLS testés.</a:t>
            </a:r>
          </a:p>
          <a:p>
            <a:pPr algn="l">
              <a:lnSpc>
                <a:spcPct val="108000"/>
              </a:lnSpc>
              <a:spcBef>
                <a:spcPts val="0"/>
              </a:spcBef>
              <a:spcAft>
                <a:spcPts val="500"/>
              </a:spcAft>
            </a:pPr>
            <a:r>
              <a:rPr sz="1600" b="0">
                <a:solidFill>
                  <a:srgbClr val="182630"/>
                </a:solidFill>
                <a:latin typeface="Aptos"/>
              </a:rPr>
              <a:t>Politique de rétention des exports Hyper.</a:t>
            </a:r>
          </a:p>
          <a:p>
            <a:pPr algn="l">
              <a:lnSpc>
                <a:spcPct val="108000"/>
              </a:lnSpc>
              <a:spcBef>
                <a:spcPts val="0"/>
              </a:spcBef>
              <a:spcAft>
                <a:spcPts val="500"/>
              </a:spcAft>
            </a:pPr>
            <a:r>
              <a:rPr sz="1600" b="0">
                <a:solidFill>
                  <a:srgbClr val="182630"/>
                </a:solidFill>
                <a:latin typeface="Aptos"/>
              </a:rPr>
              <a:t>Approbation explicite de publication.</a:t>
            </a:r>
          </a:p>
        </p:txBody>
      </p:sp>
      <p:sp>
        <p:nvSpPr>
          <p:cNvPr id="13" name="Rounded Rectangle 12"/>
          <p:cNvSpPr/>
          <p:nvPr/>
        </p:nvSpPr>
        <p:spPr>
          <a:xfrm>
            <a:off x="594360" y="5522976"/>
            <a:ext cx="11000232" cy="429768"/>
          </a:xfrm>
          <a:prstGeom prst="roundRect">
            <a:avLst>
              <a:gd name="adj" fmla="val 12000"/>
            </a:avLst>
          </a:prstGeom>
          <a:solidFill>
            <a:srgbClr val="1826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86384" y="5614416"/>
            <a:ext cx="10616184" cy="256032"/>
          </a:xfrm>
          <a:prstGeom prst="rect">
            <a:avLst/>
          </a:prstGeom>
          <a:noFill/>
        </p:spPr>
        <p:txBody>
          <a:bodyPr wrap="square" lIns="0" rIns="0" tIns="0" bIns="0" anchor="t">
            <a:noAutofit/>
          </a:bodyPr>
          <a:lstStyle/>
          <a:p>
            <a:pPr algn="l">
              <a:lnSpc>
                <a:spcPct val="108000"/>
              </a:lnSpc>
              <a:spcBef>
                <a:spcPts val="0"/>
              </a:spcBef>
              <a:spcAft>
                <a:spcPts val="500"/>
              </a:spcAft>
            </a:pPr>
            <a:r>
              <a:rPr sz="1300" b="1">
                <a:solidFill>
                  <a:srgbClr val="FFFFFF"/>
                </a:solidFill>
                <a:latin typeface="Aptos"/>
              </a:rPr>
              <a:t>Des contrôles intégrés ne remplacent pas une revue de sécurité propre au déploiement.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5F7F8"/>
        </a:solidFill>
        <a:effectLst/>
      </p:bgPr>
    </p:bg>
    <p:spTree>
      <p:nvGrpSpPr>
        <p:cNvPr id="1" name=""/>
        <p:cNvGrpSpPr/>
        <p:nvPr/>
      </p:nvGrpSpPr>
      <p:grpSpPr/>
      <p:sp>
        <p:nvSpPr>
          <p:cNvPr id="2" name="TextBox 1"/>
          <p:cNvSpPr txBox="1"/>
          <p:nvPr/>
        </p:nvSpPr>
        <p:spPr>
          <a:xfrm>
            <a:off x="594360" y="466344"/>
            <a:ext cx="10789920" cy="201168"/>
          </a:xfrm>
          <a:prstGeom prst="rect">
            <a:avLst/>
          </a:prstGeom>
          <a:noFill/>
        </p:spPr>
        <p:txBody>
          <a:bodyPr wrap="square" lIns="0" rIns="0" tIns="0" bIns="0" anchor="t">
            <a:noAutofit/>
          </a:bodyPr>
          <a:lstStyle/>
          <a:p>
            <a:pPr algn="l">
              <a:lnSpc>
                <a:spcPct val="108000"/>
              </a:lnSpc>
              <a:spcBef>
                <a:spcPts val="0"/>
              </a:spcBef>
              <a:spcAft>
                <a:spcPts val="500"/>
              </a:spcAft>
            </a:pPr>
            <a:r>
              <a:rPr sz="1050" b="1">
                <a:solidFill>
                  <a:srgbClr val="007F79"/>
                </a:solidFill>
                <a:latin typeface="Aptos"/>
              </a:rPr>
              <a:t>DÉPLOIEMENT</a:t>
            </a:r>
          </a:p>
        </p:txBody>
      </p:sp>
      <p:sp>
        <p:nvSpPr>
          <p:cNvPr id="3" name="Slide title"/>
          <p:cNvSpPr txBox="1"/>
          <p:nvPr/>
        </p:nvSpPr>
        <p:spPr>
          <a:xfrm>
            <a:off x="594360" y="859536"/>
            <a:ext cx="11000232" cy="685800"/>
          </a:xfrm>
          <a:prstGeom prst="rect">
            <a:avLst/>
          </a:prstGeom>
          <a:noFill/>
        </p:spPr>
        <p:txBody>
          <a:bodyPr wrap="square" lIns="0" rIns="0" tIns="0" bIns="0" anchor="t">
            <a:noAutofit/>
          </a:bodyPr>
          <a:lstStyle/>
          <a:p>
            <a:pPr algn="l">
              <a:lnSpc>
                <a:spcPct val="108000"/>
              </a:lnSpc>
              <a:spcBef>
                <a:spcPts val="0"/>
              </a:spcBef>
              <a:spcAft>
                <a:spcPts val="500"/>
              </a:spcAft>
            </a:pPr>
            <a:r>
              <a:rPr sz="3600" b="1">
                <a:solidFill>
                  <a:srgbClr val="182630"/>
                </a:solidFill>
                <a:latin typeface="Aptos Display"/>
              </a:rPr>
              <a:t>Publier seulement après la recette</a:t>
            </a:r>
          </a:p>
        </p:txBody>
      </p:sp>
      <p:sp>
        <p:nvSpPr>
          <p:cNvPr id="4" name="TextBox 3"/>
          <p:cNvSpPr txBox="1"/>
          <p:nvPr/>
        </p:nvSpPr>
        <p:spPr>
          <a:xfrm>
            <a:off x="594360" y="1673352"/>
            <a:ext cx="11000232" cy="493776"/>
          </a:xfrm>
          <a:prstGeom prst="rect">
            <a:avLst/>
          </a:prstGeom>
          <a:noFill/>
        </p:spPr>
        <p:txBody>
          <a:bodyPr wrap="square" lIns="0" rIns="0" tIns="0" bIns="0" anchor="t">
            <a:noAutofit/>
          </a:bodyPr>
          <a:lstStyle/>
          <a:p>
            <a:pPr algn="l">
              <a:lnSpc>
                <a:spcPct val="108000"/>
              </a:lnSpc>
              <a:spcBef>
                <a:spcPts val="0"/>
              </a:spcBef>
              <a:spcAft>
                <a:spcPts val="500"/>
              </a:spcAft>
            </a:pPr>
            <a:r>
              <a:rPr sz="1500" b="0">
                <a:solidFill>
                  <a:srgbClr val="52616C"/>
                </a:solidFill>
                <a:latin typeface="Aptos"/>
              </a:rPr>
              <a:t>La génération locale ne crée pas implicitement une mise en production.</a:t>
            </a:r>
          </a:p>
        </p:txBody>
      </p:sp>
      <p:sp>
        <p:nvSpPr>
          <p:cNvPr id="5" name="TextBox 4"/>
          <p:cNvSpPr txBox="1"/>
          <p:nvPr/>
        </p:nvSpPr>
        <p:spPr>
          <a:xfrm>
            <a:off x="594360" y="6199632"/>
            <a:ext cx="10149840" cy="182880"/>
          </a:xfrm>
          <a:prstGeom prst="rect">
            <a:avLst/>
          </a:prstGeom>
          <a:noFill/>
        </p:spPr>
        <p:txBody>
          <a:bodyPr wrap="square" lIns="0" rIns="0" tIns="0" bIns="0" anchor="t">
            <a:noAutofit/>
          </a:bodyPr>
          <a:lstStyle/>
          <a:p>
            <a:pPr algn="l">
              <a:lnSpc>
                <a:spcPct val="108000"/>
              </a:lnSpc>
              <a:spcBef>
                <a:spcPts val="0"/>
              </a:spcBef>
              <a:spcAft>
                <a:spcPts val="500"/>
              </a:spcAft>
            </a:pPr>
            <a:r>
              <a:rPr sz="1000" b="0">
                <a:solidFill>
                  <a:srgbClr val="52616C"/>
                </a:solidFill>
                <a:latin typeface="Aptos"/>
              </a:rPr>
              <a:t>Tableau to Power BI  |  Édition 26.10.2026  |  Déploiement</a:t>
            </a:r>
          </a:p>
        </p:txBody>
      </p:sp>
      <p:sp>
        <p:nvSpPr>
          <p:cNvPr id="6" name="TextBox 5"/>
          <p:cNvSpPr txBox="1"/>
          <p:nvPr/>
        </p:nvSpPr>
        <p:spPr>
          <a:xfrm>
            <a:off x="11000232" y="6181344"/>
            <a:ext cx="594360" cy="210312"/>
          </a:xfrm>
          <a:prstGeom prst="rect">
            <a:avLst/>
          </a:prstGeom>
          <a:noFill/>
        </p:spPr>
        <p:txBody>
          <a:bodyPr wrap="square" lIns="0" rIns="0" tIns="0" bIns="0" anchor="t">
            <a:noAutofit/>
          </a:bodyPr>
          <a:lstStyle/>
          <a:p>
            <a:pPr algn="r">
              <a:lnSpc>
                <a:spcPct val="108000"/>
              </a:lnSpc>
              <a:spcBef>
                <a:spcPts val="0"/>
              </a:spcBef>
              <a:spcAft>
                <a:spcPts val="500"/>
              </a:spcAft>
            </a:pPr>
            <a:r>
              <a:rPr sz="1100" b="0">
                <a:solidFill>
                  <a:srgbClr val="52616C"/>
                </a:solidFill>
                <a:latin typeface="Aptos"/>
              </a:rPr>
              <a:t>19</a:t>
            </a:r>
          </a:p>
        </p:txBody>
      </p:sp>
      <p:sp>
        <p:nvSpPr>
          <p:cNvPr id="7" name="Rounded Rectangle 6"/>
          <p:cNvSpPr/>
          <p:nvPr/>
        </p:nvSpPr>
        <p:spPr>
          <a:xfrm>
            <a:off x="594360" y="2587752"/>
            <a:ext cx="2468880" cy="1828800"/>
          </a:xfrm>
          <a:prstGeom prst="roundRect">
            <a:avLst>
              <a:gd name="adj" fmla="val 12000"/>
            </a:avLst>
          </a:prstGeom>
          <a:solidFill>
            <a:srgbClr val="1826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58952" y="2761488"/>
            <a:ext cx="2139696" cy="402336"/>
          </a:xfrm>
          <a:prstGeom prst="rect">
            <a:avLst/>
          </a:prstGeom>
          <a:noFill/>
        </p:spPr>
        <p:txBody>
          <a:bodyPr wrap="square" lIns="0" rIns="0" tIns="0" bIns="0" anchor="t">
            <a:noAutofit/>
          </a:bodyPr>
          <a:lstStyle/>
          <a:p>
            <a:pPr algn="ctr">
              <a:lnSpc>
                <a:spcPct val="108000"/>
              </a:lnSpc>
              <a:spcBef>
                <a:spcPts val="0"/>
              </a:spcBef>
              <a:spcAft>
                <a:spcPts val="500"/>
              </a:spcAft>
            </a:pPr>
            <a:r>
              <a:rPr sz="1900" b="1">
                <a:solidFill>
                  <a:srgbClr val="FFFFFF"/>
                </a:solidFill>
                <a:latin typeface="Aptos"/>
              </a:rPr>
              <a:t>Configurer</a:t>
            </a:r>
          </a:p>
        </p:txBody>
      </p:sp>
      <p:sp>
        <p:nvSpPr>
          <p:cNvPr id="9" name="TextBox 8"/>
          <p:cNvSpPr txBox="1"/>
          <p:nvPr/>
        </p:nvSpPr>
        <p:spPr>
          <a:xfrm>
            <a:off x="758952" y="3264408"/>
            <a:ext cx="2139696" cy="1088136"/>
          </a:xfrm>
          <a:prstGeom prst="rect">
            <a:avLst/>
          </a:prstGeom>
          <a:noFill/>
        </p:spPr>
        <p:txBody>
          <a:bodyPr wrap="square" lIns="0" rIns="0" tIns="0" bIns="0" anchor="t">
            <a:noAutofit/>
          </a:bodyPr>
          <a:lstStyle/>
          <a:p>
            <a:pPr algn="ctr">
              <a:lnSpc>
                <a:spcPct val="108000"/>
              </a:lnSpc>
              <a:spcBef>
                <a:spcPts val="0"/>
              </a:spcBef>
              <a:spcAft>
                <a:spcPts val="500"/>
              </a:spcAft>
            </a:pPr>
            <a:r>
              <a:rPr sz="1400" b="0">
                <a:solidFill>
                  <a:srgbClr val="FFFFFF"/>
                </a:solidFill>
                <a:latin typeface="Aptos"/>
              </a:rPr>
              <a:t>Workspace, identité,</a:t>
            </a:r>
          </a:p>
          <a:p>
            <a:pPr algn="ctr">
              <a:lnSpc>
                <a:spcPct val="108000"/>
              </a:lnSpc>
              <a:spcBef>
                <a:spcPts val="0"/>
              </a:spcBef>
              <a:spcAft>
                <a:spcPts val="500"/>
              </a:spcAft>
            </a:pPr>
            <a:r>
              <a:rPr sz="1400" b="0">
                <a:solidFill>
                  <a:srgbClr val="FFFFFF"/>
                </a:solidFill>
                <a:latin typeface="Aptos"/>
              </a:rPr>
              <a:t>connexions, gateway</a:t>
            </a:r>
          </a:p>
        </p:txBody>
      </p:sp>
      <p:sp>
        <p:nvSpPr>
          <p:cNvPr id="10" name="Chevron 9"/>
          <p:cNvSpPr/>
          <p:nvPr/>
        </p:nvSpPr>
        <p:spPr>
          <a:xfrm>
            <a:off x="3145536" y="3383280"/>
            <a:ext cx="201168" cy="201168"/>
          </a:xfrm>
          <a:prstGeom prst="chevron">
            <a:avLst/>
          </a:prstGeom>
          <a:solidFill>
            <a:srgbClr val="5261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3429000" y="2587752"/>
            <a:ext cx="2468880" cy="1828800"/>
          </a:xfrm>
          <a:prstGeom prst="roundRect">
            <a:avLst>
              <a:gd name="adj" fmla="val 12000"/>
            </a:avLst>
          </a:prstGeom>
          <a:solidFill>
            <a:srgbClr val="1826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593592" y="2761488"/>
            <a:ext cx="2139696" cy="402336"/>
          </a:xfrm>
          <a:prstGeom prst="rect">
            <a:avLst/>
          </a:prstGeom>
          <a:noFill/>
        </p:spPr>
        <p:txBody>
          <a:bodyPr wrap="square" lIns="0" rIns="0" tIns="0" bIns="0" anchor="t">
            <a:noAutofit/>
          </a:bodyPr>
          <a:lstStyle/>
          <a:p>
            <a:pPr algn="ctr">
              <a:lnSpc>
                <a:spcPct val="108000"/>
              </a:lnSpc>
              <a:spcBef>
                <a:spcPts val="0"/>
              </a:spcBef>
              <a:spcAft>
                <a:spcPts val="500"/>
              </a:spcAft>
            </a:pPr>
            <a:r>
              <a:rPr sz="1900" b="1">
                <a:solidFill>
                  <a:srgbClr val="FFFFFF"/>
                </a:solidFill>
                <a:latin typeface="Aptos"/>
              </a:rPr>
              <a:t>Prévisualiser</a:t>
            </a:r>
          </a:p>
        </p:txBody>
      </p:sp>
      <p:sp>
        <p:nvSpPr>
          <p:cNvPr id="13" name="TextBox 12"/>
          <p:cNvSpPr txBox="1"/>
          <p:nvPr/>
        </p:nvSpPr>
        <p:spPr>
          <a:xfrm>
            <a:off x="3593592" y="3264408"/>
            <a:ext cx="2139696" cy="1088136"/>
          </a:xfrm>
          <a:prstGeom prst="rect">
            <a:avLst/>
          </a:prstGeom>
          <a:noFill/>
        </p:spPr>
        <p:txBody>
          <a:bodyPr wrap="square" lIns="0" rIns="0" tIns="0" bIns="0" anchor="t">
            <a:noAutofit/>
          </a:bodyPr>
          <a:lstStyle/>
          <a:p>
            <a:pPr algn="ctr">
              <a:lnSpc>
                <a:spcPct val="108000"/>
              </a:lnSpc>
              <a:spcBef>
                <a:spcPts val="0"/>
              </a:spcBef>
              <a:spcAft>
                <a:spcPts val="500"/>
              </a:spcAft>
            </a:pPr>
            <a:r>
              <a:rPr sz="1400" b="0">
                <a:solidFill>
                  <a:srgbClr val="FFFFFF"/>
                </a:solidFill>
                <a:latin typeface="Aptos"/>
              </a:rPr>
              <a:t>Artefacts, dépendances,</a:t>
            </a:r>
          </a:p>
          <a:p>
            <a:pPr algn="ctr">
              <a:lnSpc>
                <a:spcPct val="108000"/>
              </a:lnSpc>
              <a:spcBef>
                <a:spcPts val="0"/>
              </a:spcBef>
              <a:spcAft>
                <a:spcPts val="500"/>
              </a:spcAft>
            </a:pPr>
            <a:r>
              <a:rPr sz="1400" b="0">
                <a:solidFill>
                  <a:srgbClr val="FFFFFF"/>
                </a:solidFill>
                <a:latin typeface="Aptos"/>
              </a:rPr>
              <a:t>permissions et coûts</a:t>
            </a:r>
          </a:p>
        </p:txBody>
      </p:sp>
      <p:sp>
        <p:nvSpPr>
          <p:cNvPr id="14" name="Chevron 13"/>
          <p:cNvSpPr/>
          <p:nvPr/>
        </p:nvSpPr>
        <p:spPr>
          <a:xfrm>
            <a:off x="5980176" y="3383280"/>
            <a:ext cx="201168" cy="201168"/>
          </a:xfrm>
          <a:prstGeom prst="chevron">
            <a:avLst/>
          </a:prstGeom>
          <a:solidFill>
            <a:srgbClr val="5261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2587752"/>
            <a:ext cx="2468880" cy="1828800"/>
          </a:xfrm>
          <a:prstGeom prst="roundRect">
            <a:avLst>
              <a:gd name="adj" fmla="val 12000"/>
            </a:avLst>
          </a:prstGeom>
          <a:solidFill>
            <a:srgbClr val="007F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28232" y="2761488"/>
            <a:ext cx="2139696" cy="402336"/>
          </a:xfrm>
          <a:prstGeom prst="rect">
            <a:avLst/>
          </a:prstGeom>
          <a:noFill/>
        </p:spPr>
        <p:txBody>
          <a:bodyPr wrap="square" lIns="0" rIns="0" tIns="0" bIns="0" anchor="t">
            <a:noAutofit/>
          </a:bodyPr>
          <a:lstStyle/>
          <a:p>
            <a:pPr algn="ctr">
              <a:lnSpc>
                <a:spcPct val="108000"/>
              </a:lnSpc>
              <a:spcBef>
                <a:spcPts val="0"/>
              </a:spcBef>
              <a:spcAft>
                <a:spcPts val="500"/>
              </a:spcAft>
            </a:pPr>
            <a:r>
              <a:rPr sz="1900" b="1">
                <a:solidFill>
                  <a:srgbClr val="FFFFFF"/>
                </a:solidFill>
                <a:latin typeface="Aptos"/>
              </a:rPr>
              <a:t>Autoriser</a:t>
            </a:r>
          </a:p>
        </p:txBody>
      </p:sp>
      <p:sp>
        <p:nvSpPr>
          <p:cNvPr id="17" name="TextBox 16"/>
          <p:cNvSpPr txBox="1"/>
          <p:nvPr/>
        </p:nvSpPr>
        <p:spPr>
          <a:xfrm>
            <a:off x="6428232" y="3264408"/>
            <a:ext cx="2139696" cy="1088136"/>
          </a:xfrm>
          <a:prstGeom prst="rect">
            <a:avLst/>
          </a:prstGeom>
          <a:noFill/>
        </p:spPr>
        <p:txBody>
          <a:bodyPr wrap="square" lIns="0" rIns="0" tIns="0" bIns="0" anchor="t">
            <a:noAutofit/>
          </a:bodyPr>
          <a:lstStyle/>
          <a:p>
            <a:pPr algn="ctr">
              <a:lnSpc>
                <a:spcPct val="108000"/>
              </a:lnSpc>
              <a:spcBef>
                <a:spcPts val="0"/>
              </a:spcBef>
              <a:spcAft>
                <a:spcPts val="500"/>
              </a:spcAft>
            </a:pPr>
            <a:r>
              <a:rPr sz="1400" b="0">
                <a:solidFill>
                  <a:srgbClr val="FFFFFF"/>
                </a:solidFill>
                <a:latin typeface="Aptos"/>
              </a:rPr>
              <a:t>Déploiement séparé,</a:t>
            </a:r>
          </a:p>
          <a:p>
            <a:pPr algn="ctr">
              <a:lnSpc>
                <a:spcPct val="108000"/>
              </a:lnSpc>
              <a:spcBef>
                <a:spcPts val="0"/>
              </a:spcBef>
              <a:spcAft>
                <a:spcPts val="500"/>
              </a:spcAft>
            </a:pPr>
            <a:r>
              <a:rPr sz="1400" b="0">
                <a:solidFill>
                  <a:srgbClr val="FFFFFF"/>
                </a:solidFill>
                <a:latin typeface="Aptos"/>
              </a:rPr>
              <a:t>acceptation du périmètre</a:t>
            </a:r>
          </a:p>
        </p:txBody>
      </p:sp>
      <p:sp>
        <p:nvSpPr>
          <p:cNvPr id="18" name="Chevron 17"/>
          <p:cNvSpPr/>
          <p:nvPr/>
        </p:nvSpPr>
        <p:spPr>
          <a:xfrm>
            <a:off x="8814816" y="3383280"/>
            <a:ext cx="201168" cy="201168"/>
          </a:xfrm>
          <a:prstGeom prst="chevron">
            <a:avLst/>
          </a:prstGeom>
          <a:solidFill>
            <a:srgbClr val="5261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9098280" y="2587752"/>
            <a:ext cx="2468880" cy="1828800"/>
          </a:xfrm>
          <a:prstGeom prst="roundRect">
            <a:avLst>
              <a:gd name="adj" fmla="val 12000"/>
            </a:avLst>
          </a:prstGeom>
          <a:solidFill>
            <a:srgbClr val="1826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262872" y="2761488"/>
            <a:ext cx="2139696" cy="402336"/>
          </a:xfrm>
          <a:prstGeom prst="rect">
            <a:avLst/>
          </a:prstGeom>
          <a:noFill/>
        </p:spPr>
        <p:txBody>
          <a:bodyPr wrap="square" lIns="0" rIns="0" tIns="0" bIns="0" anchor="t">
            <a:noAutofit/>
          </a:bodyPr>
          <a:lstStyle/>
          <a:p>
            <a:pPr algn="ctr">
              <a:lnSpc>
                <a:spcPct val="108000"/>
              </a:lnSpc>
              <a:spcBef>
                <a:spcPts val="0"/>
              </a:spcBef>
              <a:spcAft>
                <a:spcPts val="500"/>
              </a:spcAft>
            </a:pPr>
            <a:r>
              <a:rPr sz="1900" b="1">
                <a:solidFill>
                  <a:srgbClr val="FFFFFF"/>
                </a:solidFill>
                <a:latin typeface="Aptos"/>
              </a:rPr>
              <a:t>Vérifier</a:t>
            </a:r>
          </a:p>
        </p:txBody>
      </p:sp>
      <p:sp>
        <p:nvSpPr>
          <p:cNvPr id="21" name="TextBox 20"/>
          <p:cNvSpPr txBox="1"/>
          <p:nvPr/>
        </p:nvSpPr>
        <p:spPr>
          <a:xfrm>
            <a:off x="9262872" y="3264408"/>
            <a:ext cx="2139696" cy="1088136"/>
          </a:xfrm>
          <a:prstGeom prst="rect">
            <a:avLst/>
          </a:prstGeom>
          <a:noFill/>
        </p:spPr>
        <p:txBody>
          <a:bodyPr wrap="square" lIns="0" rIns="0" tIns="0" bIns="0" anchor="t">
            <a:noAutofit/>
          </a:bodyPr>
          <a:lstStyle/>
          <a:p>
            <a:pPr algn="ctr">
              <a:lnSpc>
                <a:spcPct val="108000"/>
              </a:lnSpc>
              <a:spcBef>
                <a:spcPts val="0"/>
              </a:spcBef>
              <a:spcAft>
                <a:spcPts val="500"/>
              </a:spcAft>
            </a:pPr>
            <a:r>
              <a:rPr sz="1400" b="0">
                <a:solidFill>
                  <a:srgbClr val="FFFFFF"/>
                </a:solidFill>
                <a:latin typeface="Aptos"/>
              </a:rPr>
              <a:t>Refresh, supervision,</a:t>
            </a:r>
          </a:p>
          <a:p>
            <a:pPr algn="ctr">
              <a:lnSpc>
                <a:spcPct val="108000"/>
              </a:lnSpc>
              <a:spcBef>
                <a:spcPts val="0"/>
              </a:spcBef>
              <a:spcAft>
                <a:spcPts val="500"/>
              </a:spcAft>
            </a:pPr>
            <a:r>
              <a:rPr sz="1400" b="0">
                <a:solidFill>
                  <a:srgbClr val="FFFFFF"/>
                </a:solidFill>
                <a:latin typeface="Aptos"/>
              </a:rPr>
              <a:t>reprise et rollback</a:t>
            </a:r>
          </a:p>
        </p:txBody>
      </p:sp>
      <p:sp>
        <p:nvSpPr>
          <p:cNvPr id="22" name="Rounded Rectangle 21"/>
          <p:cNvSpPr/>
          <p:nvPr/>
        </p:nvSpPr>
        <p:spPr>
          <a:xfrm>
            <a:off x="594360" y="5522976"/>
            <a:ext cx="11000232" cy="429768"/>
          </a:xfrm>
          <a:prstGeom prst="roundRect">
            <a:avLst>
              <a:gd name="adj" fmla="val 12000"/>
            </a:avLst>
          </a:prstGeom>
          <a:solidFill>
            <a:srgbClr val="1826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86384" y="5614416"/>
            <a:ext cx="10616184" cy="256032"/>
          </a:xfrm>
          <a:prstGeom prst="rect">
            <a:avLst/>
          </a:prstGeom>
          <a:noFill/>
        </p:spPr>
        <p:txBody>
          <a:bodyPr wrap="square" lIns="0" rIns="0" tIns="0" bIns="0" anchor="t">
            <a:noAutofit/>
          </a:bodyPr>
          <a:lstStyle/>
          <a:p>
            <a:pPr algn="l">
              <a:lnSpc>
                <a:spcPct val="108000"/>
              </a:lnSpc>
              <a:spcBef>
                <a:spcPts val="0"/>
              </a:spcBef>
              <a:spcAft>
                <a:spcPts val="500"/>
              </a:spcAft>
            </a:pPr>
            <a:r>
              <a:rPr sz="1300" b="1">
                <a:solidFill>
                  <a:srgbClr val="FFFFFF"/>
                </a:solidFill>
                <a:latin typeface="Aptos"/>
              </a:rPr>
              <a:t>Licences Power BI / capacité Fabric et coûts d'exploitation restent à budgéter.</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5F7F8"/>
        </a:solidFill>
        <a:effectLst/>
      </p:bgPr>
    </p:bg>
    <p:spTree>
      <p:nvGrpSpPr>
        <p:cNvPr id="1" name=""/>
        <p:cNvGrpSpPr/>
        <p:nvPr/>
      </p:nvGrpSpPr>
      <p:grpSpPr/>
      <p:sp>
        <p:nvSpPr>
          <p:cNvPr id="2" name="TextBox 1"/>
          <p:cNvSpPr txBox="1"/>
          <p:nvPr/>
        </p:nvSpPr>
        <p:spPr>
          <a:xfrm>
            <a:off x="594360" y="466344"/>
            <a:ext cx="10789920" cy="201168"/>
          </a:xfrm>
          <a:prstGeom prst="rect">
            <a:avLst/>
          </a:prstGeom>
          <a:noFill/>
        </p:spPr>
        <p:txBody>
          <a:bodyPr wrap="square" lIns="0" rIns="0" tIns="0" bIns="0" anchor="t">
            <a:noAutofit/>
          </a:bodyPr>
          <a:lstStyle/>
          <a:p>
            <a:pPr algn="l">
              <a:lnSpc>
                <a:spcPct val="108000"/>
              </a:lnSpc>
              <a:spcBef>
                <a:spcPts val="0"/>
              </a:spcBef>
              <a:spcAft>
                <a:spcPts val="500"/>
              </a:spcAft>
            </a:pPr>
            <a:r>
              <a:rPr sz="1050" b="1">
                <a:solidFill>
                  <a:srgbClr val="007F79"/>
                </a:solidFill>
                <a:latin typeface="Aptos"/>
              </a:rPr>
              <a:t>DÉMARRAGE</a:t>
            </a:r>
          </a:p>
        </p:txBody>
      </p:sp>
      <p:sp>
        <p:nvSpPr>
          <p:cNvPr id="3" name="Slide title"/>
          <p:cNvSpPr txBox="1"/>
          <p:nvPr/>
        </p:nvSpPr>
        <p:spPr>
          <a:xfrm>
            <a:off x="594360" y="859536"/>
            <a:ext cx="11000232" cy="685800"/>
          </a:xfrm>
          <a:prstGeom prst="rect">
            <a:avLst/>
          </a:prstGeom>
          <a:noFill/>
        </p:spPr>
        <p:txBody>
          <a:bodyPr wrap="square" lIns="0" rIns="0" tIns="0" bIns="0" anchor="t">
            <a:noAutofit/>
          </a:bodyPr>
          <a:lstStyle/>
          <a:p>
            <a:pPr algn="l">
              <a:lnSpc>
                <a:spcPct val="108000"/>
              </a:lnSpc>
              <a:spcBef>
                <a:spcPts val="0"/>
              </a:spcBef>
              <a:spcAft>
                <a:spcPts val="500"/>
              </a:spcAft>
            </a:pPr>
            <a:r>
              <a:rPr sz="3600" b="1">
                <a:solidFill>
                  <a:srgbClr val="182630"/>
                </a:solidFill>
                <a:latin typeface="Aptos Display"/>
              </a:rPr>
              <a:t>Les commandes qui correspondent aux routes</a:t>
            </a:r>
          </a:p>
        </p:txBody>
      </p:sp>
      <p:sp>
        <p:nvSpPr>
          <p:cNvPr id="4" name="TextBox 3"/>
          <p:cNvSpPr txBox="1"/>
          <p:nvPr/>
        </p:nvSpPr>
        <p:spPr>
          <a:xfrm>
            <a:off x="594360" y="1673352"/>
            <a:ext cx="11000232" cy="493776"/>
          </a:xfrm>
          <a:prstGeom prst="rect">
            <a:avLst/>
          </a:prstGeom>
          <a:noFill/>
        </p:spPr>
        <p:txBody>
          <a:bodyPr wrap="square" lIns="0" rIns="0" tIns="0" bIns="0" anchor="t">
            <a:noAutofit/>
          </a:bodyPr>
          <a:lstStyle/>
          <a:p>
            <a:pPr algn="l">
              <a:lnSpc>
                <a:spcPct val="108000"/>
              </a:lnSpc>
              <a:spcBef>
                <a:spcPts val="0"/>
              </a:spcBef>
              <a:spcAft>
                <a:spcPts val="500"/>
              </a:spcAft>
            </a:pPr>
            <a:r>
              <a:rPr sz="1500" b="0">
                <a:solidFill>
                  <a:srgbClr val="52616C"/>
                </a:solidFill>
                <a:latin typeface="Aptos"/>
              </a:rPr>
              <a:t>Exemples depuis la racine du dépôt ; dossiers source et sortie distincts.</a:t>
            </a:r>
          </a:p>
        </p:txBody>
      </p:sp>
      <p:sp>
        <p:nvSpPr>
          <p:cNvPr id="5" name="TextBox 4"/>
          <p:cNvSpPr txBox="1"/>
          <p:nvPr/>
        </p:nvSpPr>
        <p:spPr>
          <a:xfrm>
            <a:off x="594360" y="6199632"/>
            <a:ext cx="10149840" cy="182880"/>
          </a:xfrm>
          <a:prstGeom prst="rect">
            <a:avLst/>
          </a:prstGeom>
          <a:noFill/>
        </p:spPr>
        <p:txBody>
          <a:bodyPr wrap="square" lIns="0" rIns="0" tIns="0" bIns="0" anchor="t">
            <a:noAutofit/>
          </a:bodyPr>
          <a:lstStyle/>
          <a:p>
            <a:pPr algn="l">
              <a:lnSpc>
                <a:spcPct val="108000"/>
              </a:lnSpc>
              <a:spcBef>
                <a:spcPts val="0"/>
              </a:spcBef>
              <a:spcAft>
                <a:spcPts val="500"/>
              </a:spcAft>
            </a:pPr>
            <a:r>
              <a:rPr sz="1000" b="0">
                <a:solidFill>
                  <a:srgbClr val="52616C"/>
                </a:solidFill>
                <a:latin typeface="Aptos"/>
              </a:rPr>
              <a:t>Tableau to Power BI  |  Édition 26.10.2026  |  Démarrage</a:t>
            </a:r>
          </a:p>
        </p:txBody>
      </p:sp>
      <p:sp>
        <p:nvSpPr>
          <p:cNvPr id="6" name="TextBox 5"/>
          <p:cNvSpPr txBox="1"/>
          <p:nvPr/>
        </p:nvSpPr>
        <p:spPr>
          <a:xfrm>
            <a:off x="11000232" y="6181344"/>
            <a:ext cx="594360" cy="210312"/>
          </a:xfrm>
          <a:prstGeom prst="rect">
            <a:avLst/>
          </a:prstGeom>
          <a:noFill/>
        </p:spPr>
        <p:txBody>
          <a:bodyPr wrap="square" lIns="0" rIns="0" tIns="0" bIns="0" anchor="t">
            <a:noAutofit/>
          </a:bodyPr>
          <a:lstStyle/>
          <a:p>
            <a:pPr algn="r">
              <a:lnSpc>
                <a:spcPct val="108000"/>
              </a:lnSpc>
              <a:spcBef>
                <a:spcPts val="0"/>
              </a:spcBef>
              <a:spcAft>
                <a:spcPts val="500"/>
              </a:spcAft>
            </a:pPr>
            <a:r>
              <a:rPr sz="1100" b="0">
                <a:solidFill>
                  <a:srgbClr val="52616C"/>
                </a:solidFill>
                <a:latin typeface="Aptos"/>
              </a:rPr>
              <a:t>20</a:t>
            </a:r>
          </a:p>
        </p:txBody>
      </p:sp>
      <p:sp>
        <p:nvSpPr>
          <p:cNvPr id="7" name="TextBox 6"/>
          <p:cNvSpPr txBox="1"/>
          <p:nvPr/>
        </p:nvSpPr>
        <p:spPr>
          <a:xfrm>
            <a:off x="594360" y="2286000"/>
            <a:ext cx="11000232" cy="237744"/>
          </a:xfrm>
          <a:prstGeom prst="rect">
            <a:avLst/>
          </a:prstGeom>
          <a:noFill/>
        </p:spPr>
        <p:txBody>
          <a:bodyPr wrap="square" lIns="0" rIns="0" tIns="0" bIns="0" anchor="t">
            <a:noAutofit/>
          </a:bodyPr>
          <a:lstStyle/>
          <a:p>
            <a:pPr algn="l">
              <a:lnSpc>
                <a:spcPct val="108000"/>
              </a:lnSpc>
              <a:spcBef>
                <a:spcPts val="0"/>
              </a:spcBef>
              <a:spcAft>
                <a:spcPts val="500"/>
              </a:spcAft>
            </a:pPr>
            <a:r>
              <a:rPr sz="1300" b="1">
                <a:solidFill>
                  <a:srgbClr val="007F79"/>
                </a:solidFill>
                <a:latin typeface="Aptos"/>
              </a:rPr>
              <a:t>Navigateur local</a:t>
            </a:r>
          </a:p>
        </p:txBody>
      </p:sp>
      <p:sp>
        <p:nvSpPr>
          <p:cNvPr id="8" name="Rounded Rectangle 7"/>
          <p:cNvSpPr/>
          <p:nvPr/>
        </p:nvSpPr>
        <p:spPr>
          <a:xfrm>
            <a:off x="594360" y="2596896"/>
            <a:ext cx="11000232" cy="384048"/>
          </a:xfrm>
          <a:prstGeom prst="roundRect">
            <a:avLst>
              <a:gd name="adj" fmla="val 12000"/>
            </a:avLst>
          </a:prstGeom>
          <a:solidFill>
            <a:srgbClr val="1826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95528" y="2670048"/>
            <a:ext cx="10597896" cy="228600"/>
          </a:xfrm>
          <a:prstGeom prst="rect">
            <a:avLst/>
          </a:prstGeom>
          <a:noFill/>
        </p:spPr>
        <p:txBody>
          <a:bodyPr wrap="square" lIns="0" rIns="0" tIns="0" bIns="0" anchor="t">
            <a:noAutofit/>
          </a:bodyPr>
          <a:lstStyle/>
          <a:p>
            <a:pPr algn="l">
              <a:lnSpc>
                <a:spcPct val="108000"/>
              </a:lnSpc>
              <a:spcBef>
                <a:spcPts val="0"/>
              </a:spcBef>
              <a:spcAft>
                <a:spcPts val="500"/>
              </a:spcAft>
            </a:pPr>
            <a:r>
              <a:rPr sz="1300" b="0">
                <a:solidFill>
                  <a:srgbClr val="FFFFFF"/>
                </a:solidFill>
                <a:latin typeface="Cascadia Code"/>
              </a:rPr>
              <a:t>.\run_web_ui.ps1</a:t>
            </a:r>
          </a:p>
        </p:txBody>
      </p:sp>
      <p:sp>
        <p:nvSpPr>
          <p:cNvPr id="10" name="TextBox 9"/>
          <p:cNvSpPr txBox="1"/>
          <p:nvPr/>
        </p:nvSpPr>
        <p:spPr>
          <a:xfrm>
            <a:off x="594360" y="3118104"/>
            <a:ext cx="11000232" cy="237744"/>
          </a:xfrm>
          <a:prstGeom prst="rect">
            <a:avLst/>
          </a:prstGeom>
          <a:noFill/>
        </p:spPr>
        <p:txBody>
          <a:bodyPr wrap="square" lIns="0" rIns="0" tIns="0" bIns="0" anchor="t">
            <a:noAutofit/>
          </a:bodyPr>
          <a:lstStyle/>
          <a:p>
            <a:pPr algn="l">
              <a:lnSpc>
                <a:spcPct val="108000"/>
              </a:lnSpc>
              <a:spcBef>
                <a:spcPts val="0"/>
              </a:spcBef>
              <a:spcAft>
                <a:spcPts val="500"/>
              </a:spcAft>
            </a:pPr>
            <a:r>
              <a:rPr sz="1300" b="1">
                <a:solidFill>
                  <a:srgbClr val="007F79"/>
                </a:solidFill>
                <a:latin typeface="Aptos"/>
              </a:rPr>
              <a:t>Batch, même pour 1 classeur</a:t>
            </a:r>
          </a:p>
        </p:txBody>
      </p:sp>
      <p:sp>
        <p:nvSpPr>
          <p:cNvPr id="11" name="Rounded Rectangle 10"/>
          <p:cNvSpPr/>
          <p:nvPr/>
        </p:nvSpPr>
        <p:spPr>
          <a:xfrm>
            <a:off x="594360" y="3429000"/>
            <a:ext cx="11000232" cy="384048"/>
          </a:xfrm>
          <a:prstGeom prst="roundRect">
            <a:avLst>
              <a:gd name="adj" fmla="val 12000"/>
            </a:avLst>
          </a:prstGeom>
          <a:solidFill>
            <a:srgbClr val="1826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95528" y="3502152"/>
            <a:ext cx="10597896" cy="228600"/>
          </a:xfrm>
          <a:prstGeom prst="rect">
            <a:avLst/>
          </a:prstGeom>
          <a:noFill/>
        </p:spPr>
        <p:txBody>
          <a:bodyPr wrap="square" lIns="0" rIns="0" tIns="0" bIns="0" anchor="t">
            <a:noAutofit/>
          </a:bodyPr>
          <a:lstStyle/>
          <a:p>
            <a:pPr algn="l">
              <a:lnSpc>
                <a:spcPct val="108000"/>
              </a:lnSpc>
              <a:spcBef>
                <a:spcPts val="0"/>
              </a:spcBef>
              <a:spcAft>
                <a:spcPts val="500"/>
              </a:spcAft>
            </a:pPr>
            <a:r>
              <a:rPr sz="1300" b="0">
                <a:solidFill>
                  <a:srgbClr val="FFFFFF"/>
                </a:solidFill>
                <a:latin typeface="Cascadia Code"/>
              </a:rPr>
              <a:t>python migrate.py batch .\workbooks --output-dir .\output</a:t>
            </a:r>
          </a:p>
        </p:txBody>
      </p:sp>
      <p:sp>
        <p:nvSpPr>
          <p:cNvPr id="13" name="TextBox 12"/>
          <p:cNvSpPr txBox="1"/>
          <p:nvPr/>
        </p:nvSpPr>
        <p:spPr>
          <a:xfrm>
            <a:off x="594360" y="3950208"/>
            <a:ext cx="11000232" cy="237744"/>
          </a:xfrm>
          <a:prstGeom prst="rect">
            <a:avLst/>
          </a:prstGeom>
          <a:noFill/>
        </p:spPr>
        <p:txBody>
          <a:bodyPr wrap="square" lIns="0" rIns="0" tIns="0" bIns="0" anchor="t">
            <a:noAutofit/>
          </a:bodyPr>
          <a:lstStyle/>
          <a:p>
            <a:pPr algn="l">
              <a:lnSpc>
                <a:spcPct val="108000"/>
              </a:lnSpc>
              <a:spcBef>
                <a:spcPts val="0"/>
              </a:spcBef>
              <a:spcAft>
                <a:spcPts val="500"/>
              </a:spcAft>
            </a:pPr>
            <a:r>
              <a:rPr sz="1300" b="1">
                <a:solidFill>
                  <a:srgbClr val="007F79"/>
                </a:solidFill>
                <a:latin typeface="Aptos"/>
              </a:rPr>
              <a:t>Forcer Import</a:t>
            </a:r>
          </a:p>
        </p:txBody>
      </p:sp>
      <p:sp>
        <p:nvSpPr>
          <p:cNvPr id="14" name="Rounded Rectangle 13"/>
          <p:cNvSpPr/>
          <p:nvPr/>
        </p:nvSpPr>
        <p:spPr>
          <a:xfrm>
            <a:off x="594360" y="4261104"/>
            <a:ext cx="11000232" cy="384048"/>
          </a:xfrm>
          <a:prstGeom prst="roundRect">
            <a:avLst>
              <a:gd name="adj" fmla="val 12000"/>
            </a:avLst>
          </a:prstGeom>
          <a:solidFill>
            <a:srgbClr val="1826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95528" y="4334256"/>
            <a:ext cx="10597896" cy="228600"/>
          </a:xfrm>
          <a:prstGeom prst="rect">
            <a:avLst/>
          </a:prstGeom>
          <a:noFill/>
        </p:spPr>
        <p:txBody>
          <a:bodyPr wrap="square" lIns="0" rIns="0" tIns="0" bIns="0" anchor="t">
            <a:noAutofit/>
          </a:bodyPr>
          <a:lstStyle/>
          <a:p>
            <a:pPr algn="l">
              <a:lnSpc>
                <a:spcPct val="108000"/>
              </a:lnSpc>
              <a:spcBef>
                <a:spcPts val="0"/>
              </a:spcBef>
              <a:spcAft>
                <a:spcPts val="500"/>
              </a:spcAft>
            </a:pPr>
            <a:r>
              <a:rPr sz="1300" b="0">
                <a:solidFill>
                  <a:srgbClr val="FFFFFF"/>
                </a:solidFill>
                <a:latin typeface="Cascadia Code"/>
              </a:rPr>
              <a:t>python migrate.py batch .\workbooks --mode import --output-dir .\output</a:t>
            </a:r>
          </a:p>
        </p:txBody>
      </p:sp>
      <p:sp>
        <p:nvSpPr>
          <p:cNvPr id="16" name="TextBox 15"/>
          <p:cNvSpPr txBox="1"/>
          <p:nvPr/>
        </p:nvSpPr>
        <p:spPr>
          <a:xfrm>
            <a:off x="594360" y="4782312"/>
            <a:ext cx="11000232" cy="237744"/>
          </a:xfrm>
          <a:prstGeom prst="rect">
            <a:avLst/>
          </a:prstGeom>
          <a:noFill/>
        </p:spPr>
        <p:txBody>
          <a:bodyPr wrap="square" lIns="0" rIns="0" tIns="0" bIns="0" anchor="t">
            <a:noAutofit/>
          </a:bodyPr>
          <a:lstStyle/>
          <a:p>
            <a:pPr algn="l">
              <a:lnSpc>
                <a:spcPct val="108000"/>
              </a:lnSpc>
              <a:spcBef>
                <a:spcPts val="0"/>
              </a:spcBef>
              <a:spcAft>
                <a:spcPts val="500"/>
              </a:spcAft>
            </a:pPr>
            <a:r>
              <a:rPr sz="1300" b="1">
                <a:solidFill>
                  <a:srgbClr val="007F79"/>
                </a:solidFill>
                <a:latin typeface="Aptos"/>
              </a:rPr>
              <a:t>Assessment sans génération</a:t>
            </a:r>
          </a:p>
        </p:txBody>
      </p:sp>
      <p:sp>
        <p:nvSpPr>
          <p:cNvPr id="17" name="Rounded Rectangle 16"/>
          <p:cNvSpPr/>
          <p:nvPr/>
        </p:nvSpPr>
        <p:spPr>
          <a:xfrm>
            <a:off x="594360" y="5093208"/>
            <a:ext cx="11000232" cy="384048"/>
          </a:xfrm>
          <a:prstGeom prst="roundRect">
            <a:avLst>
              <a:gd name="adj" fmla="val 12000"/>
            </a:avLst>
          </a:prstGeom>
          <a:solidFill>
            <a:srgbClr val="1826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95528" y="5166360"/>
            <a:ext cx="10597896" cy="228600"/>
          </a:xfrm>
          <a:prstGeom prst="rect">
            <a:avLst/>
          </a:prstGeom>
          <a:noFill/>
        </p:spPr>
        <p:txBody>
          <a:bodyPr wrap="square" lIns="0" rIns="0" tIns="0" bIns="0" anchor="t">
            <a:noAutofit/>
          </a:bodyPr>
          <a:lstStyle/>
          <a:p>
            <a:pPr algn="l">
              <a:lnSpc>
                <a:spcPct val="108000"/>
              </a:lnSpc>
              <a:spcBef>
                <a:spcPts val="0"/>
              </a:spcBef>
              <a:spcAft>
                <a:spcPts val="500"/>
              </a:spcAft>
            </a:pPr>
            <a:r>
              <a:rPr sz="1300" b="0">
                <a:solidFill>
                  <a:srgbClr val="FFFFFF"/>
                </a:solidFill>
                <a:latin typeface="Cascadia Code"/>
              </a:rPr>
              <a:t>python migrate.py assess .\workbook.twbx</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5F7F8"/>
        </a:solidFill>
        <a:effectLst/>
      </p:bgPr>
    </p:bg>
    <p:spTree>
      <p:nvGrpSpPr>
        <p:cNvPr id="1" name=""/>
        <p:cNvGrpSpPr/>
        <p:nvPr/>
      </p:nvGrpSpPr>
      <p:grpSpPr/>
      <p:sp>
        <p:nvSpPr>
          <p:cNvPr id="2" name="TextBox 1"/>
          <p:cNvSpPr txBox="1"/>
          <p:nvPr/>
        </p:nvSpPr>
        <p:spPr>
          <a:xfrm>
            <a:off x="594360" y="466344"/>
            <a:ext cx="10789920" cy="201168"/>
          </a:xfrm>
          <a:prstGeom prst="rect">
            <a:avLst/>
          </a:prstGeom>
          <a:noFill/>
        </p:spPr>
        <p:txBody>
          <a:bodyPr wrap="square" lIns="0" rIns="0" tIns="0" bIns="0" anchor="t">
            <a:noAutofit/>
          </a:bodyPr>
          <a:lstStyle/>
          <a:p>
            <a:pPr algn="l">
              <a:lnSpc>
                <a:spcPct val="108000"/>
              </a:lnSpc>
              <a:spcBef>
                <a:spcPts val="0"/>
              </a:spcBef>
              <a:spcAft>
                <a:spcPts val="500"/>
              </a:spcAft>
            </a:pPr>
            <a:r>
              <a:rPr sz="1050" b="1">
                <a:solidFill>
                  <a:srgbClr val="007F79"/>
                </a:solidFill>
                <a:latin typeface="Aptos"/>
              </a:rPr>
              <a:t>CRITÈRES D'ACCEPTATION</a:t>
            </a:r>
          </a:p>
        </p:txBody>
      </p:sp>
      <p:sp>
        <p:nvSpPr>
          <p:cNvPr id="3" name="Slide title"/>
          <p:cNvSpPr txBox="1"/>
          <p:nvPr/>
        </p:nvSpPr>
        <p:spPr>
          <a:xfrm>
            <a:off x="594360" y="859536"/>
            <a:ext cx="11000232" cy="685800"/>
          </a:xfrm>
          <a:prstGeom prst="rect">
            <a:avLst/>
          </a:prstGeom>
          <a:noFill/>
        </p:spPr>
        <p:txBody>
          <a:bodyPr wrap="square" lIns="0" rIns="0" tIns="0" bIns="0" anchor="t">
            <a:noAutofit/>
          </a:bodyPr>
          <a:lstStyle/>
          <a:p>
            <a:pPr algn="l">
              <a:lnSpc>
                <a:spcPct val="108000"/>
              </a:lnSpc>
              <a:spcBef>
                <a:spcPts val="0"/>
              </a:spcBef>
              <a:spcAft>
                <a:spcPts val="500"/>
              </a:spcAft>
            </a:pPr>
            <a:r>
              <a:rPr sz="3600" b="1">
                <a:solidFill>
                  <a:srgbClr val="182630"/>
                </a:solidFill>
                <a:latin typeface="Aptos Display"/>
              </a:rPr>
              <a:t>Un contrat de recette avant l'industrialisation</a:t>
            </a:r>
          </a:p>
        </p:txBody>
      </p:sp>
      <p:sp>
        <p:nvSpPr>
          <p:cNvPr id="4" name="TextBox 3"/>
          <p:cNvSpPr txBox="1"/>
          <p:nvPr/>
        </p:nvSpPr>
        <p:spPr>
          <a:xfrm>
            <a:off x="594360" y="1673352"/>
            <a:ext cx="11000232" cy="493776"/>
          </a:xfrm>
          <a:prstGeom prst="rect">
            <a:avLst/>
          </a:prstGeom>
          <a:noFill/>
        </p:spPr>
        <p:txBody>
          <a:bodyPr wrap="square" lIns="0" rIns="0" tIns="0" bIns="0" anchor="t">
            <a:noAutofit/>
          </a:bodyPr>
          <a:lstStyle/>
          <a:p>
            <a:pPr algn="l">
              <a:lnSpc>
                <a:spcPct val="108000"/>
              </a:lnSpc>
              <a:spcBef>
                <a:spcPts val="0"/>
              </a:spcBef>
              <a:spcAft>
                <a:spcPts val="500"/>
              </a:spcAft>
            </a:pPr>
            <a:r>
              <a:rPr sz="1500" b="0">
                <a:solidFill>
                  <a:srgbClr val="52616C"/>
                </a:solidFill>
                <a:latin typeface="Aptos"/>
              </a:rPr>
              <a:t>Les approximations et prérequis deviennent des éléments de décision, pas des surprises.</a:t>
            </a:r>
          </a:p>
        </p:txBody>
      </p:sp>
      <p:sp>
        <p:nvSpPr>
          <p:cNvPr id="5" name="TextBox 4"/>
          <p:cNvSpPr txBox="1"/>
          <p:nvPr/>
        </p:nvSpPr>
        <p:spPr>
          <a:xfrm>
            <a:off x="594360" y="6199632"/>
            <a:ext cx="10149840" cy="182880"/>
          </a:xfrm>
          <a:prstGeom prst="rect">
            <a:avLst/>
          </a:prstGeom>
          <a:noFill/>
        </p:spPr>
        <p:txBody>
          <a:bodyPr wrap="square" lIns="0" rIns="0" tIns="0" bIns="0" anchor="t">
            <a:noAutofit/>
          </a:bodyPr>
          <a:lstStyle/>
          <a:p>
            <a:pPr algn="l">
              <a:lnSpc>
                <a:spcPct val="108000"/>
              </a:lnSpc>
              <a:spcBef>
                <a:spcPts val="0"/>
              </a:spcBef>
              <a:spcAft>
                <a:spcPts val="500"/>
              </a:spcAft>
            </a:pPr>
            <a:r>
              <a:rPr sz="1000" b="0">
                <a:solidFill>
                  <a:srgbClr val="52616C"/>
                </a:solidFill>
                <a:latin typeface="Aptos"/>
              </a:rPr>
              <a:t>Tableau to Power BI  |  Édition 26.10.2026  |  Critères d'acceptation</a:t>
            </a:r>
          </a:p>
        </p:txBody>
      </p:sp>
      <p:sp>
        <p:nvSpPr>
          <p:cNvPr id="6" name="TextBox 5"/>
          <p:cNvSpPr txBox="1"/>
          <p:nvPr/>
        </p:nvSpPr>
        <p:spPr>
          <a:xfrm>
            <a:off x="11000232" y="6181344"/>
            <a:ext cx="594360" cy="210312"/>
          </a:xfrm>
          <a:prstGeom prst="rect">
            <a:avLst/>
          </a:prstGeom>
          <a:noFill/>
        </p:spPr>
        <p:txBody>
          <a:bodyPr wrap="square" lIns="0" rIns="0" tIns="0" bIns="0" anchor="t">
            <a:noAutofit/>
          </a:bodyPr>
          <a:lstStyle/>
          <a:p>
            <a:pPr algn="r">
              <a:lnSpc>
                <a:spcPct val="108000"/>
              </a:lnSpc>
              <a:spcBef>
                <a:spcPts val="0"/>
              </a:spcBef>
              <a:spcAft>
                <a:spcPts val="500"/>
              </a:spcAft>
            </a:pPr>
            <a:r>
              <a:rPr sz="1100" b="0">
                <a:solidFill>
                  <a:srgbClr val="52616C"/>
                </a:solidFill>
                <a:latin typeface="Aptos"/>
              </a:rPr>
              <a:t>21</a:t>
            </a:r>
          </a:p>
        </p:txBody>
      </p:sp>
      <p:sp>
        <p:nvSpPr>
          <p:cNvPr id="7" name="Rounded Rectangle 6"/>
          <p:cNvSpPr/>
          <p:nvPr/>
        </p:nvSpPr>
        <p:spPr>
          <a:xfrm>
            <a:off x="594360" y="2423160"/>
            <a:ext cx="5312664" cy="2724912"/>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4672" y="2587752"/>
            <a:ext cx="4892040" cy="640080"/>
          </a:xfrm>
          <a:prstGeom prst="rect">
            <a:avLst/>
          </a:prstGeom>
          <a:noFill/>
        </p:spPr>
        <p:txBody>
          <a:bodyPr wrap="square" lIns="0" rIns="0" tIns="0" bIns="0" anchor="t">
            <a:noAutofit/>
          </a:bodyPr>
          <a:lstStyle/>
          <a:p>
            <a:pPr algn="l">
              <a:lnSpc>
                <a:spcPct val="108000"/>
              </a:lnSpc>
              <a:spcBef>
                <a:spcPts val="0"/>
              </a:spcBef>
              <a:spcAft>
                <a:spcPts val="500"/>
              </a:spcAft>
            </a:pPr>
            <a:r>
              <a:rPr sz="1900" b="1">
                <a:solidFill>
                  <a:srgbClr val="007F79"/>
                </a:solidFill>
                <a:latin typeface="Aptos"/>
              </a:rPr>
              <a:t>Vérifier sur un échantillon</a:t>
            </a:r>
          </a:p>
        </p:txBody>
      </p:sp>
      <p:sp>
        <p:nvSpPr>
          <p:cNvPr id="9" name="TextBox 8"/>
          <p:cNvSpPr txBox="1"/>
          <p:nvPr/>
        </p:nvSpPr>
        <p:spPr>
          <a:xfrm>
            <a:off x="804672" y="3310128"/>
            <a:ext cx="4892040" cy="1746503"/>
          </a:xfrm>
          <a:prstGeom prst="rect">
            <a:avLst/>
          </a:prstGeom>
          <a:noFill/>
        </p:spPr>
        <p:txBody>
          <a:bodyPr wrap="square" lIns="0" rIns="0" tIns="0" bIns="0" anchor="t">
            <a:noAutofit/>
          </a:bodyPr>
          <a:lstStyle/>
          <a:p>
            <a:pPr algn="l">
              <a:lnSpc>
                <a:spcPct val="108000"/>
              </a:lnSpc>
              <a:spcBef>
                <a:spcPts val="0"/>
              </a:spcBef>
              <a:spcAft>
                <a:spcPts val="500"/>
              </a:spcAft>
            </a:pPr>
            <a:r>
              <a:rPr sz="1600" b="0">
                <a:solidFill>
                  <a:srgbClr val="182630"/>
                </a:solidFill>
                <a:latin typeface="Aptos"/>
              </a:rPr>
              <a:t>Sources représentatives et accès réels.</a:t>
            </a:r>
          </a:p>
          <a:p>
            <a:pPr algn="l">
              <a:lnSpc>
                <a:spcPct val="108000"/>
              </a:lnSpc>
              <a:spcBef>
                <a:spcPts val="0"/>
              </a:spcBef>
              <a:spcAft>
                <a:spcPts val="500"/>
              </a:spcAft>
            </a:pPr>
            <a:r>
              <a:rPr sz="1600" b="0">
                <a:solidFill>
                  <a:srgbClr val="182630"/>
                </a:solidFill>
                <a:latin typeface="Aptos"/>
              </a:rPr>
              <a:t>Refresh, sauvegarde / réouverture.</a:t>
            </a:r>
          </a:p>
          <a:p>
            <a:pPr algn="l">
              <a:lnSpc>
                <a:spcPct val="108000"/>
              </a:lnSpc>
              <a:spcBef>
                <a:spcPts val="0"/>
              </a:spcBef>
              <a:spcAft>
                <a:spcPts val="500"/>
              </a:spcAft>
            </a:pPr>
            <a:r>
              <a:rPr sz="1600" b="0">
                <a:solidFill>
                  <a:srgbClr val="182630"/>
                </a:solidFill>
                <a:latin typeface="Aptos"/>
              </a:rPr>
              <a:t>Valeurs aux tolérances convenues.</a:t>
            </a:r>
          </a:p>
          <a:p>
            <a:pPr algn="l">
              <a:lnSpc>
                <a:spcPct val="108000"/>
              </a:lnSpc>
              <a:spcBef>
                <a:spcPts val="0"/>
              </a:spcBef>
              <a:spcAft>
                <a:spcPts val="500"/>
              </a:spcAft>
            </a:pPr>
            <a:r>
              <a:rPr sz="1600" b="0">
                <a:solidFill>
                  <a:srgbClr val="182630"/>
                </a:solidFill>
                <a:latin typeface="Aptos"/>
              </a:rPr>
              <a:t>Captures comparées et interactions.</a:t>
            </a:r>
          </a:p>
        </p:txBody>
      </p:sp>
      <p:sp>
        <p:nvSpPr>
          <p:cNvPr id="10" name="Rounded Rectangle 9"/>
          <p:cNvSpPr/>
          <p:nvPr/>
        </p:nvSpPr>
        <p:spPr>
          <a:xfrm>
            <a:off x="6272784" y="2423160"/>
            <a:ext cx="5312664" cy="2724912"/>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83096" y="2587752"/>
            <a:ext cx="4892040" cy="640080"/>
          </a:xfrm>
          <a:prstGeom prst="rect">
            <a:avLst/>
          </a:prstGeom>
          <a:noFill/>
        </p:spPr>
        <p:txBody>
          <a:bodyPr wrap="square" lIns="0" rIns="0" tIns="0" bIns="0" anchor="t">
            <a:noAutofit/>
          </a:bodyPr>
          <a:lstStyle/>
          <a:p>
            <a:pPr algn="l">
              <a:lnSpc>
                <a:spcPct val="108000"/>
              </a:lnSpc>
              <a:spcBef>
                <a:spcPts val="0"/>
              </a:spcBef>
              <a:spcAft>
                <a:spcPts val="500"/>
              </a:spcAft>
            </a:pPr>
            <a:r>
              <a:rPr sz="1900" b="1">
                <a:solidFill>
                  <a:srgbClr val="007F79"/>
                </a:solidFill>
                <a:latin typeface="Aptos"/>
              </a:rPr>
              <a:t>Documenter ce qui reste ouvert</a:t>
            </a:r>
          </a:p>
        </p:txBody>
      </p:sp>
      <p:sp>
        <p:nvSpPr>
          <p:cNvPr id="12" name="TextBox 11"/>
          <p:cNvSpPr txBox="1"/>
          <p:nvPr/>
        </p:nvSpPr>
        <p:spPr>
          <a:xfrm>
            <a:off x="6483096" y="3310128"/>
            <a:ext cx="4892040" cy="1746503"/>
          </a:xfrm>
          <a:prstGeom prst="rect">
            <a:avLst/>
          </a:prstGeom>
          <a:noFill/>
        </p:spPr>
        <p:txBody>
          <a:bodyPr wrap="square" lIns="0" rIns="0" tIns="0" bIns="0" anchor="t">
            <a:noAutofit/>
          </a:bodyPr>
          <a:lstStyle/>
          <a:p>
            <a:pPr algn="l">
              <a:lnSpc>
                <a:spcPct val="108000"/>
              </a:lnSpc>
              <a:spcBef>
                <a:spcPts val="0"/>
              </a:spcBef>
              <a:spcAft>
                <a:spcPts val="500"/>
              </a:spcAft>
            </a:pPr>
            <a:r>
              <a:rPr sz="1600" b="0">
                <a:solidFill>
                  <a:srgbClr val="182630"/>
                </a:solidFill>
                <a:latin typeface="Aptos"/>
              </a:rPr>
              <a:t>DAX / LOD, contexte et cardinalités.</a:t>
            </a:r>
          </a:p>
          <a:p>
            <a:pPr algn="l">
              <a:lnSpc>
                <a:spcPct val="108000"/>
              </a:lnSpc>
              <a:spcBef>
                <a:spcPts val="0"/>
              </a:spcBef>
              <a:spcAft>
                <a:spcPts val="500"/>
              </a:spcAft>
            </a:pPr>
            <a:r>
              <a:rPr sz="1600" b="0">
                <a:solidFill>
                  <a:srgbClr val="182630"/>
                </a:solidFill>
                <a:latin typeface="Aptos"/>
              </a:rPr>
              <a:t>Custom visuals et connecteurs requis.</a:t>
            </a:r>
          </a:p>
          <a:p>
            <a:pPr algn="l">
              <a:lnSpc>
                <a:spcPct val="108000"/>
              </a:lnSpc>
              <a:spcBef>
                <a:spcPts val="0"/>
              </a:spcBef>
              <a:spcAft>
                <a:spcPts val="500"/>
              </a:spcAft>
            </a:pPr>
            <a:r>
              <a:rPr sz="1600" b="0">
                <a:solidFill>
                  <a:srgbClr val="182630"/>
                </a:solidFill>
                <a:latin typeface="Aptos"/>
              </a:rPr>
              <a:t>Dialectes Prep non pris en charge.</a:t>
            </a:r>
          </a:p>
          <a:p>
            <a:pPr algn="l">
              <a:lnSpc>
                <a:spcPct val="108000"/>
              </a:lnSpc>
              <a:spcBef>
                <a:spcPts val="0"/>
              </a:spcBef>
              <a:spcAft>
                <a:spcPts val="500"/>
              </a:spcAft>
            </a:pPr>
            <a:r>
              <a:rPr sz="1600" b="0">
                <a:solidFill>
                  <a:srgbClr val="182630"/>
                </a:solidFill>
                <a:latin typeface="Aptos"/>
              </a:rPr>
              <a:t>RLS, parité et contrôles not_run.</a:t>
            </a:r>
          </a:p>
        </p:txBody>
      </p:sp>
      <p:sp>
        <p:nvSpPr>
          <p:cNvPr id="13" name="Rounded Rectangle 12"/>
          <p:cNvSpPr/>
          <p:nvPr/>
        </p:nvSpPr>
        <p:spPr>
          <a:xfrm>
            <a:off x="594360" y="5522976"/>
            <a:ext cx="11000232" cy="429768"/>
          </a:xfrm>
          <a:prstGeom prst="roundRect">
            <a:avLst>
              <a:gd name="adj" fmla="val 12000"/>
            </a:avLst>
          </a:prstGeom>
          <a:solidFill>
            <a:srgbClr val="1826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86384" y="5614416"/>
            <a:ext cx="10616184" cy="256032"/>
          </a:xfrm>
          <a:prstGeom prst="rect">
            <a:avLst/>
          </a:prstGeom>
          <a:noFill/>
        </p:spPr>
        <p:txBody>
          <a:bodyPr wrap="square" lIns="0" rIns="0" tIns="0" bIns="0" anchor="t">
            <a:noAutofit/>
          </a:bodyPr>
          <a:lstStyle/>
          <a:p>
            <a:pPr algn="l">
              <a:lnSpc>
                <a:spcPct val="108000"/>
              </a:lnSpc>
              <a:spcBef>
                <a:spcPts val="0"/>
              </a:spcBef>
              <a:spcAft>
                <a:spcPts val="500"/>
              </a:spcAft>
            </a:pPr>
            <a:r>
              <a:rPr sz="1300" b="1">
                <a:solidFill>
                  <a:srgbClr val="FFFFFF"/>
                </a:solidFill>
                <a:latin typeface="Aptos"/>
              </a:rPr>
              <a:t>97 clés de dispatch, alias inclus → 55 fonctions de connecteurs distinctes ; pas 97 garanties.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5F7F8"/>
        </a:solidFill>
        <a:effectLst/>
      </p:bgPr>
    </p:bg>
    <p:spTree>
      <p:nvGrpSpPr>
        <p:cNvPr id="1" name=""/>
        <p:cNvGrpSpPr/>
        <p:nvPr/>
      </p:nvGrpSpPr>
      <p:grpSpPr/>
      <p:sp>
        <p:nvSpPr>
          <p:cNvPr id="2" name="TextBox 1"/>
          <p:cNvSpPr txBox="1"/>
          <p:nvPr/>
        </p:nvSpPr>
        <p:spPr>
          <a:xfrm>
            <a:off x="594360" y="466344"/>
            <a:ext cx="10789920" cy="201168"/>
          </a:xfrm>
          <a:prstGeom prst="rect">
            <a:avLst/>
          </a:prstGeom>
          <a:noFill/>
        </p:spPr>
        <p:txBody>
          <a:bodyPr wrap="square" lIns="0" rIns="0" tIns="0" bIns="0" anchor="t">
            <a:noAutofit/>
          </a:bodyPr>
          <a:lstStyle/>
          <a:p>
            <a:pPr algn="l">
              <a:lnSpc>
                <a:spcPct val="108000"/>
              </a:lnSpc>
              <a:spcBef>
                <a:spcPts val="0"/>
              </a:spcBef>
              <a:spcAft>
                <a:spcPts val="500"/>
              </a:spcAft>
            </a:pPr>
            <a:r>
              <a:rPr sz="1050" b="1">
                <a:solidFill>
                  <a:srgbClr val="007F79"/>
                </a:solidFill>
                <a:latin typeface="Aptos"/>
              </a:rPr>
              <a:t>RÉFÉRENCES TECHNIQUES</a:t>
            </a:r>
          </a:p>
        </p:txBody>
      </p:sp>
      <p:sp>
        <p:nvSpPr>
          <p:cNvPr id="3" name="Slide title"/>
          <p:cNvSpPr txBox="1"/>
          <p:nvPr/>
        </p:nvSpPr>
        <p:spPr>
          <a:xfrm>
            <a:off x="594360" y="859536"/>
            <a:ext cx="11000232" cy="685800"/>
          </a:xfrm>
          <a:prstGeom prst="rect">
            <a:avLst/>
          </a:prstGeom>
          <a:noFill/>
        </p:spPr>
        <p:txBody>
          <a:bodyPr wrap="square" lIns="0" rIns="0" tIns="0" bIns="0" anchor="t">
            <a:noAutofit/>
          </a:bodyPr>
          <a:lstStyle/>
          <a:p>
            <a:pPr algn="l">
              <a:lnSpc>
                <a:spcPct val="108000"/>
              </a:lnSpc>
              <a:spcBef>
                <a:spcPts val="0"/>
              </a:spcBef>
              <a:spcAft>
                <a:spcPts val="500"/>
              </a:spcAft>
            </a:pPr>
            <a:r>
              <a:rPr sz="3600" b="1">
                <a:solidFill>
                  <a:srgbClr val="182630"/>
                </a:solidFill>
                <a:latin typeface="Aptos Display"/>
              </a:rPr>
              <a:t>Sources, hypothèses et périmètre</a:t>
            </a:r>
          </a:p>
        </p:txBody>
      </p:sp>
      <p:sp>
        <p:nvSpPr>
          <p:cNvPr id="4" name="TextBox 3"/>
          <p:cNvSpPr txBox="1"/>
          <p:nvPr/>
        </p:nvSpPr>
        <p:spPr>
          <a:xfrm>
            <a:off x="594360" y="1673352"/>
            <a:ext cx="11000232" cy="493776"/>
          </a:xfrm>
          <a:prstGeom prst="rect">
            <a:avLst/>
          </a:prstGeom>
          <a:noFill/>
        </p:spPr>
        <p:txBody>
          <a:bodyPr wrap="square" lIns="0" rIns="0" tIns="0" bIns="0" anchor="t">
            <a:noAutofit/>
          </a:bodyPr>
          <a:lstStyle/>
          <a:p>
            <a:pPr algn="l">
              <a:lnSpc>
                <a:spcPct val="108000"/>
              </a:lnSpc>
              <a:spcBef>
                <a:spcPts val="0"/>
              </a:spcBef>
              <a:spcAft>
                <a:spcPts val="500"/>
              </a:spcAft>
            </a:pPr>
            <a:r>
              <a:rPr sz="1500" b="0">
                <a:solidFill>
                  <a:srgbClr val="52616C"/>
                </a:solidFill>
                <a:latin typeface="Aptos"/>
              </a:rPr>
              <a:t>Les notes de chaque diapositive conservent les références et précautions utiles.</a:t>
            </a:r>
          </a:p>
        </p:txBody>
      </p:sp>
      <p:sp>
        <p:nvSpPr>
          <p:cNvPr id="5" name="TextBox 4"/>
          <p:cNvSpPr txBox="1"/>
          <p:nvPr/>
        </p:nvSpPr>
        <p:spPr>
          <a:xfrm>
            <a:off x="594360" y="6199632"/>
            <a:ext cx="10149840" cy="182880"/>
          </a:xfrm>
          <a:prstGeom prst="rect">
            <a:avLst/>
          </a:prstGeom>
          <a:noFill/>
        </p:spPr>
        <p:txBody>
          <a:bodyPr wrap="square" lIns="0" rIns="0" tIns="0" bIns="0" anchor="t">
            <a:noAutofit/>
          </a:bodyPr>
          <a:lstStyle/>
          <a:p>
            <a:pPr algn="l">
              <a:lnSpc>
                <a:spcPct val="108000"/>
              </a:lnSpc>
              <a:spcBef>
                <a:spcPts val="0"/>
              </a:spcBef>
              <a:spcAft>
                <a:spcPts val="500"/>
              </a:spcAft>
            </a:pPr>
            <a:r>
              <a:rPr sz="1000" b="0">
                <a:solidFill>
                  <a:srgbClr val="52616C"/>
                </a:solidFill>
                <a:latin typeface="Aptos"/>
              </a:rPr>
              <a:t>Tableau to Power BI  |  Édition 26.10.2026  |  Références techniques</a:t>
            </a:r>
          </a:p>
        </p:txBody>
      </p:sp>
      <p:sp>
        <p:nvSpPr>
          <p:cNvPr id="6" name="TextBox 5"/>
          <p:cNvSpPr txBox="1"/>
          <p:nvPr/>
        </p:nvSpPr>
        <p:spPr>
          <a:xfrm>
            <a:off x="11000232" y="6181344"/>
            <a:ext cx="594360" cy="210312"/>
          </a:xfrm>
          <a:prstGeom prst="rect">
            <a:avLst/>
          </a:prstGeom>
          <a:noFill/>
        </p:spPr>
        <p:txBody>
          <a:bodyPr wrap="square" lIns="0" rIns="0" tIns="0" bIns="0" anchor="t">
            <a:noAutofit/>
          </a:bodyPr>
          <a:lstStyle/>
          <a:p>
            <a:pPr algn="r">
              <a:lnSpc>
                <a:spcPct val="108000"/>
              </a:lnSpc>
              <a:spcBef>
                <a:spcPts val="0"/>
              </a:spcBef>
              <a:spcAft>
                <a:spcPts val="500"/>
              </a:spcAft>
            </a:pPr>
            <a:r>
              <a:rPr sz="1100" b="0">
                <a:solidFill>
                  <a:srgbClr val="52616C"/>
                </a:solidFill>
                <a:latin typeface="Aptos"/>
              </a:rPr>
              <a:t>22</a:t>
            </a:r>
          </a:p>
        </p:txBody>
      </p:sp>
      <p:sp>
        <p:nvSpPr>
          <p:cNvPr id="7" name="Rounded Rectangle 6"/>
          <p:cNvSpPr/>
          <p:nvPr/>
        </p:nvSpPr>
        <p:spPr>
          <a:xfrm>
            <a:off x="594360" y="2359152"/>
            <a:ext cx="502920" cy="320040"/>
          </a:xfrm>
          <a:prstGeom prst="roundRect">
            <a:avLst>
              <a:gd name="adj" fmla="val 12000"/>
            </a:avLst>
          </a:prstGeom>
          <a:solidFill>
            <a:srgbClr val="E0F1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2395728"/>
            <a:ext cx="320040" cy="219456"/>
          </a:xfrm>
          <a:prstGeom prst="rect">
            <a:avLst/>
          </a:prstGeom>
          <a:noFill/>
        </p:spPr>
        <p:txBody>
          <a:bodyPr wrap="square" lIns="0" rIns="0" tIns="0" bIns="0" anchor="t">
            <a:noAutofit/>
          </a:bodyPr>
          <a:lstStyle/>
          <a:p>
            <a:pPr algn="l">
              <a:lnSpc>
                <a:spcPct val="108000"/>
              </a:lnSpc>
              <a:spcBef>
                <a:spcPts val="0"/>
              </a:spcBef>
              <a:spcAft>
                <a:spcPts val="500"/>
              </a:spcAft>
            </a:pPr>
            <a:r>
              <a:rPr sz="1100" b="1">
                <a:solidFill>
                  <a:srgbClr val="007F79"/>
                </a:solidFill>
                <a:latin typeface="Aptos"/>
              </a:rPr>
              <a:t>01</a:t>
            </a:r>
          </a:p>
        </p:txBody>
      </p:sp>
      <p:sp>
        <p:nvSpPr>
          <p:cNvPr id="9" name="TextBox 8"/>
          <p:cNvSpPr txBox="1"/>
          <p:nvPr/>
        </p:nvSpPr>
        <p:spPr>
          <a:xfrm>
            <a:off x="1353312" y="2368296"/>
            <a:ext cx="9966960" cy="310896"/>
          </a:xfrm>
          <a:prstGeom prst="rect">
            <a:avLst/>
          </a:prstGeom>
          <a:noFill/>
        </p:spPr>
        <p:txBody>
          <a:bodyPr wrap="square" lIns="0" rIns="0" tIns="0" bIns="0" anchor="t">
            <a:noAutofit/>
          </a:bodyPr>
          <a:lstStyle/>
          <a:p>
            <a:pPr algn="l">
              <a:lnSpc>
                <a:spcPct val="108000"/>
              </a:lnSpc>
              <a:spcBef>
                <a:spcPts val="0"/>
              </a:spcBef>
              <a:spcAft>
                <a:spcPts val="500"/>
              </a:spcAft>
            </a:pPr>
            <a:r>
              <a:rPr sz="1800" b="0">
                <a:solidFill>
                  <a:srgbClr val="1266A0"/>
                </a:solidFill>
                <a:latin typeface="Aptos"/>
                <a:hlinkClick r:id="rId3"/>
              </a:rPr>
              <a:t>Architecture &amp; modes de source</a:t>
            </a:r>
          </a:p>
        </p:txBody>
      </p:sp>
      <p:sp>
        <p:nvSpPr>
          <p:cNvPr id="10" name="Rounded Rectangle 9"/>
          <p:cNvSpPr/>
          <p:nvPr/>
        </p:nvSpPr>
        <p:spPr>
          <a:xfrm>
            <a:off x="594360" y="2980944"/>
            <a:ext cx="502920" cy="320040"/>
          </a:xfrm>
          <a:prstGeom prst="roundRect">
            <a:avLst>
              <a:gd name="adj" fmla="val 12000"/>
            </a:avLst>
          </a:prstGeom>
          <a:solidFill>
            <a:srgbClr val="E0F1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3017520"/>
            <a:ext cx="320040" cy="219456"/>
          </a:xfrm>
          <a:prstGeom prst="rect">
            <a:avLst/>
          </a:prstGeom>
          <a:noFill/>
        </p:spPr>
        <p:txBody>
          <a:bodyPr wrap="square" lIns="0" rIns="0" tIns="0" bIns="0" anchor="t">
            <a:noAutofit/>
          </a:bodyPr>
          <a:lstStyle/>
          <a:p>
            <a:pPr algn="l">
              <a:lnSpc>
                <a:spcPct val="108000"/>
              </a:lnSpc>
              <a:spcBef>
                <a:spcPts val="0"/>
              </a:spcBef>
              <a:spcAft>
                <a:spcPts val="500"/>
              </a:spcAft>
            </a:pPr>
            <a:r>
              <a:rPr sz="1100" b="1">
                <a:solidFill>
                  <a:srgbClr val="007F79"/>
                </a:solidFill>
                <a:latin typeface="Aptos"/>
              </a:rPr>
              <a:t>02</a:t>
            </a:r>
          </a:p>
        </p:txBody>
      </p:sp>
      <p:sp>
        <p:nvSpPr>
          <p:cNvPr id="12" name="TextBox 11"/>
          <p:cNvSpPr txBox="1"/>
          <p:nvPr/>
        </p:nvSpPr>
        <p:spPr>
          <a:xfrm>
            <a:off x="1353312" y="2990088"/>
            <a:ext cx="9966960" cy="310896"/>
          </a:xfrm>
          <a:prstGeom prst="rect">
            <a:avLst/>
          </a:prstGeom>
          <a:noFill/>
        </p:spPr>
        <p:txBody>
          <a:bodyPr wrap="square" lIns="0" rIns="0" tIns="0" bIns="0" anchor="t">
            <a:noAutofit/>
          </a:bodyPr>
          <a:lstStyle/>
          <a:p>
            <a:pPr algn="l">
              <a:lnSpc>
                <a:spcPct val="108000"/>
              </a:lnSpc>
              <a:spcBef>
                <a:spcPts val="0"/>
              </a:spcBef>
              <a:spcAft>
                <a:spcPts val="500"/>
              </a:spcAft>
            </a:pPr>
            <a:r>
              <a:rPr sz="1800" b="0">
                <a:solidFill>
                  <a:srgbClr val="1266A0"/>
                </a:solidFill>
                <a:latin typeface="Aptos"/>
                <a:hlinkClick r:id="rId4"/>
              </a:rPr>
              <a:t>Fonctionnalités &amp; preuves du 23.10.2026</a:t>
            </a:r>
          </a:p>
        </p:txBody>
      </p:sp>
      <p:sp>
        <p:nvSpPr>
          <p:cNvPr id="13" name="Rounded Rectangle 12"/>
          <p:cNvSpPr/>
          <p:nvPr/>
        </p:nvSpPr>
        <p:spPr>
          <a:xfrm>
            <a:off x="594360" y="3602736"/>
            <a:ext cx="502920" cy="320040"/>
          </a:xfrm>
          <a:prstGeom prst="roundRect">
            <a:avLst>
              <a:gd name="adj" fmla="val 12000"/>
            </a:avLst>
          </a:prstGeom>
          <a:solidFill>
            <a:srgbClr val="E0F1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5800" y="3639312"/>
            <a:ext cx="320040" cy="219456"/>
          </a:xfrm>
          <a:prstGeom prst="rect">
            <a:avLst/>
          </a:prstGeom>
          <a:noFill/>
        </p:spPr>
        <p:txBody>
          <a:bodyPr wrap="square" lIns="0" rIns="0" tIns="0" bIns="0" anchor="t">
            <a:noAutofit/>
          </a:bodyPr>
          <a:lstStyle/>
          <a:p>
            <a:pPr algn="l">
              <a:lnSpc>
                <a:spcPct val="108000"/>
              </a:lnSpc>
              <a:spcBef>
                <a:spcPts val="0"/>
              </a:spcBef>
              <a:spcAft>
                <a:spcPts val="500"/>
              </a:spcAft>
            </a:pPr>
            <a:r>
              <a:rPr sz="1100" b="1">
                <a:solidFill>
                  <a:srgbClr val="007F79"/>
                </a:solidFill>
                <a:latin typeface="Aptos"/>
              </a:rPr>
              <a:t>03</a:t>
            </a:r>
          </a:p>
        </p:txBody>
      </p:sp>
      <p:sp>
        <p:nvSpPr>
          <p:cNvPr id="15" name="TextBox 14"/>
          <p:cNvSpPr txBox="1"/>
          <p:nvPr/>
        </p:nvSpPr>
        <p:spPr>
          <a:xfrm>
            <a:off x="1353312" y="3611880"/>
            <a:ext cx="9966960" cy="310896"/>
          </a:xfrm>
          <a:prstGeom prst="rect">
            <a:avLst/>
          </a:prstGeom>
          <a:noFill/>
        </p:spPr>
        <p:txBody>
          <a:bodyPr wrap="square" lIns="0" rIns="0" tIns="0" bIns="0" anchor="t">
            <a:noAutofit/>
          </a:bodyPr>
          <a:lstStyle/>
          <a:p>
            <a:pPr algn="l">
              <a:lnSpc>
                <a:spcPct val="108000"/>
              </a:lnSpc>
              <a:spcBef>
                <a:spcPts val="0"/>
              </a:spcBef>
              <a:spcAft>
                <a:spcPts val="500"/>
              </a:spcAft>
            </a:pPr>
            <a:r>
              <a:rPr sz="1800" b="0">
                <a:solidFill>
                  <a:srgbClr val="1266A0"/>
                </a:solidFill>
                <a:latin typeface="Aptos"/>
                <a:hlinkClick r:id="rId5"/>
              </a:rPr>
              <a:t>Checklist de recette &amp; limites connues</a:t>
            </a:r>
          </a:p>
        </p:txBody>
      </p:sp>
      <p:sp>
        <p:nvSpPr>
          <p:cNvPr id="16" name="Rounded Rectangle 15"/>
          <p:cNvSpPr/>
          <p:nvPr/>
        </p:nvSpPr>
        <p:spPr>
          <a:xfrm>
            <a:off x="594360" y="4224528"/>
            <a:ext cx="502920" cy="320040"/>
          </a:xfrm>
          <a:prstGeom prst="roundRect">
            <a:avLst>
              <a:gd name="adj" fmla="val 12000"/>
            </a:avLst>
          </a:prstGeom>
          <a:solidFill>
            <a:srgbClr val="E0F1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5800" y="4261104"/>
            <a:ext cx="320040" cy="219456"/>
          </a:xfrm>
          <a:prstGeom prst="rect">
            <a:avLst/>
          </a:prstGeom>
          <a:noFill/>
        </p:spPr>
        <p:txBody>
          <a:bodyPr wrap="square" lIns="0" rIns="0" tIns="0" bIns="0" anchor="t">
            <a:noAutofit/>
          </a:bodyPr>
          <a:lstStyle/>
          <a:p>
            <a:pPr algn="l">
              <a:lnSpc>
                <a:spcPct val="108000"/>
              </a:lnSpc>
              <a:spcBef>
                <a:spcPts val="0"/>
              </a:spcBef>
              <a:spcAft>
                <a:spcPts val="500"/>
              </a:spcAft>
            </a:pPr>
            <a:r>
              <a:rPr sz="1100" b="1">
                <a:solidFill>
                  <a:srgbClr val="007F79"/>
                </a:solidFill>
                <a:latin typeface="Aptos"/>
              </a:rPr>
              <a:t>04</a:t>
            </a:r>
          </a:p>
        </p:txBody>
      </p:sp>
      <p:sp>
        <p:nvSpPr>
          <p:cNvPr id="18" name="TextBox 17"/>
          <p:cNvSpPr txBox="1"/>
          <p:nvPr/>
        </p:nvSpPr>
        <p:spPr>
          <a:xfrm>
            <a:off x="1353312" y="4233672"/>
            <a:ext cx="9966960" cy="310896"/>
          </a:xfrm>
          <a:prstGeom prst="rect">
            <a:avLst/>
          </a:prstGeom>
          <a:noFill/>
        </p:spPr>
        <p:txBody>
          <a:bodyPr wrap="square" lIns="0" rIns="0" tIns="0" bIns="0" anchor="t">
            <a:noAutofit/>
          </a:bodyPr>
          <a:lstStyle/>
          <a:p>
            <a:pPr algn="l">
              <a:lnSpc>
                <a:spcPct val="108000"/>
              </a:lnSpc>
              <a:spcBef>
                <a:spcPts val="0"/>
              </a:spcBef>
              <a:spcAft>
                <a:spcPts val="500"/>
              </a:spcAft>
            </a:pPr>
            <a:r>
              <a:rPr sz="1800" b="0">
                <a:solidFill>
                  <a:srgbClr val="1266A0"/>
                </a:solidFill>
                <a:latin typeface="Aptos"/>
                <a:hlinkClick r:id="rId6"/>
              </a:rPr>
              <a:t>Validation Microsoft optionnelle</a:t>
            </a:r>
          </a:p>
        </p:txBody>
      </p:sp>
      <p:sp>
        <p:nvSpPr>
          <p:cNvPr id="19" name="TextBox 18"/>
          <p:cNvSpPr txBox="1"/>
          <p:nvPr/>
        </p:nvSpPr>
        <p:spPr>
          <a:xfrm>
            <a:off x="594360" y="5138928"/>
            <a:ext cx="11000232" cy="658368"/>
          </a:xfrm>
          <a:prstGeom prst="rect">
            <a:avLst/>
          </a:prstGeom>
          <a:noFill/>
        </p:spPr>
        <p:txBody>
          <a:bodyPr wrap="square" lIns="0" rIns="0" tIns="0" bIns="0" anchor="t">
            <a:noAutofit/>
          </a:bodyPr>
          <a:lstStyle/>
          <a:p>
            <a:pPr algn="l">
              <a:lnSpc>
                <a:spcPct val="108000"/>
              </a:lnSpc>
              <a:spcBef>
                <a:spcPts val="0"/>
              </a:spcBef>
              <a:spcAft>
                <a:spcPts val="500"/>
              </a:spcAft>
            </a:pPr>
            <a:r>
              <a:rPr sz="1500" b="0">
                <a:solidFill>
                  <a:srgbClr val="52616C"/>
                </a:solidFill>
                <a:latin typeface="Aptos"/>
              </a:rPr>
              <a:t>La date d'édition n'est pas une version livrée.</a:t>
            </a:r>
          </a:p>
          <a:p>
            <a:pPr algn="l">
              <a:lnSpc>
                <a:spcPct val="108000"/>
              </a:lnSpc>
              <a:spcBef>
                <a:spcPts val="0"/>
              </a:spcBef>
              <a:spcAft>
                <a:spcPts val="500"/>
              </a:spcAft>
            </a:pPr>
            <a:r>
              <a:rPr sz="1500" b="0">
                <a:solidFill>
                  <a:srgbClr val="52616C"/>
                </a:solidFill>
                <a:latin typeface="Aptos"/>
              </a:rPr>
              <a:t>Les mappings ne garantissent ni la fidélité rendue ni la disponibilité des connecteurs.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0D1D26"/>
        </a:solidFill>
        <a:effectLst/>
      </p:bgPr>
    </p:bg>
    <p:spTree>
      <p:nvGrpSpPr>
        <p:cNvPr id="1" name=""/>
        <p:cNvGrpSpPr/>
        <p:nvPr/>
      </p:nvGrpSpPr>
      <p:grpSpPr/>
      <p:sp>
        <p:nvSpPr>
          <p:cNvPr id="2" name="TextBox 1"/>
          <p:cNvSpPr txBox="1"/>
          <p:nvPr/>
        </p:nvSpPr>
        <p:spPr>
          <a:xfrm>
            <a:off x="594360" y="466344"/>
            <a:ext cx="10789920" cy="201168"/>
          </a:xfrm>
          <a:prstGeom prst="rect">
            <a:avLst/>
          </a:prstGeom>
          <a:noFill/>
        </p:spPr>
        <p:txBody>
          <a:bodyPr wrap="square" lIns="0" rIns="0" tIns="0" bIns="0" anchor="t">
            <a:noAutofit/>
          </a:bodyPr>
          <a:lstStyle/>
          <a:p>
            <a:pPr algn="l">
              <a:lnSpc>
                <a:spcPct val="108000"/>
              </a:lnSpc>
              <a:spcBef>
                <a:spcPts val="0"/>
              </a:spcBef>
              <a:spcAft>
                <a:spcPts val="500"/>
              </a:spcAft>
            </a:pPr>
            <a:r>
              <a:rPr sz="1050" b="1">
                <a:solidFill>
                  <a:srgbClr val="F2C811"/>
                </a:solidFill>
                <a:latin typeface="Aptos"/>
              </a:rPr>
              <a:t>SYNTHÈSE TECHNIQUE</a:t>
            </a:r>
          </a:p>
        </p:txBody>
      </p:sp>
      <p:sp>
        <p:nvSpPr>
          <p:cNvPr id="3" name="Slide title"/>
          <p:cNvSpPr txBox="1"/>
          <p:nvPr/>
        </p:nvSpPr>
        <p:spPr>
          <a:xfrm>
            <a:off x="594360" y="859536"/>
            <a:ext cx="11000232" cy="685800"/>
          </a:xfrm>
          <a:prstGeom prst="rect">
            <a:avLst/>
          </a:prstGeom>
          <a:noFill/>
        </p:spPr>
        <p:txBody>
          <a:bodyPr wrap="square" lIns="0" rIns="0" tIns="0" bIns="0" anchor="t">
            <a:noAutofit/>
          </a:bodyPr>
          <a:lstStyle/>
          <a:p>
            <a:pPr algn="l">
              <a:lnSpc>
                <a:spcPct val="108000"/>
              </a:lnSpc>
              <a:spcBef>
                <a:spcPts val="0"/>
              </a:spcBef>
              <a:spcAft>
                <a:spcPts val="500"/>
              </a:spcAft>
            </a:pPr>
            <a:r>
              <a:rPr sz="3600" b="1">
                <a:solidFill>
                  <a:srgbClr val="FFFFFF"/>
                </a:solidFill>
                <a:latin typeface="Aptos Display"/>
              </a:rPr>
              <a:t/>
            </a:r>
          </a:p>
        </p:txBody>
      </p:sp>
      <p:sp>
        <p:nvSpPr>
          <p:cNvPr id="4" name="TextBox 3"/>
          <p:cNvSpPr txBox="1"/>
          <p:nvPr/>
        </p:nvSpPr>
        <p:spPr>
          <a:xfrm>
            <a:off x="594360" y="6199632"/>
            <a:ext cx="10149840" cy="182880"/>
          </a:xfrm>
          <a:prstGeom prst="rect">
            <a:avLst/>
          </a:prstGeom>
          <a:noFill/>
        </p:spPr>
        <p:txBody>
          <a:bodyPr wrap="square" lIns="0" rIns="0" tIns="0" bIns="0" anchor="t">
            <a:noAutofit/>
          </a:bodyPr>
          <a:lstStyle/>
          <a:p>
            <a:pPr algn="l">
              <a:lnSpc>
                <a:spcPct val="108000"/>
              </a:lnSpc>
              <a:spcBef>
                <a:spcPts val="0"/>
              </a:spcBef>
              <a:spcAft>
                <a:spcPts val="500"/>
              </a:spcAft>
            </a:pPr>
            <a:r>
              <a:rPr sz="1000" b="0">
                <a:solidFill>
                  <a:srgbClr val="C9D8DF"/>
                </a:solidFill>
                <a:latin typeface="Aptos"/>
              </a:rPr>
              <a:t>Tableau to Power BI  |  Édition 26.10.2026  |  Synthèse technique</a:t>
            </a:r>
          </a:p>
        </p:txBody>
      </p:sp>
      <p:sp>
        <p:nvSpPr>
          <p:cNvPr id="5" name="TextBox 4"/>
          <p:cNvSpPr txBox="1"/>
          <p:nvPr/>
        </p:nvSpPr>
        <p:spPr>
          <a:xfrm>
            <a:off x="11000232" y="6181344"/>
            <a:ext cx="594360" cy="210312"/>
          </a:xfrm>
          <a:prstGeom prst="rect">
            <a:avLst/>
          </a:prstGeom>
          <a:noFill/>
        </p:spPr>
        <p:txBody>
          <a:bodyPr wrap="square" lIns="0" rIns="0" tIns="0" bIns="0" anchor="t">
            <a:noAutofit/>
          </a:bodyPr>
          <a:lstStyle/>
          <a:p>
            <a:pPr algn="r">
              <a:lnSpc>
                <a:spcPct val="108000"/>
              </a:lnSpc>
              <a:spcBef>
                <a:spcPts val="0"/>
              </a:spcBef>
              <a:spcAft>
                <a:spcPts val="500"/>
              </a:spcAft>
            </a:pPr>
            <a:r>
              <a:rPr sz="1100" b="0">
                <a:solidFill>
                  <a:srgbClr val="C9D8DF"/>
                </a:solidFill>
                <a:latin typeface="Aptos"/>
              </a:rPr>
              <a:t>23</a:t>
            </a:r>
          </a:p>
        </p:txBody>
      </p:sp>
      <p:sp>
        <p:nvSpPr>
          <p:cNvPr id="6" name="Closing title"/>
          <p:cNvSpPr txBox="1"/>
          <p:nvPr/>
        </p:nvSpPr>
        <p:spPr>
          <a:xfrm>
            <a:off x="594360" y="1417320"/>
            <a:ext cx="10607040" cy="1554480"/>
          </a:xfrm>
          <a:prstGeom prst="rect">
            <a:avLst/>
          </a:prstGeom>
          <a:noFill/>
        </p:spPr>
        <p:txBody>
          <a:bodyPr wrap="square" lIns="0" rIns="0" tIns="0" bIns="0" anchor="t">
            <a:noAutofit/>
          </a:bodyPr>
          <a:lstStyle/>
          <a:p>
            <a:pPr algn="l">
              <a:lnSpc>
                <a:spcPct val="108000"/>
              </a:lnSpc>
              <a:spcBef>
                <a:spcPts val="0"/>
              </a:spcBef>
              <a:spcAft>
                <a:spcPts val="500"/>
              </a:spcAft>
            </a:pPr>
            <a:r>
              <a:rPr sz="4400" b="1">
                <a:solidFill>
                  <a:srgbClr val="FFFFFF"/>
                </a:solidFill>
                <a:latin typeface="Aptos Display"/>
              </a:rPr>
              <a:t>Un socle généré.</a:t>
            </a:r>
          </a:p>
          <a:p>
            <a:pPr algn="l">
              <a:lnSpc>
                <a:spcPct val="108000"/>
              </a:lnSpc>
              <a:spcBef>
                <a:spcPts val="0"/>
              </a:spcBef>
              <a:spcAft>
                <a:spcPts val="500"/>
              </a:spcAft>
            </a:pPr>
            <a:r>
              <a:rPr sz="4400" b="1">
                <a:solidFill>
                  <a:srgbClr val="FFFFFF"/>
                </a:solidFill>
                <a:latin typeface="Aptos Display"/>
              </a:rPr>
              <a:t>Une acceptation à démontrer.</a:t>
            </a:r>
          </a:p>
        </p:txBody>
      </p:sp>
      <p:sp>
        <p:nvSpPr>
          <p:cNvPr id="7" name="TextBox 6"/>
          <p:cNvSpPr txBox="1"/>
          <p:nvPr/>
        </p:nvSpPr>
        <p:spPr>
          <a:xfrm>
            <a:off x="594360" y="3474720"/>
            <a:ext cx="10607040" cy="694944"/>
          </a:xfrm>
          <a:prstGeom prst="rect">
            <a:avLst/>
          </a:prstGeom>
          <a:noFill/>
        </p:spPr>
        <p:txBody>
          <a:bodyPr wrap="square" lIns="0" rIns="0" tIns="0" bIns="0" anchor="t">
            <a:noAutofit/>
          </a:bodyPr>
          <a:lstStyle/>
          <a:p>
            <a:pPr algn="l">
              <a:lnSpc>
                <a:spcPct val="108000"/>
              </a:lnSpc>
              <a:spcBef>
                <a:spcPts val="0"/>
              </a:spcBef>
              <a:spcAft>
                <a:spcPts val="500"/>
              </a:spcAft>
            </a:pPr>
            <a:r>
              <a:rPr sz="2300" b="0">
                <a:solidFill>
                  <a:srgbClr val="C9D8DF"/>
                </a:solidFill>
                <a:latin typeface="Aptos"/>
              </a:rPr>
              <a:t>Métadonnées → projets éditables → preuves → décision humaine.</a:t>
            </a:r>
          </a:p>
        </p:txBody>
      </p:sp>
      <p:sp>
        <p:nvSpPr>
          <p:cNvPr id="8" name="Rounded Rectangle 7"/>
          <p:cNvSpPr/>
          <p:nvPr/>
        </p:nvSpPr>
        <p:spPr>
          <a:xfrm>
            <a:off x="594360" y="4809744"/>
            <a:ext cx="2468880" cy="320040"/>
          </a:xfrm>
          <a:prstGeom prst="roundRect">
            <a:avLst>
              <a:gd name="adj" fmla="val 12000"/>
            </a:avLst>
          </a:prstGeom>
          <a:solidFill>
            <a:srgbClr val="2035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4846320"/>
            <a:ext cx="2286000" cy="219456"/>
          </a:xfrm>
          <a:prstGeom prst="rect">
            <a:avLst/>
          </a:prstGeom>
          <a:noFill/>
        </p:spPr>
        <p:txBody>
          <a:bodyPr wrap="square" lIns="0" rIns="0" tIns="0" bIns="0" anchor="t">
            <a:noAutofit/>
          </a:bodyPr>
          <a:lstStyle/>
          <a:p>
            <a:pPr algn="l">
              <a:lnSpc>
                <a:spcPct val="108000"/>
              </a:lnSpc>
              <a:spcBef>
                <a:spcPts val="0"/>
              </a:spcBef>
              <a:spcAft>
                <a:spcPts val="500"/>
              </a:spcAft>
            </a:pPr>
            <a:r>
              <a:rPr sz="1100" b="1">
                <a:solidFill>
                  <a:srgbClr val="FFFFFF"/>
                </a:solidFill>
                <a:latin typeface="Aptos"/>
              </a:rPr>
              <a:t>EXTRAIRE</a:t>
            </a:r>
          </a:p>
        </p:txBody>
      </p:sp>
      <p:sp>
        <p:nvSpPr>
          <p:cNvPr id="10" name="Rounded Rectangle 9"/>
          <p:cNvSpPr/>
          <p:nvPr/>
        </p:nvSpPr>
        <p:spPr>
          <a:xfrm>
            <a:off x="3429000" y="4809744"/>
            <a:ext cx="2468880" cy="320040"/>
          </a:xfrm>
          <a:prstGeom prst="roundRect">
            <a:avLst>
              <a:gd name="adj" fmla="val 12000"/>
            </a:avLst>
          </a:prstGeom>
          <a:solidFill>
            <a:srgbClr val="2035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520440" y="4846320"/>
            <a:ext cx="2286000" cy="219456"/>
          </a:xfrm>
          <a:prstGeom prst="rect">
            <a:avLst/>
          </a:prstGeom>
          <a:noFill/>
        </p:spPr>
        <p:txBody>
          <a:bodyPr wrap="square" lIns="0" rIns="0" tIns="0" bIns="0" anchor="t">
            <a:noAutofit/>
          </a:bodyPr>
          <a:lstStyle/>
          <a:p>
            <a:pPr algn="l">
              <a:lnSpc>
                <a:spcPct val="108000"/>
              </a:lnSpc>
              <a:spcBef>
                <a:spcPts val="0"/>
              </a:spcBef>
              <a:spcAft>
                <a:spcPts val="500"/>
              </a:spcAft>
            </a:pPr>
            <a:r>
              <a:rPr sz="1100" b="1">
                <a:solidFill>
                  <a:srgbClr val="FFFFFF"/>
                </a:solidFill>
                <a:latin typeface="Aptos"/>
              </a:rPr>
              <a:t>GÉNÉRER</a:t>
            </a:r>
          </a:p>
        </p:txBody>
      </p:sp>
      <p:sp>
        <p:nvSpPr>
          <p:cNvPr id="12" name="Rounded Rectangle 11"/>
          <p:cNvSpPr/>
          <p:nvPr/>
        </p:nvSpPr>
        <p:spPr>
          <a:xfrm>
            <a:off x="6263640" y="4809744"/>
            <a:ext cx="2468880" cy="320040"/>
          </a:xfrm>
          <a:prstGeom prst="roundRect">
            <a:avLst>
              <a:gd name="adj" fmla="val 12000"/>
            </a:avLst>
          </a:prstGeom>
          <a:solidFill>
            <a:srgbClr val="F2C8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55080" y="4846320"/>
            <a:ext cx="2286000" cy="219456"/>
          </a:xfrm>
          <a:prstGeom prst="rect">
            <a:avLst/>
          </a:prstGeom>
          <a:noFill/>
        </p:spPr>
        <p:txBody>
          <a:bodyPr wrap="square" lIns="0" rIns="0" tIns="0" bIns="0" anchor="t">
            <a:noAutofit/>
          </a:bodyPr>
          <a:lstStyle/>
          <a:p>
            <a:pPr algn="l">
              <a:lnSpc>
                <a:spcPct val="108000"/>
              </a:lnSpc>
              <a:spcBef>
                <a:spcPts val="0"/>
              </a:spcBef>
              <a:spcAft>
                <a:spcPts val="500"/>
              </a:spcAft>
            </a:pPr>
            <a:r>
              <a:rPr sz="1100" b="1">
                <a:solidFill>
                  <a:srgbClr val="182630"/>
                </a:solidFill>
                <a:latin typeface="Aptos"/>
              </a:rPr>
              <a:t>VALIDER</a:t>
            </a:r>
          </a:p>
        </p:txBody>
      </p:sp>
      <p:sp>
        <p:nvSpPr>
          <p:cNvPr id="14" name="Rounded Rectangle 13"/>
          <p:cNvSpPr/>
          <p:nvPr/>
        </p:nvSpPr>
        <p:spPr>
          <a:xfrm>
            <a:off x="9098280" y="4809744"/>
            <a:ext cx="2468880" cy="320040"/>
          </a:xfrm>
          <a:prstGeom prst="roundRect">
            <a:avLst>
              <a:gd name="adj" fmla="val 12000"/>
            </a:avLst>
          </a:prstGeom>
          <a:solidFill>
            <a:srgbClr val="2035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189720" y="4846320"/>
            <a:ext cx="2286000" cy="219456"/>
          </a:xfrm>
          <a:prstGeom prst="rect">
            <a:avLst/>
          </a:prstGeom>
          <a:noFill/>
        </p:spPr>
        <p:txBody>
          <a:bodyPr wrap="square" lIns="0" rIns="0" tIns="0" bIns="0" anchor="t">
            <a:noAutofit/>
          </a:bodyPr>
          <a:lstStyle/>
          <a:p>
            <a:pPr algn="l">
              <a:lnSpc>
                <a:spcPct val="108000"/>
              </a:lnSpc>
              <a:spcBef>
                <a:spcPts val="0"/>
              </a:spcBef>
              <a:spcAft>
                <a:spcPts val="500"/>
              </a:spcAft>
            </a:pPr>
            <a:r>
              <a:rPr sz="1100" b="1">
                <a:solidFill>
                  <a:srgbClr val="FFFFFF"/>
                </a:solidFill>
                <a:latin typeface="Aptos"/>
              </a:rPr>
              <a:t>AUTORISER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Tableau to Power BI — Architecture et workflows</dc:title>
  <dc:subject>Édition 26.10.2026 ; preuves datées ; hypothèses commerciales illustratives</dc:subject>
  <dc:creator>TableauToPowerBI project</dc:creator>
  <cp:keywords>Tableau, Power BI, PBIP, architecture, migration</cp:keywords>
  <dc:description>Generated by docs/generate_pptx.py</dc:description>
  <cp:lastModifiedBy>TableauToPowerBI project</cp:lastModifiedBy>
  <cp:revision>1</cp:revision>
  <dcterms:created xsi:type="dcterms:W3CDTF">2026-10-26T00:00:00Z</dcterms:created>
  <dcterms:modified xsi:type="dcterms:W3CDTF">2026-10-26T00:00:00Z</dcterms:modified>
  <cp:category/>
</cp:coreProperties>
</file>