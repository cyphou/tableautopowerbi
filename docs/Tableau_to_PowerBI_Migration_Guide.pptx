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4578"/>
            </a:gs>
            <a:gs pos="100000">
              <a:srgbClr val="0078D4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Tableau → Power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4688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2C811"/>
                </a:solidFill>
              </a:rPr>
              <a:t>Evidence-Backed Migration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Migrate Tableau workbooks and Prep flows to PBIP and Fabric-ready artifacts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5029200"/>
            <a:ext cx="1828800" cy="1097280"/>
          </a:xfrm>
          <a:prstGeom prst="roundRect">
            <a:avLst/>
          </a:prstGeom>
          <a:solidFill>
            <a:srgbClr val="0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</a:rPr>
              <a:t>150
Focused Tests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90088" y="5029200"/>
            <a:ext cx="1828800" cy="1097280"/>
          </a:xfrm>
          <a:prstGeom prst="roundRect">
            <a:avLst/>
          </a:prstGeom>
          <a:solidFill>
            <a:srgbClr val="0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</a:rPr>
              <a:t>133+
DAX Conversions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65776" y="5029200"/>
            <a:ext cx="1828800" cy="1097280"/>
          </a:xfrm>
          <a:prstGeom prst="roundRect">
            <a:avLst/>
          </a:prstGeom>
          <a:solidFill>
            <a:srgbClr val="0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</a:rPr>
              <a:t>190
Visual Types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41464" y="5029200"/>
            <a:ext cx="1828800" cy="1097280"/>
          </a:xfrm>
          <a:prstGeom prst="roundRect">
            <a:avLst/>
          </a:prstGeom>
          <a:solidFill>
            <a:srgbClr val="0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</a:rPr>
              <a:t>6
Reports Migrated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17152" y="5029200"/>
            <a:ext cx="1828800" cy="1097280"/>
          </a:xfrm>
          <a:prstGeom prst="roundRect">
            <a:avLst/>
          </a:prstGeom>
          <a:solidFill>
            <a:srgbClr val="0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</a:rPr>
              <a:t>5/6
Openability Pass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4578"/>
                </a:solidFill>
              </a:rPr>
              <a:t>Executive Summary — End-to-End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22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4578"/>
                </a:solidFill>
              </a:rPr>
              <a:t>Full-Stack Migration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234440"/>
            <a:ext cx="5029200" cy="566928"/>
          </a:xfrm>
          <a:prstGeom prst="roundRect">
            <a:avLst/>
          </a:prstGeom>
          <a:solidFill>
            <a:srgbClr val="E9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</a:rPr>
              <a:t>📥 INPUT  —  TWB / TWBX / TDS / Prep / Hyper / Server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175564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05E5C"/>
                </a:solidFill>
              </a:rPr>
              <a:t>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874520"/>
            <a:ext cx="5029200" cy="566928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</a:rPr>
              <a:t>🔍 EXTRACT  —  23 object types → 23 JSON intermediate files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39572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05E5C"/>
                </a:solidFill>
              </a:rPr>
              <a:t>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514600"/>
            <a:ext cx="5029200" cy="566928"/>
          </a:xfrm>
          <a:prstGeom prst="round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</a:rPr>
              <a:t>🧮 CONVERT  —  133+ DAX formulas • 43 M transforms • 87 connectors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303580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05E5C"/>
                </a:solidFill>
              </a:rPr>
              <a:t>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3154680"/>
            <a:ext cx="5029200" cy="566928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</a:rPr>
              <a:t>⚙️ GENERATE  —  TMDL semantic model • PBIR v4.0 report • themes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367588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05E5C"/>
                </a:solidFill>
              </a:rPr>
              <a:t>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3794760"/>
            <a:ext cx="5029200" cy="566928"/>
          </a:xfrm>
          <a:prstGeom prst="roundRect">
            <a:avLst/>
          </a:prstGeom>
          <a:solidFill>
            <a:srgbClr val="038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</a:rPr>
              <a:t>🧠 OPTIMIZE  —  DAX AST rewriter • Time Intelligence inject • auto-fix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431596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05E5C"/>
                </a:solidFill>
              </a:rPr>
              <a:t>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4434840"/>
            <a:ext cx="5029200" cy="566928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</a:rPr>
              <a:t>✅ VALIDATE  —  QA suite • governance • lineage • comparison report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495604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05E5C"/>
                </a:solidFill>
              </a:rPr>
              <a:t>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5074920"/>
            <a:ext cx="5029200" cy="566928"/>
          </a:xfrm>
          <a:prstGeom prst="roundRect">
            <a:avLst/>
          </a:prstGeom>
          <a:solidFill>
            <a:srgbClr val="004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</a:rPr>
              <a:t>🚀 DEPLOY  —  PBI Service • Fabric • bundle • multi-tenant • gateway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8229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4578"/>
                </a:solidFill>
              </a:rPr>
              <a:t>Optimization at Every Level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1234440"/>
            <a:ext cx="3017520" cy="105156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</a:rPr>
              <a:t>Data Layer
Smart M queries • incremental refresh
connection parameterization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23960" y="1234440"/>
            <a:ext cx="3017520" cy="1051560"/>
          </a:xfrm>
          <a:prstGeom prst="round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</a:rPr>
              <a:t>Semantic Layer
DAX optimizer (IF→SWITCH • COALESCE)
Time Intelligence auto-inject
SortByColumn • displayFolder • isHidden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0" y="2423160"/>
            <a:ext cx="3017520" cy="1051560"/>
          </a:xfrm>
          <a:prstGeom prst="roundRect">
            <a:avLst/>
          </a:prstGeom>
          <a:solidFill>
            <a:srgbClr val="038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</a:rPr>
              <a:t>Visual Layer
190 visual mappings • conditional format
theme extraction • responsive layout
reference lines • tooltips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23960" y="2423160"/>
            <a:ext cx="3017520" cy="1051560"/>
          </a:xfrm>
          <a:prstGeom prst="roundRect">
            <a:avLst/>
          </a:prstGeom>
          <a:solidFill>
            <a:srgbClr val="A42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</a:rPr>
              <a:t>Security Layer
RLS roles • USERPRINCIPALNAME()
ZIP slip / XXE defense
credential redaction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0" y="36576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4578"/>
                </a:solidFill>
              </a:rPr>
              <a:t>Migration ROI &amp; Business Impact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0" y="4114800"/>
            <a:ext cx="1463040" cy="128016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4292E"/>
                </a:solidFill>
              </a:rPr>
              <a:t>⏱️
95%+
Time Saved
vs. manual rework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4114800"/>
            <a:ext cx="1463040" cy="128016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4292E"/>
                </a:solidFill>
              </a:rPr>
              <a:t>💰
~$0
Tooling Cost
Python stdlib only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78240" y="4114800"/>
            <a:ext cx="1463040" cy="128016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4292E"/>
                </a:solidFill>
              </a:rPr>
              <a:t>🎯
5/6
Openability
one UC80 blocker set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332720" y="4114800"/>
            <a:ext cx="1463040" cy="128016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4292E"/>
                </a:solidFill>
              </a:rPr>
              <a:t>🔒
0
Runtime Claims
without authorized evidence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05E5C"/>
                </a:solidFill>
              </a:rPr>
              <a:t>Static validation is deterministic • Live Desktop/Fabric evidence is explicit • Every approximation and blocker remains visible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4578"/>
                </a:solidFill>
              </a:rPr>
              <a:t>Migration Pipeline — 2-Step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2286000" cy="1463040"/>
          </a:xfrm>
          <a:prstGeom prst="roundRect">
            <a:avLst/>
          </a:prstGeom>
          <a:solidFill>
            <a:srgbClr val="E9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📄 Tableau Source
.twb / .twbx / .tds
Prep flows (.tfl)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34640" y="22860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828800"/>
            <a:ext cx="2286000" cy="14630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🔍 EXTRACT
Parse XML → 23 JSON
files (worksheets,
calcs, datasources…)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0" y="22860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828800"/>
            <a:ext cx="2286000" cy="14630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⚙️ GENERATE
TMDL Semantic Model
PBIR v4.0 Report
Power Query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22860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0" y="1828800"/>
            <a:ext cx="2286000" cy="146304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📊 Power BI
.pbip project
Open in PBI Desktop
(March 2025+)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3474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05E5C"/>
                </a:solidFill>
              </a:rPr>
              <a:t>↓  optional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0" y="3931920"/>
            <a:ext cx="2286000" cy="914400"/>
          </a:xfrm>
          <a:prstGeom prst="roundRect">
            <a:avLst/>
          </a:prstGeom>
          <a:solidFill>
            <a:srgbClr val="F2C8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4292E"/>
                </a:solidFill>
              </a:rPr>
              <a:t>🚀 Deploy to PBI Service / Fabric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578"/>
                </a:solidFill>
              </a:rPr>
              <a:t>23 Extracted Object Types: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05E5C"/>
                </a:solidFill>
              </a:rPr>
              <a:t>worksheets • dashboards • datasources • calculations • parameters • filters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8006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05E5C"/>
                </a:solidFill>
              </a:rPr>
              <a:t>stories • actions • sets • groups • bins • hierarchies • sort orders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1206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05E5C"/>
                </a:solidFill>
              </a:rPr>
              <a:t>aliases • custom SQL • user filters (→ RLS) • hyper file data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3931920"/>
            <a:ext cx="2286000" cy="14630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🏭 Fabric Mode
Lakehouse + Dataflow
Notebook + DirectLake
+ Pipeline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5486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05E5C"/>
                </a:solidFill>
              </a:rPr>
              <a:t>--output-format fabric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4578"/>
                </a:solidFill>
              </a:rPr>
              <a:t>Key Features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80160"/>
            <a:ext cx="2651760" cy="13716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🔄 Complete Extraction
23 object types from .twb/.twbx
Prep flows, Hyper files, Server API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7560" y="1280160"/>
            <a:ext cx="2651760" cy="1371600"/>
          </a:xfrm>
          <a:prstGeom prst="round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🧮 133+ DAX Conversions
LOD, table calcs, RANK, WINDOW
cross-table RELATED/LOOKUPVALUE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280160"/>
            <a:ext cx="2651760" cy="1371600"/>
          </a:xfrm>
          <a:prstGeom prst="roundRect">
            <a:avLst/>
          </a:prstGeom>
          <a:solidFill>
            <a:srgbClr val="038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📊 190 Visual Types
Bar, line, map, treemap, Sankey
combo, gauge, word cloud, KPI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98280" y="1280160"/>
            <a:ext cx="2651760" cy="13716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🔌 87 Data Connectors
SQL Server, Snowflake, BigQuery
Databricks, Oracle, Excel, CSV…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880360"/>
            <a:ext cx="2651760" cy="1371600"/>
          </a:xfrm>
          <a:prstGeom prst="round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🧠 Smart Semantic Model
Calendar, hierarchies, calc groups
field params, RLS, perspectives
M identifier auto-quoting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2880360"/>
            <a:ext cx="2651760" cy="1371600"/>
          </a:xfrm>
          <a:prstGeom prst="roundRect">
            <a:avLst/>
          </a:prstGeom>
          <a:solidFill>
            <a:srgbClr val="038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⚡ DAX Optimizer
IF→SWITCH, COALESCE, constant
folding, Time Intelligence inject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880360"/>
            <a:ext cx="2651760" cy="13716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🔗 Shared Semantic Model
Multi-WB merge, fingerprint match
Jaccard scoring, thin reports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98280" y="2880360"/>
            <a:ext cx="2651760" cy="1371600"/>
          </a:xfrm>
          <a:prstGeom prst="round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🔍 QA Suite &amp; Auto-Fix
17 auto-fix patterns, governance
lineage map, comparison reports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480560"/>
            <a:ext cx="2651760" cy="1371600"/>
          </a:xfrm>
          <a:prstGeom prst="roundRect">
            <a:avLst/>
          </a:prstGeom>
          <a:solidFill>
            <a:srgbClr val="038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🏭 Fabric-Native Output
Lakehouse, Dataflow Gen2, PySpark
DirectLake, Data Pipeline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4480560"/>
            <a:ext cx="2651760" cy="13716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🚀 Deploy Anywhere
PBI Service, Fabric, gateway
bundle deploy, multi-tenant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480560"/>
            <a:ext cx="2651760" cy="1371600"/>
          </a:xfrm>
          <a:prstGeom prst="round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📈 Assessment &amp; Strategy
9-category readiness scoring
Import/DQ/Composite advisor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280" y="4480560"/>
            <a:ext cx="2651760" cy="1371600"/>
          </a:xfrm>
          <a:prstGeom prst="roundRect">
            <a:avLst/>
          </a:prstGeom>
          <a:solidFill>
            <a:srgbClr val="038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🧪 Runtime Evidence
Injected executor boundary
fixtures, tolerances, mismatch paths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4578"/>
                </a:solidFill>
              </a:rPr>
              <a:t>133+ DAX Conversions — Highlights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1645920" cy="457200"/>
          </a:xfrm>
          <a:prstGeom prst="roundRect">
            <a:avLst/>
          </a:prstGeom>
          <a:solidFill>
            <a:srgbClr val="004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Category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03120" y="1188720"/>
            <a:ext cx="4114800" cy="457200"/>
          </a:xfrm>
          <a:prstGeom prst="roundRect">
            <a:avLst/>
          </a:prstGeom>
          <a:solidFill>
            <a:srgbClr val="004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Tableau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029200" cy="457200"/>
          </a:xfrm>
          <a:prstGeom prst="roundRect">
            <a:avLst/>
          </a:prstGeom>
          <a:solidFill>
            <a:srgbClr val="004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DAX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91640"/>
            <a:ext cx="1645920" cy="6400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78D4"/>
                </a:solidFill>
              </a:rPr>
              <a:t>LOD Fixed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1691640"/>
            <a:ext cx="4114800" cy="6400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97627"/>
                </a:solidFill>
              </a:rPr>
              <a:t>{FIXED [customer] : SUM([qty])}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91640"/>
            <a:ext cx="5029200" cy="6400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07C10"/>
                </a:solidFill>
              </a:rPr>
              <a:t>CALCULATE(SUM([qty]),
  ALLEXCEPT('T','T'[customer]))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31720"/>
            <a:ext cx="164592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78D4"/>
                </a:solidFill>
              </a:rPr>
              <a:t>LOD Exclude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2331720"/>
            <a:ext cx="411480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97627"/>
                </a:solidFill>
              </a:rPr>
              <a:t>{EXCLUDE [channel] : SUM([rev])}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331720"/>
            <a:ext cx="502920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07C10"/>
                </a:solidFill>
              </a:rPr>
              <a:t>CALCULATE(SUM([rev]),
  REMOVEFILTERS('T'[channel]))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971800"/>
            <a:ext cx="1645920" cy="6400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78D4"/>
                </a:solidFill>
              </a:rPr>
              <a:t>Iterator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03120" y="2971800"/>
            <a:ext cx="4114800" cy="6400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97627"/>
                </a:solidFill>
              </a:rPr>
              <a:t>SUM(IF [status]="OK" THEN [qty])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971800"/>
            <a:ext cx="5029200" cy="6400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07C10"/>
                </a:solidFill>
              </a:rPr>
              <a:t>SUMX('Tbl',
  IF([status]="OK", [qty], 0))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611880"/>
            <a:ext cx="164592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78D4"/>
                </a:solidFill>
              </a:rPr>
              <a:t>Table Calc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03120" y="3611880"/>
            <a:ext cx="411480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97627"/>
                </a:solidFill>
              </a:rPr>
              <a:t>RUNNING_SUM(SUM([sales]))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611880"/>
            <a:ext cx="502920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07C10"/>
                </a:solidFill>
              </a:rPr>
              <a:t>CALCULATE(SUM([sales]),
  FILTER(ALL('T'),…))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251960"/>
            <a:ext cx="1645920" cy="6400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78D4"/>
                </a:solidFill>
              </a:rPr>
              <a:t>Rank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03120" y="4251960"/>
            <a:ext cx="4114800" cy="6400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97627"/>
                </a:solidFill>
              </a:rPr>
              <a:t>RANK(SUM([revenue]))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251960"/>
            <a:ext cx="5029200" cy="6400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07C10"/>
                </a:solidFill>
              </a:rPr>
              <a:t>RANKX(ALL('T'),
  SUM('T'[revenue]))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892040"/>
            <a:ext cx="164592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78D4"/>
                </a:solidFill>
              </a:rPr>
              <a:t>Cross-Table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03120" y="4892040"/>
            <a:ext cx="411480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97627"/>
                </a:solidFill>
              </a:rPr>
              <a:t>[col] from other table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4892040"/>
            <a:ext cx="502920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07C10"/>
                </a:solidFill>
              </a:rPr>
              <a:t>RELATED('Other'[col]) or
  LOOKUPVALUE(…)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532120"/>
            <a:ext cx="1645920" cy="6400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78D4"/>
                </a:solidFill>
              </a:rPr>
              <a:t>Security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03120" y="5532120"/>
            <a:ext cx="4114800" cy="6400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97627"/>
                </a:solidFill>
              </a:rPr>
              <a:t>USERNAME()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5532120"/>
            <a:ext cx="5029200" cy="6400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07C10"/>
                </a:solidFill>
              </a:rPr>
              <a:t>USERPRINCIPALNAME()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172200"/>
            <a:ext cx="164592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78D4"/>
                </a:solidFill>
              </a:rPr>
              <a:t>Null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03120" y="6172200"/>
            <a:ext cx="411480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97627"/>
                </a:solidFill>
              </a:rPr>
              <a:t>ISNULL / ZN / IFNULL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6172200"/>
            <a:ext cx="502920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07C10"/>
                </a:solidFill>
              </a:rPr>
              <a:t>ISBLANK / IF(ISBLANK,…)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4578"/>
                </a:solidFill>
              </a:rPr>
              <a:t>Lineage Map — Source-to-Target Traceability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05E5C"/>
                </a:solidFill>
              </a:rPr>
              <a:t>Every migration produces lineage_map.json — visualized in the HTML dashboard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2286000" cy="1188720"/>
          </a:xfrm>
          <a:prstGeom prst="roundRect">
            <a:avLst/>
          </a:prstGeom>
          <a:solidFill>
            <a:srgbClr val="E9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Tableau
Datasource.Table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2103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078D4"/>
                </a:solidFill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828800"/>
            <a:ext cx="2286000" cy="1188720"/>
          </a:xfrm>
          <a:prstGeom prst="round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Calculations
(formulas)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2103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078D4"/>
                </a:solidFill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828800"/>
            <a:ext cx="2286000" cy="118872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PBI Semantic Model
(tables, measures,
relationships)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103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078D4"/>
                </a:solidFill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828800"/>
            <a:ext cx="2286000" cy="118872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Report Pages
(visuals, filters)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57600"/>
            <a:ext cx="2560320" cy="13716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</a:rPr>
              <a:t>📦 Tables
Tableau datasource.table
→ PBI table name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64408" y="3657600"/>
            <a:ext cx="2560320" cy="1371600"/>
          </a:xfrm>
          <a:prstGeom prst="round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</a:rPr>
              <a:t>🧮 Calculations
Tableau calc formula
→ PBI measure/column + type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1616" y="3657600"/>
            <a:ext cx="2560320" cy="1371600"/>
          </a:xfrm>
          <a:prstGeom prst="roundRect">
            <a:avLst/>
          </a:prstGeom>
          <a:solidFill>
            <a:srgbClr val="038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</a:rPr>
              <a:t>🔗 Relationships
From Table[Col]
→ To Table[Col] + cardinality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78824" y="3657600"/>
            <a:ext cx="2560320" cy="137160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</a:rPr>
              <a:t>📊 Worksheets
Tableau worksheet name
→ PBI report page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5E5C"/>
                </a:solidFill>
              </a:rPr>
              <a:t>HTML Dashboard: searchable/sortable tables per category • flow diagrams • stat cards • multi-workbook aggregation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4578"/>
                </a:solidFill>
              </a:rPr>
              <a:t>Shared Semantic Model — Multi-Workbook Merge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2011680" cy="914400"/>
          </a:xfrm>
          <a:prstGeom prst="roundRect">
            <a:avLst/>
          </a:prstGeom>
          <a:solidFill>
            <a:srgbClr val="E9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📄 Workbook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15544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2011680" cy="914400"/>
          </a:xfrm>
          <a:prstGeom prst="roundRect">
            <a:avLst/>
          </a:prstGeom>
          <a:solidFill>
            <a:srgbClr val="E9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📄 Workbook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27432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749040"/>
            <a:ext cx="2011680" cy="914400"/>
          </a:xfrm>
          <a:prstGeom prst="roundRect">
            <a:avLst/>
          </a:prstGeom>
          <a:solidFill>
            <a:srgbClr val="E9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📄 Workbook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393192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1828800"/>
            <a:ext cx="2560320" cy="18288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🔗 MERGE
Fingerprint matching
Jaccard scoring
Conflict resolution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24688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1371600"/>
            <a:ext cx="2560320" cy="1097280"/>
          </a:xfrm>
          <a:prstGeom prst="roundRect">
            <a:avLst/>
          </a:prstGeom>
          <a:solidFill>
            <a:srgbClr val="004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📦 Shared
Semantic Model
(ONE model)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26880" y="1188720"/>
            <a:ext cx="2286000" cy="731520"/>
          </a:xfrm>
          <a:prstGeom prst="roundRect">
            <a:avLst/>
          </a:prstGeom>
          <a:solidFill>
            <a:srgbClr val="F2C8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4292E"/>
                </a:solidFill>
              </a:rPr>
              <a:t>📊 Report A (thin)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13258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05E5C"/>
                </a:solidFill>
              </a:rPr>
              <a:t>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2194560"/>
            <a:ext cx="2286000" cy="731520"/>
          </a:xfrm>
          <a:prstGeom prst="roundRect">
            <a:avLst/>
          </a:prstGeom>
          <a:solidFill>
            <a:srgbClr val="F2C8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4292E"/>
                </a:solidFill>
              </a:rPr>
              <a:t>📊 Report B (thin)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3317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05E5C"/>
                </a:solidFill>
              </a:rPr>
              <a:t>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26880" y="3200400"/>
            <a:ext cx="2286000" cy="731520"/>
          </a:xfrm>
          <a:prstGeom prst="roundRect">
            <a:avLst/>
          </a:prstGeom>
          <a:solidFill>
            <a:srgbClr val="F2C8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4292E"/>
                </a:solidFill>
              </a:rPr>
              <a:t>📊 Report C (thin)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3337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05E5C"/>
                </a:solidFill>
              </a:rPr>
              <a:t>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4114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05E5C"/>
                </a:solidFill>
              </a:rPr>
              <a:t>byPath → SharedModel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5720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400">
                <a:solidFill>
                  <a:srgbClr val="24292E"/>
                </a:solidFill>
              </a:rPr>
              <a:t>  •  SHA-256 fingerprint-based table matching across workbooks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400">
                <a:solidFill>
                  <a:srgbClr val="24292E"/>
                </a:solidFill>
              </a:rPr>
              <a:t>  •  Jaccard column overlap scoring (0–100 merge score)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400">
                <a:solidFill>
                  <a:srgbClr val="24292E"/>
                </a:solidFill>
              </a:rPr>
              <a:t>  •  Measure, column, relationship deduplication &amp; conflict resolution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400">
                <a:solidFill>
                  <a:srgbClr val="24292E"/>
                </a:solidFill>
              </a:rPr>
              <a:t>  •  Global assessment: pairwise merge scoring + BFS clustering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400">
                <a:solidFill>
                  <a:srgbClr val="24292E"/>
                </a:solidFill>
              </a:rPr>
              <a:t>  •  Bundle deployment: shared model + thin reports → Fabric workspace</a:t>
            </a:r>
          </a:p>
        </p:txBody>
      </p:sp>
      <p:pic>
        <p:nvPicPr>
          <p:cNvPr id="20" name="Picture 19" descr="share_assess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3931920"/>
            <a:ext cx="8229600" cy="417462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4578"/>
                </a:solidFill>
              </a:rPr>
              <a:t>Current Portfolio — 6 Reports Migrated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2011680" cy="137160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</a:rPr>
              <a:t>6/6
PBIP Projects
Generated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1188720"/>
            <a:ext cx="2011680" cy="13716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</a:rPr>
              <a:t>5/6
Openability
Passed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1188720"/>
            <a:ext cx="2011680" cy="1371600"/>
          </a:xfrm>
          <a:prstGeom prst="roundRect">
            <a:avLst/>
          </a:prstGeom>
          <a:solidFill>
            <a:srgbClr val="A42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</a:rPr>
              <a:t>1
Blocked
(UC80)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188720"/>
            <a:ext cx="2011680" cy="1371600"/>
          </a:xfrm>
          <a:prstGeom prst="round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</a:rPr>
              <a:t>150
Focused
Tests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0" y="1188720"/>
            <a:ext cx="2011680" cy="1371600"/>
          </a:xfrm>
          <a:prstGeom prst="roundRect">
            <a:avLst/>
          </a:prstGeom>
          <a:solidFill>
            <a:srgbClr val="038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</a:rPr>
              <a:t>v48
Roadmap
Track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4578"/>
                </a:solidFill>
              </a:rPr>
              <a:t>Migrated reports — openability passed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474720"/>
            <a:ext cx="2286000" cy="4114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7C10"/>
                </a:solidFill>
              </a:rPr>
              <a:t>Salesforce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80" y="3474720"/>
            <a:ext cx="2286000" cy="4114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7C10"/>
                </a:solidFill>
              </a:rPr>
              <a:t>TDB Maintenance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023360"/>
            <a:ext cx="2286000" cy="4114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7C10"/>
                </a:solidFill>
              </a:rPr>
              <a:t>nba_player_stats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0" y="4023360"/>
            <a:ext cx="2286000" cy="4114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7C10"/>
                </a:solidFill>
              </a:rPr>
              <a:t>superstore_sales_dashboard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572000"/>
            <a:ext cx="2286000" cy="4114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7C10"/>
                </a:solidFill>
              </a:rPr>
              <a:t>World Indicators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9260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A4262C"/>
                </a:solidFill>
              </a:rPr>
              <a:t>Blocked but generated: UC80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3474720"/>
            <a:ext cx="5669280" cy="4114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4262C"/>
                </a:solidFill>
              </a:rPr>
              <a:t>Missing semantic reference: Surveillance IPE Historique vision_domaine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4023360"/>
            <a:ext cx="5669280" cy="4114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4262C"/>
                </a:solidFill>
              </a:rPr>
              <a:t>Missing visual measure: Show % (Indicateur Nat) - Domaine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0" y="4572000"/>
            <a:ext cx="5669280" cy="4114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7C10"/>
                </a:solidFill>
              </a:rPr>
              <a:t>All other static openability checks passed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4578"/>
                </a:solidFill>
              </a:rPr>
              <a:t>Six PBIP projects generated. Five pass static openability; live Desktop/Fabric evidence remains not_run.</a:t>
            </a:r>
          </a:p>
        </p:txBody>
      </p:sp>
      <p:pic>
        <p:nvPicPr>
          <p:cNvPr id="19" name="Picture 18" descr="migration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846320"/>
            <a:ext cx="5943600" cy="334595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4578"/>
                </a:solidFill>
              </a:rPr>
              <a:t>Post-Migration Automation &amp; QA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371600"/>
            <a:ext cx="2011680" cy="109728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Validate
(.pbip JSON/TMDL)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04288" y="155448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14600" y="1371600"/>
            <a:ext cx="2011680" cy="1097280"/>
          </a:xfrm>
          <a:prstGeom prst="round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Auto-Fix
(17 DAX patterns)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44568" y="155448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371600"/>
            <a:ext cx="2011680" cy="1097280"/>
          </a:xfrm>
          <a:prstGeom prst="roundRect">
            <a:avLst/>
          </a:prstGeom>
          <a:solidFill>
            <a:srgbClr val="038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Governance
(naming, PII, labels)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4848" y="155448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95160" y="1371600"/>
            <a:ext cx="2011680" cy="109728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Compare
(Tableau vs PBI)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25128" y="155448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5440" y="1371600"/>
            <a:ext cx="2011680" cy="109728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qa_report.json
(pass/fail/score)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51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8D4"/>
                </a:solidFill>
              </a:rPr>
              <a:t>python migrate.py workbook.twbx --qa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91840"/>
            <a:ext cx="2743200" cy="182880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4292E"/>
                </a:solidFill>
              </a:rPr>
              <a:t>🔧 Validator Auto-Fix
17 Tableau→DAX leak patterns:
ISNULL→ISBLANK, ZN→IF(ISBLANK),
ELSEIF→IF, ==→=, or→||, and→&amp;&amp;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3291840"/>
            <a:ext cx="2743200" cy="182880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4292E"/>
                </a:solidFill>
              </a:rPr>
              <a:t>📜 RLS PowerShell
Auto-generate .ps1 scripts for
Azure AD RLS role assignment
via Power BI REST 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3291840"/>
            <a:ext cx="2743200" cy="182880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4292E"/>
                </a:solidFill>
              </a:rPr>
              <a:t>🔑 Credential Template
JSON placeholder file for each
datasource connection — ready
for DevOps pipeline injection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3291840"/>
            <a:ext cx="2743200" cy="182880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4292E"/>
                </a:solidFill>
              </a:rPr>
              <a:t>🔗 Lineage Map
lineage_map.json tracks every
object: tables, calcs, rels,
worksheets → HTML dashboard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4578"/>
                </a:solidFill>
              </a:rPr>
              <a:t>Testing &amp; CI/CD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188720"/>
            <a:ext cx="2011680" cy="1280160"/>
          </a:xfrm>
          <a:prstGeom prst="round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🔍 Lint
flake8 + ruff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04288" y="14630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14600" y="1188720"/>
            <a:ext cx="2011680" cy="128016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🧪 Test
150 focused tests
Python 3.14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44568" y="14630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188720"/>
            <a:ext cx="2011680" cy="128016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✅ Validate
Strict .twbx
migrations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4848" y="14630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95160" y="1188720"/>
            <a:ext cx="2011680" cy="1280160"/>
          </a:xfrm>
          <a:prstGeom prst="roundRect">
            <a:avLst/>
          </a:prstGeom>
          <a:solidFill>
            <a:srgbClr val="F2C8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4292E"/>
                </a:solidFill>
              </a:rPr>
              <a:t>📦 Staging
Fabric deploy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25128" y="14630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5440" y="1188720"/>
            <a:ext cx="2011680" cy="12801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🚀 Production
Manual approval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4578"/>
                </a:solidFill>
              </a:rPr>
              <a:t>Focused release validation: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91840"/>
            <a:ext cx="2286000" cy="347472"/>
          </a:xfrm>
          <a:prstGeom prst="roundRect">
            <a:avLst/>
          </a:prstGeom>
          <a:solidFill>
            <a:srgbClr val="004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Category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3291840"/>
            <a:ext cx="1371600" cy="347472"/>
          </a:xfrm>
          <a:prstGeom prst="roundRect">
            <a:avLst/>
          </a:prstGeom>
          <a:solidFill>
            <a:srgbClr val="004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Count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3291840"/>
            <a:ext cx="4114800" cy="347472"/>
          </a:xfrm>
          <a:prstGeom prst="roundRect">
            <a:avLst/>
          </a:prstGeom>
          <a:solidFill>
            <a:srgbClr val="004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Coverage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657600"/>
            <a:ext cx="2286000" cy="384048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4292E"/>
                </a:solidFill>
              </a:rPr>
              <a:t>Quality report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0" y="3657600"/>
            <a:ext cx="1371600" cy="384048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8D4"/>
                </a:solidFill>
              </a:rPr>
              <a:t>31 tests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0" y="3657600"/>
            <a:ext cx="4114800" cy="384048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</a:rPr>
              <a:t>Policies, fixtures, runtime evidence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041648"/>
            <a:ext cx="228600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4292E"/>
                </a:solidFill>
              </a:rPr>
              <a:t>Semantic validation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4041648"/>
            <a:ext cx="137160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8D4"/>
                </a:solidFill>
              </a:rPr>
              <a:t>6 tests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0" y="4041648"/>
            <a:ext cx="411480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</a:rPr>
              <a:t>LOD, partitions, filter context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425696"/>
            <a:ext cx="2286000" cy="384048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4292E"/>
                </a:solidFill>
              </a:rPr>
              <a:t>M validation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0" y="4425696"/>
            <a:ext cx="1371600" cy="384048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8D4"/>
                </a:solidFill>
              </a:rPr>
              <a:t>42 tests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0" y="4425696"/>
            <a:ext cx="4114800" cy="384048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</a:rPr>
              <a:t>Power Query syntax and gates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809744"/>
            <a:ext cx="228600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4292E"/>
                </a:solidFill>
              </a:rPr>
              <a:t>CLI/refactor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4809744"/>
            <a:ext cx="137160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8D4"/>
                </a:solidFill>
              </a:rPr>
              <a:t>49 tests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0" y="4809744"/>
            <a:ext cx="411480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</a:rPr>
              <a:t>Batch, flags, migration paths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193792"/>
            <a:ext cx="2286000" cy="384048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4292E"/>
                </a:solidFill>
              </a:rPr>
              <a:t>Skill docs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43200" y="5193792"/>
            <a:ext cx="1371600" cy="384048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8D4"/>
                </a:solidFill>
              </a:rPr>
              <a:t>15 tests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0" y="5193792"/>
            <a:ext cx="4114800" cy="384048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</a:rPr>
              <a:t>Flag and workflow documentation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577840"/>
            <a:ext cx="228600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4292E"/>
                </a:solidFill>
              </a:rPr>
              <a:t>Focused total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43200" y="5577840"/>
            <a:ext cx="137160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8D4"/>
                </a:solidFill>
              </a:rPr>
              <a:t>150 tests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0" y="5577840"/>
            <a:ext cx="411480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</a:rPr>
              <a:t>All selected release checks green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04578"/>
                </a:solidFill>
              </a:rPr>
              <a:t>Operational Surfaces — From Developer Tool to Handoff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34440"/>
            <a:ext cx="3611880" cy="155448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Developer surfaces
VS Code extension
Notebook API v2
DAX/Tableau syntax grammars
Plugin SDK + marketplace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43400" y="1234440"/>
            <a:ext cx="3611880" cy="1554480"/>
          </a:xfrm>
          <a:prstGeom prst="round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Agent surfaces
Copilot skill + flag reference
MCP tools: assess, migrate, QA, parity
Grounded remediation and Q&amp;A
Secret-safe deployment guardrails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0" y="1234440"/>
            <a:ext cx="3611880" cy="1554480"/>
          </a:xfrm>
          <a:prstGeom prst="roundRect">
            <a:avLst/>
          </a:prstGeom>
          <a:solidFill>
            <a:srgbClr val="038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Enterprise surfaces
Tableau Server/Cloud download
Portfolio assessment and lineage
Prep-flow analysis
OAuth, gateway, RLS and credentials templates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063240"/>
            <a:ext cx="3611880" cy="155448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Quality surfaces
Openability and Desktop probe
Self-healing and recovery ledger
Visual/data/interface fidelity
Evidence manifest and policy profiles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3063240"/>
            <a:ext cx="3611880" cy="1554480"/>
          </a:xfrm>
          <a:prstGeom prst="roundRect">
            <a:avLst/>
          </a:prstGeom>
          <a:solidFill>
            <a:srgbClr val="004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Delivery surfaces
PBIP/PBIR/TMDL output
Fabric six-artifact scaffold
PDF/PPTX/report packages
Power BI Service and Fabric deployment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3063240"/>
            <a:ext cx="3611880" cy="1554480"/>
          </a:xfrm>
          <a:prstGeom prst="roundRect">
            <a:avLst/>
          </a:prstGeom>
          <a:solidFill>
            <a:srgbClr val="A42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Safety boundary
Local status is static unless runtime evidence exists
Semantic execution defaults to not_run
AI suggests; deterministic validators decide
Credentials and customer data stay out of fixtures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166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4578"/>
                </a:solidFill>
              </a:rPr>
              <a:t>One versioned evidence contract connects CLI, batch, MCP, Notebook, VS Code, and Fabric metadata.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4578"/>
            </a:gs>
            <a:gs pos="100000">
              <a:srgbClr val="0078D4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8288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1.  Open the five passing .pbip projects in Power BI Desktop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468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2.  Review and remediate the two UC80 reference blockers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1089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3.  Run quality with --quality-policy enterprise or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749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4.  Load sanitized semantic fixtures with expected rows and tolerances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3891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5.  Connect an authorized Power BI/Fabric semantic executor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029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6.  Run Desktop reopen, refresh, and Fabric post-deploy validation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5486400"/>
            <a:ext cx="8229600" cy="640080"/>
          </a:xfrm>
          <a:prstGeom prst="roundRect">
            <a:avLst/>
          </a:prstGeom>
          <a:solidFill>
            <a:srgbClr val="0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2C811"/>
                </a:solidFill>
              </a:rPr>
              <a:t>python migrate.py quality WORKBOOK --quality-policy production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