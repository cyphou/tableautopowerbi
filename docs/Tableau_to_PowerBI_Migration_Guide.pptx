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Support en français. Aucun résultat client ni gain de temps mesuré n'est présenté. Les schémas sont des formes PowerPoint éditables.</a:t>
            </a:r>
          </a:p>
          <a:p/>
          <a:p>
            <a:r>
              <a:t>Sources de contenu (checkout de travail ; pas une certification) :</a:t>
            </a:r>
          </a:p>
          <a:p>
            <a:r>
              <a:t>Architecture et modes de source: https://github.com/cyphou/TableauToPowerBI/blob/main/docs/ARCHITECTURE.md</a:t>
            </a:r>
          </a:p>
          <a:p>
            <a:r>
              <a:t>Contrôles et critères de recette: https://github.com/cyphou/TableauToPowerBI/blob/main/docs/MIGRATION_CHECKLIST.md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Périmètre Tableau Prep: https://github.com/cyphou/TableauToPowerBI/blob/main/docs/TABLEAU_PREP_TO_POWERQUERY_REFERENCE.md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Surface MCP et assistance IA: https://github.com/cyphou/TableauToPowerBI/blob/main/docs/AGENT_SURFACE.md</a:t>
            </a:r>
          </a:p>
          <a:p>
            <a:r>
              <a:t>Commandes et exploitation: https://github.com/cyphou/TableauToPowerBI/blob/main/docs/USER_MANUAL.md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Contrôles et critères de recette: https://github.com/cyphou/TableauToPowerBI/blob/main/docs/MIGRATION_CHECKLIST.md</a:t>
            </a:r>
          </a:p>
          <a:p>
            <a:r>
              <a:t>Commandes et exploitation: https://github.com/cyphou/TableauToPowerBI/blob/main/docs/USER_MANUAL.md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Si une même source déclare Hyper et une base d’origine explicite, complète et non ambiguë, retenir cette base avant toute lecture/export Hyper. Ne pas deviner une base depuis Excel/CSV ou une référence publiée non résolue. Un lien de base incomplet ou ambigu est une erreur explicite. Hyper conservé &lt;= 10 * 1024 * 1024 octets : CSV + Import. Strictement au-dessus : Parquet natif + Import, SDK Hyper optionnel requis. Base native : DirectQuery si le connecteur le permet, sinon Import. L'utilisateur peut forcer Import sans changer la source retenue. Aucune connexion à la base pendant la génération ; pas de garantie de parité avec un extrait filtré, agrégé ou daté. L'Import natif ne déclenche aucune extraction/copie de lignes par l'outil. Exception explicite : un classeur Excel réellement embarqué dans le TWBX est copié sans modification dans Data/ et lié par chemin absolu ; ce n'est pas une extraction de lignes, elle ne couvre ni les jobs téléversés ni les modèles partagés, et le chemin absolu local figure dans le projet. Fabric conserve un contrat de staging distinct.</a:t>
            </a:r>
          </a:p>
          <a:p/>
          <a:p>
            <a:r>
              <a:t>Sources de contenu (checkout de travail ; pas une certification) :</a:t>
            </a:r>
          </a:p>
          <a:p>
            <a:r>
              <a:t>Architecture et modes de source: https://github.com/cyphou/TableauToPowerBI/blob/main/docs/ARCHITECTURE.md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Validation Microsoft optionnelle: https://github.com/cyphou/TableauToPowerBI/blob/main/docs/POWERBI_PROJECT_GUIDE.md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Fonctionnalités et preuves datées: https://github.com/cyphou/TableauToPowerBI/blob/main/README.md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Inventaire des correspondances: https://github.com/cyphou/TableauToPowerBI/blob/main/docs/MAPPING_REFERENCE.md</a:t>
            </a:r>
          </a:p>
          <a:p>
            <a:r>
              <a:t>Validation Microsoft optionnelle: https://github.com/cyphou/TableauToPowerBI/blob/main/docs/POWERBI_PROJECT_GUIDE.md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Fonctionnalités et preuves datées: https://github.com/cyphou/TableauToPowerBI/blob/main/README.md</a:t>
            </a:r>
          </a:p>
          <a:p>
            <a:r>
              <a:t>Inventaire des correspondances: https://github.com/cyphou/TableauToPowerBI/blob/main/docs/MAPPING_REFERENCE.md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Fonctionnalités et preuves datées: https://github.com/cyphou/TableauToPowerBI/blob/main/README.md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Périmètre Tableau Prep: https://github.com/cyphou/TableauToPowerBI/blob/main/docs/TABLEAU_PREP_TO_POWERQUERY_REFERENCE.md</a:t>
            </a:r>
          </a:p>
          <a:p>
            <a:r>
              <a:t>Architecture et modes de source: https://github.com/cyphou/TableauToPowerBI/blob/main/docs/ARCHITECTURE.md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Publication séparément autorisée: https://github.com/cyphou/TableauToPowerBI/blob/main/docs/DEPLOYMENT_GUIDE.md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Contrôles et critères de recette: https://github.com/cyphou/TableauToPowerBI/blob/main/docs/MIGRATION_CHECKLIST.md</a:t>
            </a:r>
          </a:p>
          <a:p>
            <a:r>
              <a:t>Validation Microsoft optionnelle: https://github.com/cyphou/TableauToPowerBI/blob/main/docs/POWERBI_PROJECT_GUIDE.md</a:t>
            </a:r>
          </a:p>
          <a:p>
            <a:r>
              <a:t>Surface MCP et assistance IA: https://github.com/cyphou/TableauToPowerBI/blob/main/docs/AGENT_SURFACE.md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CLI Microsoft powerbi-report-author 0.5.0, validation avec schémas activés : 4/10 avant, 22 erreurs ; 10/10 après, zéro erreur et zéro avertissement CLI. Qualité unifiée : 4 PASS, 6 WARN, 0 FAIL. Suite locale historique : 11 850 passed, 66 skipped, 1 xfailed, 1 warning. Ne pas confondre ces résultats avec la CI courante, le moteur DAX, Desktop, refresh ou des gains de temps.</a:t>
            </a:r>
          </a:p>
          <a:p/>
          <a:p>
            <a:r>
              <a:t>Sources de contenu (checkout de travail ; pas une certification) :</a:t>
            </a:r>
          </a:p>
          <a:p>
            <a:r>
              <a:t>Fonctionnalités et preuves datées: https://github.com/cyphou/TableauToPowerBI/blob/main/README.md</a:t>
            </a:r>
          </a:p>
          <a:p>
            <a:r>
              <a:t>Validation Microsoft optionnelle: https://github.com/cyphou/TableauToPowerBI/blob/main/docs/POWERBI_PROJECT_GUIDE.md</a:t>
            </a:r>
          </a:p>
          <a:p>
            <a:r>
              <a:t>Tests et portée des résultats: https://github.com/cyphou/TableauToPowerBI/blob/main/tests/README.md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Propriété et handoffs des agents: https://github.com/cyphou/TableauToPowerBI/blob/main/docs/AGENTS.md</a:t>
            </a:r>
          </a:p>
          <a:p>
            <a:r>
              <a:t>Surface MCP et assistance IA: https://github.com/cyphou/TableauToPowerBI/blob/main/docs/AGENT_SURFACE.md</a:t>
            </a:r>
          </a:p>
          <a:p>
            <a:r>
              <a:t>Contrôles et critères de recette: https://github.com/cyphou/TableauToPowerBI/blob/main/docs/MIGRATION_CHECKLIST.md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L'intégration testée repose sur powerbi-report-author 0.5.0 et ses métadonnées. Le MCP de modélisation reste soumis à une EULA distincte non acceptée ici. Ne pas présenter une vérification de moteur comme exécutée. Les outils d'assistance et de handoff ne déclenchent pas automatiquement tous les agents.</a:t>
            </a:r>
          </a:p>
          <a:p/>
          <a:p>
            <a:r>
              <a:t>Sources de contenu (checkout de travail ; pas une certification) :</a:t>
            </a:r>
          </a:p>
          <a:p>
            <a:r>
              <a:t>Surface MCP et assistance IA: https://github.com/cyphou/TableauToPowerBI/blob/main/docs/AGENT_SURFACE.md</a:t>
            </a:r>
          </a:p>
          <a:p>
            <a:r>
              <a:t>Validation Microsoft optionnelle: https://github.com/cyphou/TableauToPowerBI/blob/main/docs/POWERBI_PROJECT_GUIDE.md</a:t>
            </a:r>
          </a:p>
          <a:p>
            <a:r>
              <a:t>Propriété et handoffs des agents: https://github.com/cyphou/TableauToPowerBI/blob/main/docs/AGENTS.md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Fonctionnalités et preuves datées: https://github.com/cyphou/TableauToPowerBI/blob/main/README.md</a:t>
            </a:r>
          </a:p>
          <a:p>
            <a:r>
              <a:t>Contrôles et critères de recette: https://github.com/cyphou/TableauToPowerBI/blob/main/docs/MIGRATION_CHECKLIST.md</a:t>
            </a:r>
          </a:p>
          <a:p>
            <a:r>
              <a:t>Publication séparément autorisée: https://github.com/cyphou/TableauToPowerBI/blob/main/docs/DEPLOYMENT_GUIDE.md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Publication séparément autorisée: https://github.com/cyphou/TableauToPowerBI/blob/main/docs/DEPLOYMENT_GUIDE.md</a:t>
            </a:r>
          </a:p>
          <a:p>
            <a:r>
              <a:t>Contrôles et critères de recette: https://github.com/cyphou/TableauToPowerBI/blob/main/docs/MIGRATION_CHECKLIST.md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Commandes et exploitation: https://github.com/cyphou/TableauToPowerBI/blob/main/docs/USER_MANUAL.md</a:t>
            </a:r>
          </a:p>
          <a:p>
            <a:r>
              <a:t>Architecture et modes de source: https://github.com/cyphou/TableauToPowerBI/blob/main/docs/ARCHITECTURE.md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Contrôles et critères de recette: https://github.com/cyphou/TableauToPowerBI/blob/main/docs/MIGRATION_CHECKLIST.md</a:t>
            </a:r>
          </a:p>
          <a:p>
            <a:r>
              <a:t>Limites et approximations: https://github.com/cyphou/TableauToPowerBI/blob/main/docs/KNOWN_LIMITATIONS.md</a:t>
            </a:r>
          </a:p>
          <a:p>
            <a:r>
              <a:t>Inventaire des correspondances: https://github.com/cyphou/TableauToPowerBI/blob/main/docs/MAPPING_REFERENCE.md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Fonctionnalités et preuves datées: https://github.com/cyphou/TableauToPowerBI/blob/main/README.md</a:t>
            </a:r>
          </a:p>
          <a:p>
            <a:r>
              <a:t>Contrôles et critères de recette: https://github.com/cyphou/TableauToPowerBI/blob/main/docs/MIGRATION_CHECKLIST.md</a:t>
            </a:r>
          </a:p>
          <a:p>
            <a:r>
              <a:t>Limites et approximations: https://github.com/cyphou/TableauToPowerBI/blob/main/docs/KNOWN_LIMITATIONS.md</a:t>
            </a:r>
          </a:p>
          <a:p>
            <a:r>
              <a:t>Validation Microsoft optionnelle: https://github.com/cyphou/TableauToPowerBI/blob/main/docs/POWERBI_PROJECT_GUIDE.md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Contrôles et critères de recette: https://github.com/cyphou/TableauToPowerBI/blob/main/docs/MIGRATION_CHECKLIST.md</a:t>
            </a:r>
          </a:p>
          <a:p>
            <a:r>
              <a:t>Publication séparément autorisée: https://github.com/cyphou/TableauToPowerBI/blob/main/docs/DEPLOYMENT_GUIDE.md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github.com/cyphou/TableauToPowerBI/blob/main/docs/ARCHITECTURE.md" TargetMode="External"/><Relationship Id="rId4" Type="http://schemas.openxmlformats.org/officeDocument/2006/relationships/hyperlink" Target="https://github.com/cyphou/TableauToPowerBI/blob/main/README.md" TargetMode="External"/><Relationship Id="rId5" Type="http://schemas.openxmlformats.org/officeDocument/2006/relationships/hyperlink" Target="https://github.com/cyphou/TableauToPowerBI/blob/main/docs/MIGRATION_CHECKLIST.md" TargetMode="External"/><Relationship Id="rId6" Type="http://schemas.openxmlformats.org/officeDocument/2006/relationships/hyperlink" Target="https://github.com/cyphou/TableauToPowerBI/blob/main/docs/POWERBI_PROJECT_GUIDE.m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D26"/>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F2C811"/>
                </a:solidFill>
                <a:latin typeface="Aptos"/>
              </a:rPr>
              <a:t>GUIDE TECHNIQUE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FFFFFF"/>
                </a:solidFill>
                <a:latin typeface="Aptos Display"/>
              </a:rPr>
              <a:t/>
            </a:r>
          </a:p>
        </p:txBody>
      </p:sp>
      <p:sp>
        <p:nvSpPr>
          <p:cNvPr id="4" name="TextBox 3"/>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C9D8DF"/>
                </a:solidFill>
                <a:latin typeface="Aptos"/>
              </a:rPr>
              <a:t>Tableau to Power BI  |  Édition 26.10.2026  |  Guide technique</a:t>
            </a:r>
          </a:p>
        </p:txBody>
      </p:sp>
      <p:sp>
        <p:nvSpPr>
          <p:cNvPr id="5" name="TextBox 4"/>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C9D8DF"/>
                </a:solidFill>
                <a:latin typeface="Aptos"/>
              </a:rPr>
              <a:t>01</a:t>
            </a:r>
          </a:p>
        </p:txBody>
      </p:sp>
      <p:sp>
        <p:nvSpPr>
          <p:cNvPr id="6" name="TextBox 5"/>
          <p:cNvSpPr txBox="1"/>
          <p:nvPr/>
        </p:nvSpPr>
        <p:spPr>
          <a:xfrm>
            <a:off x="594360" y="1243584"/>
            <a:ext cx="7498079" cy="411480"/>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F2C811"/>
                </a:solidFill>
                <a:latin typeface="Aptos"/>
              </a:rPr>
              <a:t>TABLEAU  →  POWER BI</a:t>
            </a:r>
          </a:p>
        </p:txBody>
      </p:sp>
      <p:sp>
        <p:nvSpPr>
          <p:cNvPr id="7" name="Deck title"/>
          <p:cNvSpPr txBox="1"/>
          <p:nvPr/>
        </p:nvSpPr>
        <p:spPr>
          <a:xfrm>
            <a:off x="594360" y="2029968"/>
            <a:ext cx="7772400" cy="1554480"/>
          </a:xfrm>
          <a:prstGeom prst="rect">
            <a:avLst/>
          </a:prstGeom>
          <a:noFill/>
        </p:spPr>
        <p:txBody>
          <a:bodyPr wrap="square" lIns="0" rIns="0" tIns="0" bIns="0" anchor="t">
            <a:noAutofit/>
          </a:bodyPr>
          <a:lstStyle/>
          <a:p>
            <a:pPr algn="l">
              <a:lnSpc>
                <a:spcPct val="108000"/>
              </a:lnSpc>
              <a:spcBef>
                <a:spcPts val="0"/>
              </a:spcBef>
              <a:spcAft>
                <a:spcPts val="500"/>
              </a:spcAft>
            </a:pPr>
            <a:r>
              <a:rPr sz="4200" b="1">
                <a:solidFill>
                  <a:srgbClr val="FFFFFF"/>
                </a:solidFill>
                <a:latin typeface="Aptos Display"/>
              </a:rPr>
              <a:t>Une architecture ouverte,</a:t>
            </a:r>
          </a:p>
          <a:p>
            <a:pPr algn="l">
              <a:lnSpc>
                <a:spcPct val="108000"/>
              </a:lnSpc>
              <a:spcBef>
                <a:spcPts val="0"/>
              </a:spcBef>
              <a:spcAft>
                <a:spcPts val="500"/>
              </a:spcAft>
            </a:pPr>
            <a:r>
              <a:rPr sz="4200" b="1">
                <a:solidFill>
                  <a:srgbClr val="FFFFFF"/>
                </a:solidFill>
                <a:latin typeface="Aptos Display"/>
              </a:rPr>
              <a:t>des contrôles explicites.</a:t>
            </a:r>
          </a:p>
        </p:txBody>
      </p:sp>
      <p:sp>
        <p:nvSpPr>
          <p:cNvPr id="8" name="TextBox 7"/>
          <p:cNvSpPr txBox="1"/>
          <p:nvPr/>
        </p:nvSpPr>
        <p:spPr>
          <a:xfrm>
            <a:off x="594360" y="3977639"/>
            <a:ext cx="7589520" cy="749808"/>
          </a:xfrm>
          <a:prstGeom prst="rect">
            <a:avLst/>
          </a:prstGeom>
          <a:noFill/>
        </p:spPr>
        <p:txBody>
          <a:bodyPr wrap="square" lIns="0" rIns="0" tIns="0" bIns="0" anchor="t">
            <a:noAutofit/>
          </a:bodyPr>
          <a:lstStyle/>
          <a:p>
            <a:pPr algn="l">
              <a:lnSpc>
                <a:spcPct val="108000"/>
              </a:lnSpc>
              <a:spcBef>
                <a:spcPts val="0"/>
              </a:spcBef>
              <a:spcAft>
                <a:spcPts val="500"/>
              </a:spcAft>
            </a:pPr>
            <a:r>
              <a:rPr sz="1900" b="0">
                <a:solidFill>
                  <a:srgbClr val="C9D8DF"/>
                </a:solidFill>
                <a:latin typeface="Aptos"/>
              </a:rPr>
              <a:t>Architecture, workflows, fonctionnalités et exploitation.</a:t>
            </a:r>
          </a:p>
        </p:txBody>
      </p:sp>
      <p:pic>
        <p:nvPicPr>
          <p:cNvPr id="9" name="Picture 8" descr="logo-migration-dashboards.png"/>
          <p:cNvPicPr>
            <a:picLocks noChangeAspect="1"/>
          </p:cNvPicPr>
          <p:nvPr/>
        </p:nvPicPr>
        <p:blipFill>
          <a:blip r:embed="rId3"/>
          <a:stretch>
            <a:fillRect/>
          </a:stretch>
        </p:blipFill>
        <p:spPr>
          <a:xfrm>
            <a:off x="8732520" y="2066543"/>
            <a:ext cx="2423160" cy="2423160"/>
          </a:xfrm>
          <a:prstGeom prst="rect">
            <a:avLst/>
          </a:prstGeom>
        </p:spPr>
      </p:pic>
      <p:sp>
        <p:nvSpPr>
          <p:cNvPr id="10" name="Rounded Rectangle 9"/>
          <p:cNvSpPr/>
          <p:nvPr/>
        </p:nvSpPr>
        <p:spPr>
          <a:xfrm>
            <a:off x="594360" y="5294376"/>
            <a:ext cx="3200400" cy="320040"/>
          </a:xfrm>
          <a:prstGeom prst="roundRect">
            <a:avLst>
              <a:gd name="adj" fmla="val 12000"/>
            </a:avLst>
          </a:prstGeom>
          <a:solidFill>
            <a:srgbClr val="F2C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330952"/>
            <a:ext cx="301752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182630"/>
                </a:solidFill>
                <a:latin typeface="Aptos"/>
              </a:rPr>
              <a:t>PROJETS ÉDITABLES</a:t>
            </a:r>
          </a:p>
        </p:txBody>
      </p:sp>
      <p:sp>
        <p:nvSpPr>
          <p:cNvPr id="12" name="Rounded Rectangle 11"/>
          <p:cNvSpPr/>
          <p:nvPr/>
        </p:nvSpPr>
        <p:spPr>
          <a:xfrm>
            <a:off x="4069080" y="5294376"/>
            <a:ext cx="3383280" cy="320040"/>
          </a:xfrm>
          <a:prstGeom prst="roundRect">
            <a:avLst>
              <a:gd name="adj" fmla="val 12000"/>
            </a:avLst>
          </a:prstGeom>
          <a:solidFill>
            <a:srgbClr val="203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60520" y="5330952"/>
            <a:ext cx="32004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FFFFFF"/>
                </a:solidFill>
                <a:latin typeface="Aptos"/>
              </a:rPr>
              <a:t>DÉCISION HUMAINE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PÉRIMÈTRE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Trois routes de sortie, trois contrats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 format dépend du besoin ; un Prep autonome n'est pas un rapport Power BI.</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Périmètre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02</a:t>
            </a:r>
          </a:p>
        </p:txBody>
      </p:sp>
      <p:sp>
        <p:nvSpPr>
          <p:cNvPr id="7" name="Rounded Rectangle 6"/>
          <p:cNvSpPr/>
          <p:nvPr/>
        </p:nvSpPr>
        <p:spPr>
          <a:xfrm>
            <a:off x="594360" y="2423160"/>
            <a:ext cx="3429000" cy="2743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4672" y="262432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5633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1</a:t>
            </a:r>
          </a:p>
        </p:txBody>
      </p:sp>
      <p:sp>
        <p:nvSpPr>
          <p:cNvPr id="10" name="TextBox 9"/>
          <p:cNvSpPr txBox="1"/>
          <p:nvPr/>
        </p:nvSpPr>
        <p:spPr>
          <a:xfrm>
            <a:off x="1289304" y="258775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Classeurs → PBIP</a:t>
            </a:r>
          </a:p>
        </p:txBody>
      </p:sp>
      <p:sp>
        <p:nvSpPr>
          <p:cNvPr id="11" name="TextBox 10"/>
          <p:cNvSpPr txBox="1"/>
          <p:nvPr/>
        </p:nvSpPr>
        <p:spPr>
          <a:xfrm>
            <a:off x="804672" y="3310128"/>
            <a:ext cx="3008376" cy="1764792"/>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TMDL + PBIR v4.0 + M.</a:t>
            </a:r>
          </a:p>
          <a:p>
            <a:pPr algn="l">
              <a:lnSpc>
                <a:spcPct val="108000"/>
              </a:lnSpc>
              <a:spcBef>
                <a:spcPts val="0"/>
              </a:spcBef>
              <a:spcAft>
                <a:spcPts val="500"/>
              </a:spcAft>
            </a:pPr>
            <a:r>
              <a:rPr sz="1600" b="0">
                <a:solidFill>
                  <a:srgbClr val="182630"/>
                </a:solidFill>
                <a:latin typeface="Aptos"/>
              </a:rPr>
              <a:t>Batch de dossier, même pour un seul classeur.</a:t>
            </a:r>
          </a:p>
          <a:p>
            <a:pPr algn="l">
              <a:lnSpc>
                <a:spcPct val="108000"/>
              </a:lnSpc>
              <a:spcBef>
                <a:spcPts val="0"/>
              </a:spcBef>
              <a:spcAft>
                <a:spcPts val="500"/>
              </a:spcAft>
            </a:pPr>
            <a:r>
              <a:rPr sz="1600" b="0">
                <a:solidFill>
                  <a:srgbClr val="182630"/>
                </a:solidFill>
                <a:latin typeface="Aptos"/>
              </a:rPr>
              <a:t>Modèle partagé : route séparée.</a:t>
            </a:r>
          </a:p>
        </p:txBody>
      </p:sp>
      <p:sp>
        <p:nvSpPr>
          <p:cNvPr id="12" name="Rounded Rectangle 11"/>
          <p:cNvSpPr/>
          <p:nvPr/>
        </p:nvSpPr>
        <p:spPr>
          <a:xfrm>
            <a:off x="4379976" y="2423160"/>
            <a:ext cx="3429000" cy="2743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90288" y="262432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65633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2</a:t>
            </a:r>
          </a:p>
        </p:txBody>
      </p:sp>
      <p:sp>
        <p:nvSpPr>
          <p:cNvPr id="15" name="TextBox 14"/>
          <p:cNvSpPr txBox="1"/>
          <p:nvPr/>
        </p:nvSpPr>
        <p:spPr>
          <a:xfrm>
            <a:off x="5074920" y="258775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Prep → M &amp; sources</a:t>
            </a:r>
          </a:p>
        </p:txBody>
      </p:sp>
      <p:sp>
        <p:nvSpPr>
          <p:cNvPr id="16" name="TextBox 15"/>
          <p:cNvSpPr txBox="1"/>
          <p:nvPr/>
        </p:nvSpPr>
        <p:spPr>
          <a:xfrm>
            <a:off x="4590288" y="3310128"/>
            <a:ext cx="3008376" cy="1764792"/>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Power Query M, définitions de sources et assessment.</a:t>
            </a:r>
          </a:p>
          <a:p>
            <a:pPr algn="l">
              <a:lnSpc>
                <a:spcPct val="108000"/>
              </a:lnSpc>
              <a:spcBef>
                <a:spcPts val="0"/>
              </a:spcBef>
              <a:spcAft>
                <a:spcPts val="500"/>
              </a:spcAft>
            </a:pPr>
            <a:r>
              <a:rPr sz="1600" b="0">
                <a:solidFill>
                  <a:srgbClr val="182630"/>
                </a:solidFill>
                <a:latin typeface="Aptos"/>
              </a:rPr>
              <a:t>Lignage inter-flows si au moins deux réussissent.</a:t>
            </a:r>
          </a:p>
        </p:txBody>
      </p:sp>
      <p:sp>
        <p:nvSpPr>
          <p:cNvPr id="17" name="Rounded Rectangle 16"/>
          <p:cNvSpPr/>
          <p:nvPr/>
        </p:nvSpPr>
        <p:spPr>
          <a:xfrm>
            <a:off x="8165592" y="2423160"/>
            <a:ext cx="3429000" cy="2743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75904" y="262432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75904" y="265633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3</a:t>
            </a:r>
          </a:p>
        </p:txBody>
      </p:sp>
      <p:sp>
        <p:nvSpPr>
          <p:cNvPr id="20" name="TextBox 19"/>
          <p:cNvSpPr txBox="1"/>
          <p:nvPr/>
        </p:nvSpPr>
        <p:spPr>
          <a:xfrm>
            <a:off x="8860536" y="258775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Fabric → artefacts</a:t>
            </a:r>
          </a:p>
        </p:txBody>
      </p:sp>
      <p:sp>
        <p:nvSpPr>
          <p:cNvPr id="21" name="TextBox 20"/>
          <p:cNvSpPr txBox="1"/>
          <p:nvPr/>
        </p:nvSpPr>
        <p:spPr>
          <a:xfrm>
            <a:off x="8375904" y="3310128"/>
            <a:ext cx="3008376" cy="1764792"/>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Lakehouse, Dataflow Gen2, Notebook, DirectLake et Pipeline.</a:t>
            </a:r>
          </a:p>
          <a:p>
            <a:pPr algn="l">
              <a:lnSpc>
                <a:spcPct val="108000"/>
              </a:lnSpc>
              <a:spcBef>
                <a:spcPts val="0"/>
              </a:spcBef>
              <a:spcAft>
                <a:spcPts val="500"/>
              </a:spcAft>
            </a:pPr>
            <a:r>
              <a:rPr sz="1600" b="0">
                <a:solidFill>
                  <a:srgbClr val="182630"/>
                </a:solidFill>
                <a:latin typeface="Aptos"/>
              </a:rPr>
              <a:t>Scaffold local, configuration puis déploiement distinct.</a:t>
            </a:r>
          </a:p>
        </p:txBody>
      </p:sp>
      <p:sp>
        <p:nvSpPr>
          <p:cNvPr id="22" name="Rounded Rectangle 21"/>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La génération directe d'un projet depuis un fichier positionnel est retirée.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ARCHITECTURE LOGIQUE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Deux étapes, des livrables inspectables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L'extraction de métadonnées est distincte de l'export des données Hyper.</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Architecture logique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03</a:t>
            </a:r>
          </a:p>
        </p:txBody>
      </p:sp>
      <p:sp>
        <p:nvSpPr>
          <p:cNvPr id="7" name="Rounded Rectangle 6"/>
          <p:cNvSpPr/>
          <p:nvPr/>
        </p:nvSpPr>
        <p:spPr>
          <a:xfrm>
            <a:off x="594360" y="2587752"/>
            <a:ext cx="2468880" cy="1261872"/>
          </a:xfrm>
          <a:prstGeom prst="roundRect">
            <a:avLst>
              <a:gd name="adj" fmla="val 12000"/>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Sources Tableau</a:t>
            </a:r>
          </a:p>
        </p:txBody>
      </p:sp>
      <p:sp>
        <p:nvSpPr>
          <p:cNvPr id="9" name="TextBox 8"/>
          <p:cNvSpPr txBox="1"/>
          <p:nvPr/>
        </p:nvSpPr>
        <p:spPr>
          <a:xfrm>
            <a:off x="758952" y="3264408"/>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.twb / .twbx</a:t>
            </a:r>
          </a:p>
        </p:txBody>
      </p:sp>
      <p:sp>
        <p:nvSpPr>
          <p:cNvPr id="10" name="Chevron 9"/>
          <p:cNvSpPr/>
          <p:nvPr/>
        </p:nvSpPr>
        <p:spPr>
          <a:xfrm>
            <a:off x="3145536" y="310896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2587752"/>
            <a:ext cx="2468880"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Extraction</a:t>
            </a:r>
          </a:p>
        </p:txBody>
      </p:sp>
      <p:sp>
        <p:nvSpPr>
          <p:cNvPr id="13" name="TextBox 12"/>
          <p:cNvSpPr txBox="1"/>
          <p:nvPr/>
        </p:nvSpPr>
        <p:spPr>
          <a:xfrm>
            <a:off x="3593592" y="3264408"/>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XML et métadonnées</a:t>
            </a:r>
          </a:p>
        </p:txBody>
      </p:sp>
      <p:sp>
        <p:nvSpPr>
          <p:cNvPr id="14" name="Chevron 13"/>
          <p:cNvSpPr/>
          <p:nvPr/>
        </p:nvSpPr>
        <p:spPr>
          <a:xfrm>
            <a:off x="5980176" y="310896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2587752"/>
            <a:ext cx="2468880" cy="1261872"/>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23 JSON</a:t>
            </a:r>
          </a:p>
        </p:txBody>
      </p:sp>
      <p:sp>
        <p:nvSpPr>
          <p:cNvPr id="17" name="TextBox 16"/>
          <p:cNvSpPr txBox="1"/>
          <p:nvPr/>
        </p:nvSpPr>
        <p:spPr>
          <a:xfrm>
            <a:off x="6428232" y="3264408"/>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Contrat intermédiaire</a:t>
            </a:r>
          </a:p>
        </p:txBody>
      </p:sp>
      <p:sp>
        <p:nvSpPr>
          <p:cNvPr id="18" name="Chevron 17"/>
          <p:cNvSpPr/>
          <p:nvPr/>
        </p:nvSpPr>
        <p:spPr>
          <a:xfrm>
            <a:off x="8814816" y="310896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98280" y="2587752"/>
            <a:ext cx="2468880"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287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Génération</a:t>
            </a:r>
          </a:p>
        </p:txBody>
      </p:sp>
      <p:sp>
        <p:nvSpPr>
          <p:cNvPr id="21" name="TextBox 20"/>
          <p:cNvSpPr txBox="1"/>
          <p:nvPr/>
        </p:nvSpPr>
        <p:spPr>
          <a:xfrm>
            <a:off x="9262872" y="3264408"/>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TMDL + PBIR + M</a:t>
            </a:r>
          </a:p>
        </p:txBody>
      </p:sp>
      <p:sp>
        <p:nvSpPr>
          <p:cNvPr id="22" name="Rounded Rectangle 21"/>
          <p:cNvSpPr/>
          <p:nvPr/>
        </p:nvSpPr>
        <p:spPr>
          <a:xfrm>
            <a:off x="594360" y="4270248"/>
            <a:ext cx="5312664"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453128"/>
            <a:ext cx="4892040" cy="548640"/>
          </a:xfrm>
          <a:prstGeom prst="rect">
            <a:avLst/>
          </a:prstGeom>
          <a:noFill/>
        </p:spPr>
        <p:txBody>
          <a:bodyPr wrap="square" lIns="0" rIns="0" tIns="0" bIns="0" anchor="ctr">
            <a:noAutofit/>
          </a:bodyPr>
          <a:lstStyle/>
          <a:p>
            <a:pPr algn="l">
              <a:lnSpc>
                <a:spcPct val="108000"/>
              </a:lnSpc>
              <a:spcBef>
                <a:spcPts val="0"/>
              </a:spcBef>
              <a:spcAft>
                <a:spcPts val="500"/>
              </a:spcAft>
            </a:pPr>
            <a:r>
              <a:rPr sz="2100" b="1">
                <a:solidFill>
                  <a:srgbClr val="007F79"/>
                </a:solidFill>
                <a:latin typeface="Aptos"/>
              </a:rPr>
              <a:t>PBIP / PBIR v4.0 / TMDL</a:t>
            </a:r>
          </a:p>
        </p:txBody>
      </p:sp>
      <p:sp>
        <p:nvSpPr>
          <p:cNvPr id="24" name="Rounded Rectangle 23"/>
          <p:cNvSpPr/>
          <p:nvPr/>
        </p:nvSpPr>
        <p:spPr>
          <a:xfrm>
            <a:off x="6272784" y="4270248"/>
            <a:ext cx="5312664"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3096" y="4453128"/>
            <a:ext cx="4892040" cy="548640"/>
          </a:xfrm>
          <a:prstGeom prst="rect">
            <a:avLst/>
          </a:prstGeom>
          <a:noFill/>
        </p:spPr>
        <p:txBody>
          <a:bodyPr wrap="square" lIns="0" rIns="0" tIns="0" bIns="0" anchor="ctr">
            <a:noAutofit/>
          </a:bodyPr>
          <a:lstStyle/>
          <a:p>
            <a:pPr algn="l">
              <a:lnSpc>
                <a:spcPct val="108000"/>
              </a:lnSpc>
              <a:spcBef>
                <a:spcPts val="0"/>
              </a:spcBef>
              <a:spcAft>
                <a:spcPts val="500"/>
              </a:spcAft>
            </a:pPr>
            <a:r>
              <a:rPr sz="2100" b="1">
                <a:solidFill>
                  <a:srgbClr val="007F79"/>
                </a:solidFill>
                <a:latin typeface="Aptos"/>
              </a:rPr>
              <a:t>Sources + preuves de qualité</a:t>
            </a:r>
          </a:p>
        </p:txBody>
      </p:sp>
      <p:sp>
        <p:nvSpPr>
          <p:cNvPr id="26" name="Rounded Rectangle 25"/>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Générer n'est ni actualiser les données, ni certifier la parité, ni publier.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ARCHITECTURE D'EXÉCUTION</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Exécution locale, intégrations explicites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 navigateur loopback pilote le moteur ; les services distants ne sont pas implicites.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Architecture d'exécution</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04</a:t>
            </a:r>
          </a:p>
        </p:txBody>
      </p:sp>
      <p:sp>
        <p:nvSpPr>
          <p:cNvPr id="7" name="Rounded Rectangle 6"/>
          <p:cNvSpPr/>
          <p:nvPr/>
        </p:nvSpPr>
        <p:spPr>
          <a:xfrm>
            <a:off x="594360" y="2377440"/>
            <a:ext cx="3429000" cy="1097280"/>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551176"/>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Navigateur local</a:t>
            </a:r>
          </a:p>
        </p:txBody>
      </p:sp>
      <p:sp>
        <p:nvSpPr>
          <p:cNvPr id="9" name="TextBox 8"/>
          <p:cNvSpPr txBox="1"/>
          <p:nvPr/>
        </p:nvSpPr>
        <p:spPr>
          <a:xfrm>
            <a:off x="758952" y="3054096"/>
            <a:ext cx="3099816" cy="356615"/>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127.0.0.1:8765</a:t>
            </a:r>
          </a:p>
        </p:txBody>
      </p:sp>
      <p:sp>
        <p:nvSpPr>
          <p:cNvPr id="10" name="Rounded Rectangle 9"/>
          <p:cNvSpPr/>
          <p:nvPr/>
        </p:nvSpPr>
        <p:spPr>
          <a:xfrm>
            <a:off x="4379976" y="2377440"/>
            <a:ext cx="3429000" cy="1097280"/>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2551176"/>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CLI / automatisation</a:t>
            </a:r>
          </a:p>
        </p:txBody>
      </p:sp>
      <p:sp>
        <p:nvSpPr>
          <p:cNvPr id="12" name="TextBox 11"/>
          <p:cNvSpPr txBox="1"/>
          <p:nvPr/>
        </p:nvSpPr>
        <p:spPr>
          <a:xfrm>
            <a:off x="4544568" y="3054096"/>
            <a:ext cx="3099816" cy="356615"/>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migrate.py batch</a:t>
            </a:r>
          </a:p>
        </p:txBody>
      </p:sp>
      <p:sp>
        <p:nvSpPr>
          <p:cNvPr id="13" name="Rounded Rectangle 12"/>
          <p:cNvSpPr/>
          <p:nvPr/>
        </p:nvSpPr>
        <p:spPr>
          <a:xfrm>
            <a:off x="8165592" y="2377440"/>
            <a:ext cx="3429000" cy="1097280"/>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3" y="2551176"/>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Surface agent / MCP</a:t>
            </a:r>
          </a:p>
        </p:txBody>
      </p:sp>
      <p:sp>
        <p:nvSpPr>
          <p:cNvPr id="15" name="TextBox 14"/>
          <p:cNvSpPr txBox="1"/>
          <p:nvPr/>
        </p:nvSpPr>
        <p:spPr>
          <a:xfrm>
            <a:off x="8330183" y="3054096"/>
            <a:ext cx="3099816" cy="356615"/>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Outils bornés et contrôlés</a:t>
            </a:r>
          </a:p>
        </p:txBody>
      </p:sp>
      <p:cxnSp>
        <p:nvCxnSpPr>
          <p:cNvPr id="16" name="Connector 15"/>
          <p:cNvCxnSpPr/>
          <p:nvPr/>
        </p:nvCxnSpPr>
        <p:spPr>
          <a:xfrm>
            <a:off x="2304288" y="3474720"/>
            <a:ext cx="0" cy="301752"/>
          </a:xfrm>
          <a:prstGeom prst="line">
            <a:avLst/>
          </a:prstGeom>
          <a:ln w="25400">
            <a:solidFill>
              <a:srgbClr val="DDE4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89904" y="3474720"/>
            <a:ext cx="0" cy="301752"/>
          </a:xfrm>
          <a:prstGeom prst="line">
            <a:avLst/>
          </a:prstGeom>
          <a:ln w="25400">
            <a:solidFill>
              <a:srgbClr val="DDE4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875520" y="3474720"/>
            <a:ext cx="0" cy="301752"/>
          </a:xfrm>
          <a:prstGeom prst="line">
            <a:avLst/>
          </a:prstGeom>
          <a:ln w="25400">
            <a:solidFill>
              <a:srgbClr val="DDE4E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94360" y="3776472"/>
            <a:ext cx="11000232" cy="1143000"/>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3950208"/>
            <a:ext cx="10671048"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Orchestration Python locale</a:t>
            </a:r>
          </a:p>
        </p:txBody>
      </p:sp>
      <p:sp>
        <p:nvSpPr>
          <p:cNvPr id="21" name="TextBox 20"/>
          <p:cNvSpPr txBox="1"/>
          <p:nvPr/>
        </p:nvSpPr>
        <p:spPr>
          <a:xfrm>
            <a:off x="758952" y="4453128"/>
            <a:ext cx="10671048" cy="402335"/>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Extraction → génération → contrôles → fichiers et preuves sur disque</a:t>
            </a:r>
          </a:p>
        </p:txBody>
      </p:sp>
      <p:sp>
        <p:nvSpPr>
          <p:cNvPr id="22" name="TextBox 21"/>
          <p:cNvSpPr txBox="1"/>
          <p:nvPr/>
        </p:nvSpPr>
        <p:spPr>
          <a:xfrm>
            <a:off x="640080" y="5166360"/>
            <a:ext cx="10881360" cy="512064"/>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Tableau Server, LLM, Desktop et publication cloud : intégrations séparées, avec prérequis et autorisations propres.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WORKFLOW OPÉRATEUR</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Un workflow avec des décisions humaines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L'outil prépare ; le responsable métier et la plateforme acceptent le résultat.</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Workflow opérateur</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05</a:t>
            </a:r>
          </a:p>
        </p:txBody>
      </p:sp>
      <p:sp>
        <p:nvSpPr>
          <p:cNvPr id="7" name="Oval 6"/>
          <p:cNvSpPr/>
          <p:nvPr/>
        </p:nvSpPr>
        <p:spPr>
          <a:xfrm>
            <a:off x="1435608" y="2468880"/>
            <a:ext cx="713232" cy="71323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35608" y="2615184"/>
            <a:ext cx="713232" cy="393192"/>
          </a:xfrm>
          <a:prstGeom prst="rect">
            <a:avLst/>
          </a:prstGeom>
          <a:noFill/>
        </p:spPr>
        <p:txBody>
          <a:bodyPr wrap="square" lIns="0" rIns="0" tIns="0" bIns="0" anchor="t">
            <a:noAutofit/>
          </a:bodyPr>
          <a:lstStyle/>
          <a:p>
            <a:pPr algn="ctr">
              <a:lnSpc>
                <a:spcPct val="108000"/>
              </a:lnSpc>
              <a:spcBef>
                <a:spcPts val="0"/>
              </a:spcBef>
              <a:spcAft>
                <a:spcPts val="500"/>
              </a:spcAft>
            </a:pPr>
            <a:r>
              <a:rPr sz="2400" b="1">
                <a:solidFill>
                  <a:srgbClr val="FFFFFF"/>
                </a:solidFill>
                <a:latin typeface="Aptos"/>
              </a:rPr>
              <a:t>1</a:t>
            </a:r>
          </a:p>
        </p:txBody>
      </p:sp>
      <p:sp>
        <p:nvSpPr>
          <p:cNvPr id="9" name="Chevron 8"/>
          <p:cNvSpPr/>
          <p:nvPr/>
        </p:nvSpPr>
        <p:spPr>
          <a:xfrm>
            <a:off x="2944368" y="2715768"/>
            <a:ext cx="201168" cy="201168"/>
          </a:xfrm>
          <a:prstGeom prst="chevron">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602736"/>
            <a:ext cx="2468880" cy="384048"/>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182630"/>
                </a:solidFill>
                <a:latin typeface="Aptos"/>
              </a:rPr>
              <a:t>Inventorier</a:t>
            </a:r>
          </a:p>
        </p:txBody>
      </p:sp>
      <p:sp>
        <p:nvSpPr>
          <p:cNvPr id="11" name="TextBox 10"/>
          <p:cNvSpPr txBox="1"/>
          <p:nvPr/>
        </p:nvSpPr>
        <p:spPr>
          <a:xfrm>
            <a:off x="594360" y="4169663"/>
            <a:ext cx="2468880" cy="859536"/>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52616C"/>
                </a:solidFill>
                <a:latin typeface="Aptos"/>
              </a:rPr>
              <a:t>Sources, dépendances,</a:t>
            </a:r>
          </a:p>
          <a:p>
            <a:pPr algn="l">
              <a:lnSpc>
                <a:spcPct val="108000"/>
              </a:lnSpc>
              <a:spcBef>
                <a:spcPts val="0"/>
              </a:spcBef>
              <a:spcAft>
                <a:spcPts val="500"/>
              </a:spcAft>
            </a:pPr>
            <a:r>
              <a:rPr sz="1700" b="0">
                <a:solidFill>
                  <a:srgbClr val="52616C"/>
                </a:solidFill>
                <a:latin typeface="Aptos"/>
              </a:rPr>
              <a:t>complexité</a:t>
            </a:r>
          </a:p>
        </p:txBody>
      </p:sp>
      <p:sp>
        <p:nvSpPr>
          <p:cNvPr id="12" name="Oval 11"/>
          <p:cNvSpPr/>
          <p:nvPr/>
        </p:nvSpPr>
        <p:spPr>
          <a:xfrm>
            <a:off x="4270248" y="2468880"/>
            <a:ext cx="713232" cy="71323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0248" y="2615184"/>
            <a:ext cx="713232" cy="393192"/>
          </a:xfrm>
          <a:prstGeom prst="rect">
            <a:avLst/>
          </a:prstGeom>
          <a:noFill/>
        </p:spPr>
        <p:txBody>
          <a:bodyPr wrap="square" lIns="0" rIns="0" tIns="0" bIns="0" anchor="t">
            <a:noAutofit/>
          </a:bodyPr>
          <a:lstStyle/>
          <a:p>
            <a:pPr algn="ctr">
              <a:lnSpc>
                <a:spcPct val="108000"/>
              </a:lnSpc>
              <a:spcBef>
                <a:spcPts val="0"/>
              </a:spcBef>
              <a:spcAft>
                <a:spcPts val="500"/>
              </a:spcAft>
            </a:pPr>
            <a:r>
              <a:rPr sz="2400" b="1">
                <a:solidFill>
                  <a:srgbClr val="FFFFFF"/>
                </a:solidFill>
                <a:latin typeface="Aptos"/>
              </a:rPr>
              <a:t>2</a:t>
            </a:r>
          </a:p>
        </p:txBody>
      </p:sp>
      <p:sp>
        <p:nvSpPr>
          <p:cNvPr id="14" name="Chevron 13"/>
          <p:cNvSpPr/>
          <p:nvPr/>
        </p:nvSpPr>
        <p:spPr>
          <a:xfrm>
            <a:off x="5779008" y="2715768"/>
            <a:ext cx="201168" cy="201168"/>
          </a:xfrm>
          <a:prstGeom prst="chevron">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3602736"/>
            <a:ext cx="2468880" cy="384048"/>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182630"/>
                </a:solidFill>
                <a:latin typeface="Aptos"/>
              </a:rPr>
              <a:t>Générer</a:t>
            </a:r>
          </a:p>
        </p:txBody>
      </p:sp>
      <p:sp>
        <p:nvSpPr>
          <p:cNvPr id="16" name="TextBox 15"/>
          <p:cNvSpPr txBox="1"/>
          <p:nvPr/>
        </p:nvSpPr>
        <p:spPr>
          <a:xfrm>
            <a:off x="3429000" y="4169663"/>
            <a:ext cx="2468880" cy="859536"/>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52616C"/>
                </a:solidFill>
                <a:latin typeface="Aptos"/>
              </a:rPr>
              <a:t>Projet éditable,</a:t>
            </a:r>
          </a:p>
          <a:p>
            <a:pPr algn="l">
              <a:lnSpc>
                <a:spcPct val="108000"/>
              </a:lnSpc>
              <a:spcBef>
                <a:spcPts val="0"/>
              </a:spcBef>
              <a:spcAft>
                <a:spcPts val="500"/>
              </a:spcAft>
            </a:pPr>
            <a:r>
              <a:rPr sz="1700" b="0">
                <a:solidFill>
                  <a:srgbClr val="52616C"/>
                </a:solidFill>
                <a:latin typeface="Aptos"/>
              </a:rPr>
              <a:t>registre des écarts</a:t>
            </a:r>
          </a:p>
        </p:txBody>
      </p:sp>
      <p:sp>
        <p:nvSpPr>
          <p:cNvPr id="17" name="Oval 16"/>
          <p:cNvSpPr/>
          <p:nvPr/>
        </p:nvSpPr>
        <p:spPr>
          <a:xfrm>
            <a:off x="7104888" y="2468880"/>
            <a:ext cx="713232" cy="713232"/>
          </a:xfrm>
          <a:prstGeom prst="ellipse">
            <a:avLst/>
          </a:prstGeom>
          <a:solidFill>
            <a:srgbClr val="F2C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04888" y="2615184"/>
            <a:ext cx="713232" cy="393192"/>
          </a:xfrm>
          <a:prstGeom prst="rect">
            <a:avLst/>
          </a:prstGeom>
          <a:noFill/>
        </p:spPr>
        <p:txBody>
          <a:bodyPr wrap="square" lIns="0" rIns="0" tIns="0" bIns="0" anchor="t">
            <a:noAutofit/>
          </a:bodyPr>
          <a:lstStyle/>
          <a:p>
            <a:pPr algn="ctr">
              <a:lnSpc>
                <a:spcPct val="108000"/>
              </a:lnSpc>
              <a:spcBef>
                <a:spcPts val="0"/>
              </a:spcBef>
              <a:spcAft>
                <a:spcPts val="500"/>
              </a:spcAft>
            </a:pPr>
            <a:r>
              <a:rPr sz="2400" b="1">
                <a:solidFill>
                  <a:srgbClr val="182630"/>
                </a:solidFill>
                <a:latin typeface="Aptos"/>
              </a:rPr>
              <a:t>3</a:t>
            </a:r>
          </a:p>
        </p:txBody>
      </p:sp>
      <p:sp>
        <p:nvSpPr>
          <p:cNvPr id="19" name="Chevron 18"/>
          <p:cNvSpPr/>
          <p:nvPr/>
        </p:nvSpPr>
        <p:spPr>
          <a:xfrm>
            <a:off x="8613648" y="2715768"/>
            <a:ext cx="201168" cy="201168"/>
          </a:xfrm>
          <a:prstGeom prst="chevron">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602736"/>
            <a:ext cx="2468880" cy="384048"/>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182630"/>
                </a:solidFill>
                <a:latin typeface="Aptos"/>
              </a:rPr>
              <a:t>Valider</a:t>
            </a:r>
          </a:p>
        </p:txBody>
      </p:sp>
      <p:sp>
        <p:nvSpPr>
          <p:cNvPr id="21" name="TextBox 20"/>
          <p:cNvSpPr txBox="1"/>
          <p:nvPr/>
        </p:nvSpPr>
        <p:spPr>
          <a:xfrm>
            <a:off x="6263640" y="4169663"/>
            <a:ext cx="2468880" cy="859536"/>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52616C"/>
                </a:solidFill>
                <a:latin typeface="Aptos"/>
              </a:rPr>
              <a:t>Refresh, valeurs,</a:t>
            </a:r>
          </a:p>
          <a:p>
            <a:pPr algn="l">
              <a:lnSpc>
                <a:spcPct val="108000"/>
              </a:lnSpc>
              <a:spcBef>
                <a:spcPts val="0"/>
              </a:spcBef>
              <a:spcAft>
                <a:spcPts val="500"/>
              </a:spcAft>
            </a:pPr>
            <a:r>
              <a:rPr sz="1700" b="0">
                <a:solidFill>
                  <a:srgbClr val="52616C"/>
                </a:solidFill>
                <a:latin typeface="Aptos"/>
              </a:rPr>
              <a:t>visuels et sécurité</a:t>
            </a:r>
          </a:p>
        </p:txBody>
      </p:sp>
      <p:sp>
        <p:nvSpPr>
          <p:cNvPr id="22" name="Oval 21"/>
          <p:cNvSpPr/>
          <p:nvPr/>
        </p:nvSpPr>
        <p:spPr>
          <a:xfrm>
            <a:off x="9939528" y="2468880"/>
            <a:ext cx="713232" cy="71323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39528" y="2615184"/>
            <a:ext cx="713232" cy="393192"/>
          </a:xfrm>
          <a:prstGeom prst="rect">
            <a:avLst/>
          </a:prstGeom>
          <a:noFill/>
        </p:spPr>
        <p:txBody>
          <a:bodyPr wrap="square" lIns="0" rIns="0" tIns="0" bIns="0" anchor="t">
            <a:noAutofit/>
          </a:bodyPr>
          <a:lstStyle/>
          <a:p>
            <a:pPr algn="ctr">
              <a:lnSpc>
                <a:spcPct val="108000"/>
              </a:lnSpc>
              <a:spcBef>
                <a:spcPts val="0"/>
              </a:spcBef>
              <a:spcAft>
                <a:spcPts val="500"/>
              </a:spcAft>
            </a:pPr>
            <a:r>
              <a:rPr sz="2400" b="1">
                <a:solidFill>
                  <a:srgbClr val="FFFFFF"/>
                </a:solidFill>
                <a:latin typeface="Aptos"/>
              </a:rPr>
              <a:t>4</a:t>
            </a:r>
          </a:p>
        </p:txBody>
      </p:sp>
      <p:sp>
        <p:nvSpPr>
          <p:cNvPr id="24" name="TextBox 23"/>
          <p:cNvSpPr txBox="1"/>
          <p:nvPr/>
        </p:nvSpPr>
        <p:spPr>
          <a:xfrm>
            <a:off x="9098280" y="3602736"/>
            <a:ext cx="2468880" cy="384048"/>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182630"/>
                </a:solidFill>
                <a:latin typeface="Aptos"/>
              </a:rPr>
              <a:t>Industrialiser</a:t>
            </a:r>
          </a:p>
        </p:txBody>
      </p:sp>
      <p:sp>
        <p:nvSpPr>
          <p:cNvPr id="25" name="TextBox 24"/>
          <p:cNvSpPr txBox="1"/>
          <p:nvPr/>
        </p:nvSpPr>
        <p:spPr>
          <a:xfrm>
            <a:off x="9098280" y="4169663"/>
            <a:ext cx="2468880" cy="859536"/>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52616C"/>
                </a:solidFill>
                <a:latin typeface="Aptos"/>
              </a:rPr>
              <a:t>Vagues, publication,</a:t>
            </a:r>
          </a:p>
          <a:p>
            <a:pPr algn="l">
              <a:lnSpc>
                <a:spcPct val="108000"/>
              </a:lnSpc>
              <a:spcBef>
                <a:spcPts val="0"/>
              </a:spcBef>
              <a:spcAft>
                <a:spcPts val="500"/>
              </a:spcAft>
            </a:pPr>
            <a:r>
              <a:rPr sz="1700" b="0">
                <a:solidFill>
                  <a:srgbClr val="52616C"/>
                </a:solidFill>
                <a:latin typeface="Aptos"/>
              </a:rPr>
              <a:t>support et reprise</a:t>
            </a:r>
          </a:p>
        </p:txBody>
      </p:sp>
      <p:sp>
        <p:nvSpPr>
          <p:cNvPr id="26" name="Rounded Rectangle 25"/>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Une génération réussie ne déclenche pas automatiquement une mise en production.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CONTRAT DES DONNÉES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Base d’origine ou Hyper : choisir la source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Même source Tableau : base explicite complète prioritaire ; sinon Hyper.</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Contrat des données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06</a:t>
            </a:r>
          </a:p>
        </p:txBody>
      </p:sp>
      <p:sp>
        <p:nvSpPr>
          <p:cNvPr id="7" name="Rounded Rectangle 6"/>
          <p:cNvSpPr/>
          <p:nvPr/>
        </p:nvSpPr>
        <p:spPr>
          <a:xfrm>
            <a:off x="594360" y="2313432"/>
            <a:ext cx="53035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50008"/>
            <a:ext cx="51206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1 — BASE D’ORIGINE SI ÉLIGIBLE</a:t>
            </a:r>
          </a:p>
        </p:txBody>
      </p:sp>
      <p:sp>
        <p:nvSpPr>
          <p:cNvPr id="9" name="Rounded Rectangle 8"/>
          <p:cNvSpPr/>
          <p:nvPr/>
        </p:nvSpPr>
        <p:spPr>
          <a:xfrm>
            <a:off x="6263640" y="2313432"/>
            <a:ext cx="5303520" cy="320040"/>
          </a:xfrm>
          <a:prstGeom prst="roundRect">
            <a:avLst>
              <a:gd name="adj" fmla="val 12000"/>
            </a:avLst>
          </a:prstGeom>
          <a:solidFill>
            <a:srgbClr val="FCED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79" y="2350008"/>
            <a:ext cx="51206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C85A17"/>
                </a:solidFill>
                <a:latin typeface="Aptos"/>
              </a:rPr>
              <a:t>2 — SINON : HYPER CONSERVÉ</a:t>
            </a:r>
          </a:p>
        </p:txBody>
      </p:sp>
      <p:sp>
        <p:nvSpPr>
          <p:cNvPr id="11" name="Rounded Rectangle 10"/>
          <p:cNvSpPr/>
          <p:nvPr/>
        </p:nvSpPr>
        <p:spPr>
          <a:xfrm>
            <a:off x="594360" y="2916936"/>
            <a:ext cx="5303520" cy="1261872"/>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090672"/>
            <a:ext cx="497433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DirectQuery si compatible</a:t>
            </a:r>
          </a:p>
        </p:txBody>
      </p:sp>
      <p:sp>
        <p:nvSpPr>
          <p:cNvPr id="13" name="TextBox 12"/>
          <p:cNvSpPr txBox="1"/>
          <p:nvPr/>
        </p:nvSpPr>
        <p:spPr>
          <a:xfrm>
            <a:off x="758952" y="3593591"/>
            <a:ext cx="497433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Import si forcé ou si incompatible</a:t>
            </a:r>
          </a:p>
        </p:txBody>
      </p:sp>
      <p:sp>
        <p:nvSpPr>
          <p:cNvPr id="14" name="Rounded Rectangle 13"/>
          <p:cNvSpPr/>
          <p:nvPr/>
        </p:nvSpPr>
        <p:spPr>
          <a:xfrm>
            <a:off x="6263640" y="2916936"/>
            <a:ext cx="2468880" cy="1261872"/>
          </a:xfrm>
          <a:prstGeom prst="roundRect">
            <a:avLst>
              <a:gd name="adj" fmla="val 12000"/>
            </a:avLst>
          </a:prstGeom>
          <a:solidFill>
            <a:srgbClr val="A343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1" y="3090672"/>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 10 MiB</a:t>
            </a:r>
          </a:p>
        </p:txBody>
      </p:sp>
      <p:sp>
        <p:nvSpPr>
          <p:cNvPr id="16" name="TextBox 15"/>
          <p:cNvSpPr txBox="1"/>
          <p:nvPr/>
        </p:nvSpPr>
        <p:spPr>
          <a:xfrm>
            <a:off x="6428231" y="3593591"/>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CSV + Import</a:t>
            </a:r>
          </a:p>
        </p:txBody>
      </p:sp>
      <p:sp>
        <p:nvSpPr>
          <p:cNvPr id="17" name="Rounded Rectangle 16"/>
          <p:cNvSpPr/>
          <p:nvPr/>
        </p:nvSpPr>
        <p:spPr>
          <a:xfrm>
            <a:off x="9098280" y="2916936"/>
            <a:ext cx="2468880"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62872" y="3090672"/>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&gt; 10 MiB</a:t>
            </a:r>
          </a:p>
        </p:txBody>
      </p:sp>
      <p:sp>
        <p:nvSpPr>
          <p:cNvPr id="19" name="TextBox 18"/>
          <p:cNvSpPr txBox="1"/>
          <p:nvPr/>
        </p:nvSpPr>
        <p:spPr>
          <a:xfrm>
            <a:off x="9262872" y="3593591"/>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Parquet + Import</a:t>
            </a:r>
          </a:p>
        </p:txBody>
      </p:sp>
      <p:sp>
        <p:nvSpPr>
          <p:cNvPr id="20" name="TextBox 19"/>
          <p:cNvSpPr txBox="1"/>
          <p:nvPr/>
        </p:nvSpPr>
        <p:spPr>
          <a:xfrm>
            <a:off x="658368" y="4389120"/>
            <a:ext cx="5120640" cy="594360"/>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Aucune lecture ni export du Hyper.</a:t>
            </a:r>
          </a:p>
          <a:p>
            <a:pPr algn="l">
              <a:lnSpc>
                <a:spcPct val="108000"/>
              </a:lnSpc>
              <a:spcBef>
                <a:spcPts val="0"/>
              </a:spcBef>
              <a:spcAft>
                <a:spcPts val="500"/>
              </a:spcAft>
            </a:pPr>
            <a:r>
              <a:rPr sz="1600" b="0">
                <a:solidFill>
                  <a:srgbClr val="182630"/>
                </a:solidFill>
                <a:latin typeface="Aptos"/>
              </a:rPr>
              <a:t>Connexion, schéma et M ; accès à configurer.</a:t>
            </a:r>
          </a:p>
        </p:txBody>
      </p:sp>
      <p:sp>
        <p:nvSpPr>
          <p:cNvPr id="21" name="TextBox 20"/>
          <p:cNvSpPr txBox="1"/>
          <p:nvPr/>
        </p:nvSpPr>
        <p:spPr>
          <a:xfrm>
            <a:off x="6327648" y="4389120"/>
            <a:ext cx="5120640" cy="594360"/>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Export complet des données Hyper.</a:t>
            </a:r>
          </a:p>
          <a:p>
            <a:pPr algn="l">
              <a:lnSpc>
                <a:spcPct val="108000"/>
              </a:lnSpc>
              <a:spcBef>
                <a:spcPts val="0"/>
              </a:spcBef>
              <a:spcAft>
                <a:spcPts val="500"/>
              </a:spcAft>
            </a:pPr>
            <a:r>
              <a:rPr sz="1600" b="0">
                <a:solidFill>
                  <a:srgbClr val="182630"/>
                </a:solidFill>
                <a:latin typeface="Aptos"/>
              </a:rPr>
              <a:t>Pour Parquet : SDK Hyper requis.</a:t>
            </a:r>
          </a:p>
        </p:txBody>
      </p:sp>
      <p:sp>
        <p:nvSpPr>
          <p:cNvPr id="22" name="TextBox 21"/>
          <p:cNvSpPr txBox="1"/>
          <p:nvPr/>
        </p:nvSpPr>
        <p:spPr>
          <a:xfrm>
            <a:off x="658368" y="5093208"/>
            <a:ext cx="10881360"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0">
                <a:solidFill>
                  <a:srgbClr val="52616C"/>
                </a:solidFill>
                <a:latin typeface="Aptos"/>
              </a:rPr>
              <a:t>Exception — Excel embarqué : copié inchangé dans Data/, lié par chemin absolu.</a:t>
            </a:r>
          </a:p>
        </p:txBody>
      </p:sp>
      <p:sp>
        <p:nvSpPr>
          <p:cNvPr id="23" name="Rounded Rectangle 22"/>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Source retenue : parité avec l’extrait Tableau et actualisation restent à vérifier.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ANATOMIE DU RÉSULTAT</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PBIP : un projet lisible, pas une boîte noire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Sources natives externes, sauf Excel embarqué copié dans Data/ ; l'Import charge à l'actualisation.</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Anatomie du résultat</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07</a:t>
            </a:r>
          </a:p>
        </p:txBody>
      </p:sp>
      <p:sp>
        <p:nvSpPr>
          <p:cNvPr id="7" name="Rounded Rectangle 6"/>
          <p:cNvSpPr/>
          <p:nvPr/>
        </p:nvSpPr>
        <p:spPr>
          <a:xfrm>
            <a:off x="594360" y="2377440"/>
            <a:ext cx="5312664" cy="29443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596896"/>
            <a:ext cx="4800600" cy="2432304"/>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FFFFFF"/>
                </a:solidFill>
                <a:latin typeface="Cascadia Code"/>
              </a:rPr>
              <a:t>Projet.pbip</a:t>
            </a:r>
          </a:p>
          <a:p>
            <a:pPr algn="l">
              <a:lnSpc>
                <a:spcPct val="108000"/>
              </a:lnSpc>
              <a:spcBef>
                <a:spcPts val="0"/>
              </a:spcBef>
              <a:spcAft>
                <a:spcPts val="500"/>
              </a:spcAft>
            </a:pPr>
            <a:r>
              <a:rPr sz="1800" b="0">
                <a:solidFill>
                  <a:srgbClr val="FFFFFF"/>
                </a:solidFill>
                <a:latin typeface="Cascadia Code"/>
              </a:rPr>
              <a:t/>
            </a:r>
          </a:p>
          <a:p>
            <a:pPr algn="l">
              <a:lnSpc>
                <a:spcPct val="108000"/>
              </a:lnSpc>
              <a:spcBef>
                <a:spcPts val="0"/>
              </a:spcBef>
              <a:spcAft>
                <a:spcPts val="500"/>
              </a:spcAft>
            </a:pPr>
            <a:r>
              <a:rPr sz="1800" b="0">
                <a:solidFill>
                  <a:srgbClr val="FFFFFF"/>
                </a:solidFill>
                <a:latin typeface="Cascadia Code"/>
              </a:rPr>
              <a:t>Projet.SemanticModel\</a:t>
            </a:r>
          </a:p>
          <a:p>
            <a:pPr algn="l">
              <a:lnSpc>
                <a:spcPct val="108000"/>
              </a:lnSpc>
              <a:spcBef>
                <a:spcPts val="0"/>
              </a:spcBef>
              <a:spcAft>
                <a:spcPts val="500"/>
              </a:spcAft>
            </a:pPr>
            <a:r>
              <a:rPr sz="1800" b="0">
                <a:solidFill>
                  <a:srgbClr val="FFFFFF"/>
                </a:solidFill>
                <a:latin typeface="Cascadia Code"/>
              </a:rPr>
              <a:t>    definition\  (TMDL)</a:t>
            </a:r>
          </a:p>
          <a:p>
            <a:pPr algn="l">
              <a:lnSpc>
                <a:spcPct val="108000"/>
              </a:lnSpc>
              <a:spcBef>
                <a:spcPts val="0"/>
              </a:spcBef>
              <a:spcAft>
                <a:spcPts val="500"/>
              </a:spcAft>
            </a:pPr>
            <a:r>
              <a:rPr sz="1800" b="0">
                <a:solidFill>
                  <a:srgbClr val="FFFFFF"/>
                </a:solidFill>
                <a:latin typeface="Cascadia Code"/>
              </a:rPr>
              <a:t/>
            </a:r>
          </a:p>
          <a:p>
            <a:pPr algn="l">
              <a:lnSpc>
                <a:spcPct val="108000"/>
              </a:lnSpc>
              <a:spcBef>
                <a:spcPts val="0"/>
              </a:spcBef>
              <a:spcAft>
                <a:spcPts val="500"/>
              </a:spcAft>
            </a:pPr>
            <a:r>
              <a:rPr sz="1800" b="0">
                <a:solidFill>
                  <a:srgbClr val="FFFFFF"/>
                </a:solidFill>
                <a:latin typeface="Cascadia Code"/>
              </a:rPr>
              <a:t>Projet.Report\</a:t>
            </a:r>
          </a:p>
          <a:p>
            <a:pPr algn="l">
              <a:lnSpc>
                <a:spcPct val="108000"/>
              </a:lnSpc>
              <a:spcBef>
                <a:spcPts val="0"/>
              </a:spcBef>
              <a:spcAft>
                <a:spcPts val="500"/>
              </a:spcAft>
            </a:pPr>
            <a:r>
              <a:rPr sz="1800" b="0">
                <a:solidFill>
                  <a:srgbClr val="FFFFFF"/>
                </a:solidFill>
                <a:latin typeface="Cascadia Code"/>
              </a:rPr>
              <a:t>    definition\  (PBIR)</a:t>
            </a:r>
          </a:p>
        </p:txBody>
      </p:sp>
      <p:sp>
        <p:nvSpPr>
          <p:cNvPr id="9" name="Rounded Rectangle 8"/>
          <p:cNvSpPr/>
          <p:nvPr/>
        </p:nvSpPr>
        <p:spPr>
          <a:xfrm>
            <a:off x="6272784" y="2377440"/>
            <a:ext cx="5312664" cy="130759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3096" y="2542032"/>
            <a:ext cx="4892040"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Modèle sémantique</a:t>
            </a:r>
          </a:p>
        </p:txBody>
      </p:sp>
      <p:sp>
        <p:nvSpPr>
          <p:cNvPr id="11" name="TextBox 10"/>
          <p:cNvSpPr txBox="1"/>
          <p:nvPr/>
        </p:nvSpPr>
        <p:spPr>
          <a:xfrm>
            <a:off x="6483096" y="2980944"/>
            <a:ext cx="4892040" cy="612647"/>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Tables, mesures, relations et partitions M.</a:t>
            </a:r>
          </a:p>
        </p:txBody>
      </p:sp>
      <p:sp>
        <p:nvSpPr>
          <p:cNvPr id="12" name="Rounded Rectangle 11"/>
          <p:cNvSpPr/>
          <p:nvPr/>
        </p:nvSpPr>
        <p:spPr>
          <a:xfrm>
            <a:off x="6272784" y="4005072"/>
            <a:ext cx="5312664" cy="130759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4169663"/>
            <a:ext cx="4892040"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Rapport</a:t>
            </a:r>
          </a:p>
        </p:txBody>
      </p:sp>
      <p:sp>
        <p:nvSpPr>
          <p:cNvPr id="14" name="TextBox 13"/>
          <p:cNvSpPr txBox="1"/>
          <p:nvPr/>
        </p:nvSpPr>
        <p:spPr>
          <a:xfrm>
            <a:off x="6483096" y="4608576"/>
            <a:ext cx="4892040" cy="612647"/>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Pages, visuels, filtres, signets et thème.</a:t>
            </a:r>
          </a:p>
        </p:txBody>
      </p:sp>
      <p:sp>
        <p:nvSpPr>
          <p:cNvPr id="15" name="Rounded Rectangle 14"/>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Configurer les accès aux sources, actualiser, sauvegarder puis rouvrir pour la recette.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TMDL</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Le modèle sémantique porte la logique métier</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Les règles de conversion produisent un point de départ ; le contexte reste à vérifier.</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TMDL</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08</a:t>
            </a:r>
          </a:p>
        </p:txBody>
      </p:sp>
      <p:sp>
        <p:nvSpPr>
          <p:cNvPr id="7" name="Rounded Rectangle 6"/>
          <p:cNvSpPr/>
          <p:nvPr/>
        </p:nvSpPr>
        <p:spPr>
          <a:xfrm>
            <a:off x="594360" y="2322576"/>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487168"/>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Structure</a:t>
            </a:r>
          </a:p>
        </p:txBody>
      </p:sp>
      <p:sp>
        <p:nvSpPr>
          <p:cNvPr id="9" name="TextBox 8"/>
          <p:cNvSpPr txBox="1"/>
          <p:nvPr/>
        </p:nvSpPr>
        <p:spPr>
          <a:xfrm>
            <a:off x="804672" y="2926080"/>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Tables, colonnes, types, descriptions et catégories.</a:t>
            </a:r>
          </a:p>
        </p:txBody>
      </p:sp>
      <p:sp>
        <p:nvSpPr>
          <p:cNvPr id="10" name="Rounded Rectangle 9"/>
          <p:cNvSpPr/>
          <p:nvPr/>
        </p:nvSpPr>
        <p:spPr>
          <a:xfrm>
            <a:off x="4379976" y="2322576"/>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487168"/>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Calculs</a:t>
            </a:r>
          </a:p>
        </p:txBody>
      </p:sp>
      <p:sp>
        <p:nvSpPr>
          <p:cNvPr id="12" name="TextBox 11"/>
          <p:cNvSpPr txBox="1"/>
          <p:nvPr/>
        </p:nvSpPr>
        <p:spPr>
          <a:xfrm>
            <a:off x="4590288" y="2926080"/>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Mesures DAX, colonnes calculées et dossiers d'affichage.</a:t>
            </a:r>
          </a:p>
        </p:txBody>
      </p:sp>
      <p:sp>
        <p:nvSpPr>
          <p:cNvPr id="13" name="Rounded Rectangle 12"/>
          <p:cNvSpPr/>
          <p:nvPr/>
        </p:nvSpPr>
        <p:spPr>
          <a:xfrm>
            <a:off x="8165592" y="2322576"/>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75904" y="2487168"/>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Relations</a:t>
            </a:r>
          </a:p>
        </p:txBody>
      </p:sp>
      <p:sp>
        <p:nvSpPr>
          <p:cNvPr id="15" name="TextBox 14"/>
          <p:cNvSpPr txBox="1"/>
          <p:nvPr/>
        </p:nvSpPr>
        <p:spPr>
          <a:xfrm>
            <a:off x="8375904" y="2926080"/>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Cardinalité et inférences à contrôler dans le modèle.</a:t>
            </a:r>
          </a:p>
        </p:txBody>
      </p:sp>
      <p:sp>
        <p:nvSpPr>
          <p:cNvPr id="16" name="Rounded Rectangle 15"/>
          <p:cNvSpPr/>
          <p:nvPr/>
        </p:nvSpPr>
        <p:spPr>
          <a:xfrm>
            <a:off x="594360" y="4032504"/>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197096"/>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Temps</a:t>
            </a:r>
          </a:p>
        </p:txBody>
      </p:sp>
      <p:sp>
        <p:nvSpPr>
          <p:cNvPr id="18" name="TextBox 17"/>
          <p:cNvSpPr txBox="1"/>
          <p:nvPr/>
        </p:nvSpPr>
        <p:spPr>
          <a:xfrm>
            <a:off x="804672" y="4636008"/>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Calendrier M, clés et tri des attributs temporels.</a:t>
            </a:r>
          </a:p>
        </p:txBody>
      </p:sp>
      <p:sp>
        <p:nvSpPr>
          <p:cNvPr id="19" name="Rounded Rectangle 18"/>
          <p:cNvSpPr/>
          <p:nvPr/>
        </p:nvSpPr>
        <p:spPr>
          <a:xfrm>
            <a:off x="4379976" y="4032504"/>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0288" y="4197096"/>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Sécurité</a:t>
            </a:r>
          </a:p>
        </p:txBody>
      </p:sp>
      <p:sp>
        <p:nvSpPr>
          <p:cNvPr id="21" name="TextBox 20"/>
          <p:cNvSpPr txBox="1"/>
          <p:nvPr/>
        </p:nvSpPr>
        <p:spPr>
          <a:xfrm>
            <a:off x="4590288" y="4636008"/>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Rôles RLS ; affectations et tests par identité distincts.</a:t>
            </a:r>
          </a:p>
        </p:txBody>
      </p:sp>
      <p:sp>
        <p:nvSpPr>
          <p:cNvPr id="22" name="Rounded Rectangle 21"/>
          <p:cNvSpPr/>
          <p:nvPr/>
        </p:nvSpPr>
        <p:spPr>
          <a:xfrm>
            <a:off x="8165592" y="4032504"/>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5904" y="4197096"/>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Navigation</a:t>
            </a:r>
          </a:p>
        </p:txBody>
      </p:sp>
      <p:sp>
        <p:nvSpPr>
          <p:cNvPr id="24" name="TextBox 23"/>
          <p:cNvSpPr txBox="1"/>
          <p:nvPr/>
        </p:nvSpPr>
        <p:spPr>
          <a:xfrm>
            <a:off x="8375904" y="4636008"/>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Hiérarchies, paramètres, groupes, sets et bins.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RAPPORTS &amp; INTERACTIONS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PBIR : conserver l'intention visuelle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164 enregistrements de mapping : un inventaire, pas 164 rendus certifiés.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Rapports &amp; interactions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09</a:t>
            </a:r>
          </a:p>
        </p:txBody>
      </p:sp>
      <p:sp>
        <p:nvSpPr>
          <p:cNvPr id="7" name="Rectangle 6"/>
          <p:cNvSpPr/>
          <p:nvPr/>
        </p:nvSpPr>
        <p:spPr>
          <a:xfrm>
            <a:off x="594360" y="2395728"/>
            <a:ext cx="8652621" cy="466344"/>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246981" y="2395728"/>
            <a:ext cx="1073193" cy="466344"/>
          </a:xfrm>
          <a:prstGeom prst="rect">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20174" y="2395728"/>
            <a:ext cx="1274417" cy="466344"/>
          </a:xfrm>
          <a:prstGeom prst="rect">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236976"/>
            <a:ext cx="1188720" cy="566928"/>
          </a:xfrm>
          <a:prstGeom prst="rect">
            <a:avLst/>
          </a:prstGeom>
          <a:noFill/>
        </p:spPr>
        <p:txBody>
          <a:bodyPr wrap="square" lIns="0" rIns="0" tIns="0" bIns="0" anchor="t">
            <a:noAutofit/>
          </a:bodyPr>
          <a:lstStyle/>
          <a:p>
            <a:pPr algn="l">
              <a:lnSpc>
                <a:spcPct val="108000"/>
              </a:lnSpc>
              <a:spcBef>
                <a:spcPts val="0"/>
              </a:spcBef>
              <a:spcAft>
                <a:spcPts val="500"/>
              </a:spcAft>
            </a:pPr>
            <a:r>
              <a:rPr sz="3400" b="1">
                <a:solidFill>
                  <a:srgbClr val="007F79"/>
                </a:solidFill>
                <a:latin typeface="Aptos"/>
              </a:rPr>
              <a:t>129</a:t>
            </a:r>
          </a:p>
        </p:txBody>
      </p:sp>
      <p:sp>
        <p:nvSpPr>
          <p:cNvPr id="11" name="TextBox 10"/>
          <p:cNvSpPr txBox="1"/>
          <p:nvPr/>
        </p:nvSpPr>
        <p:spPr>
          <a:xfrm>
            <a:off x="1965960" y="3374136"/>
            <a:ext cx="2057400" cy="365760"/>
          </a:xfrm>
          <a:prstGeom prst="rect">
            <a:avLst/>
          </a:prstGeom>
          <a:noFill/>
        </p:spPr>
        <p:txBody>
          <a:bodyPr wrap="square" lIns="0" rIns="0" tIns="0" bIns="0" anchor="t">
            <a:noAutofit/>
          </a:bodyPr>
          <a:lstStyle/>
          <a:p>
            <a:pPr algn="l">
              <a:lnSpc>
                <a:spcPct val="108000"/>
              </a:lnSpc>
              <a:spcBef>
                <a:spcPts val="0"/>
              </a:spcBef>
              <a:spcAft>
                <a:spcPts val="500"/>
              </a:spcAft>
            </a:pPr>
            <a:r>
              <a:rPr sz="1700" b="1">
                <a:solidFill>
                  <a:srgbClr val="182630"/>
                </a:solidFill>
                <a:latin typeface="Aptos"/>
              </a:rPr>
              <a:t>Mappings natifs</a:t>
            </a:r>
          </a:p>
        </p:txBody>
      </p:sp>
      <p:sp>
        <p:nvSpPr>
          <p:cNvPr id="12" name="TextBox 11"/>
          <p:cNvSpPr txBox="1"/>
          <p:nvPr/>
        </p:nvSpPr>
        <p:spPr>
          <a:xfrm>
            <a:off x="4379976" y="3236976"/>
            <a:ext cx="1188720" cy="566928"/>
          </a:xfrm>
          <a:prstGeom prst="rect">
            <a:avLst/>
          </a:prstGeom>
          <a:noFill/>
        </p:spPr>
        <p:txBody>
          <a:bodyPr wrap="square" lIns="0" rIns="0" tIns="0" bIns="0" anchor="t">
            <a:noAutofit/>
          </a:bodyPr>
          <a:lstStyle/>
          <a:p>
            <a:pPr algn="l">
              <a:lnSpc>
                <a:spcPct val="108000"/>
              </a:lnSpc>
              <a:spcBef>
                <a:spcPts val="0"/>
              </a:spcBef>
              <a:spcAft>
                <a:spcPts val="500"/>
              </a:spcAft>
            </a:pPr>
            <a:r>
              <a:rPr sz="3400" b="1">
                <a:solidFill>
                  <a:srgbClr val="C85A17"/>
                </a:solidFill>
                <a:latin typeface="Aptos"/>
              </a:rPr>
              <a:t>16</a:t>
            </a:r>
          </a:p>
        </p:txBody>
      </p:sp>
      <p:sp>
        <p:nvSpPr>
          <p:cNvPr id="13" name="TextBox 12"/>
          <p:cNvSpPr txBox="1"/>
          <p:nvPr/>
        </p:nvSpPr>
        <p:spPr>
          <a:xfrm>
            <a:off x="5751576" y="3374136"/>
            <a:ext cx="2057400" cy="365760"/>
          </a:xfrm>
          <a:prstGeom prst="rect">
            <a:avLst/>
          </a:prstGeom>
          <a:noFill/>
        </p:spPr>
        <p:txBody>
          <a:bodyPr wrap="square" lIns="0" rIns="0" tIns="0" bIns="0" anchor="t">
            <a:noAutofit/>
          </a:bodyPr>
          <a:lstStyle/>
          <a:p>
            <a:pPr algn="l">
              <a:lnSpc>
                <a:spcPct val="108000"/>
              </a:lnSpc>
              <a:spcBef>
                <a:spcPts val="0"/>
              </a:spcBef>
              <a:spcAft>
                <a:spcPts val="500"/>
              </a:spcAft>
            </a:pPr>
            <a:r>
              <a:rPr sz="1700" b="1">
                <a:solidFill>
                  <a:srgbClr val="182630"/>
                </a:solidFill>
                <a:latin typeface="Aptos"/>
              </a:rPr>
              <a:t>Approximations</a:t>
            </a:r>
          </a:p>
        </p:txBody>
      </p:sp>
      <p:sp>
        <p:nvSpPr>
          <p:cNvPr id="14" name="TextBox 13"/>
          <p:cNvSpPr txBox="1"/>
          <p:nvPr/>
        </p:nvSpPr>
        <p:spPr>
          <a:xfrm>
            <a:off x="8165592" y="3236976"/>
            <a:ext cx="1188720" cy="566928"/>
          </a:xfrm>
          <a:prstGeom prst="rect">
            <a:avLst/>
          </a:prstGeom>
          <a:noFill/>
        </p:spPr>
        <p:txBody>
          <a:bodyPr wrap="square" lIns="0" rIns="0" tIns="0" bIns="0" anchor="t">
            <a:noAutofit/>
          </a:bodyPr>
          <a:lstStyle/>
          <a:p>
            <a:pPr algn="l">
              <a:lnSpc>
                <a:spcPct val="108000"/>
              </a:lnSpc>
              <a:spcBef>
                <a:spcPts val="0"/>
              </a:spcBef>
              <a:spcAft>
                <a:spcPts val="500"/>
              </a:spcAft>
            </a:pPr>
            <a:r>
              <a:rPr sz="3400" b="1">
                <a:solidFill>
                  <a:srgbClr val="182630"/>
                </a:solidFill>
                <a:latin typeface="Aptos"/>
              </a:rPr>
              <a:t>19</a:t>
            </a:r>
          </a:p>
        </p:txBody>
      </p:sp>
      <p:sp>
        <p:nvSpPr>
          <p:cNvPr id="15" name="TextBox 14"/>
          <p:cNvSpPr txBox="1"/>
          <p:nvPr/>
        </p:nvSpPr>
        <p:spPr>
          <a:xfrm>
            <a:off x="9537192" y="3374136"/>
            <a:ext cx="2057400" cy="365760"/>
          </a:xfrm>
          <a:prstGeom prst="rect">
            <a:avLst/>
          </a:prstGeom>
          <a:noFill/>
        </p:spPr>
        <p:txBody>
          <a:bodyPr wrap="square" lIns="0" rIns="0" tIns="0" bIns="0" anchor="t">
            <a:noAutofit/>
          </a:bodyPr>
          <a:lstStyle/>
          <a:p>
            <a:pPr algn="l">
              <a:lnSpc>
                <a:spcPct val="108000"/>
              </a:lnSpc>
              <a:spcBef>
                <a:spcPts val="0"/>
              </a:spcBef>
              <a:spcAft>
                <a:spcPts val="500"/>
              </a:spcAft>
            </a:pPr>
            <a:r>
              <a:rPr sz="1700" b="1">
                <a:solidFill>
                  <a:srgbClr val="182630"/>
                </a:solidFill>
                <a:latin typeface="Aptos"/>
              </a:rPr>
              <a:t>Mappings custom</a:t>
            </a:r>
          </a:p>
        </p:txBody>
      </p:sp>
      <p:sp>
        <p:nvSpPr>
          <p:cNvPr id="16" name="Rounded Rectangle 15"/>
          <p:cNvSpPr/>
          <p:nvPr/>
        </p:nvSpPr>
        <p:spPr>
          <a:xfrm>
            <a:off x="594360" y="4151376"/>
            <a:ext cx="5312664" cy="107899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315968"/>
            <a:ext cx="4892040"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Disposition &amp; style</a:t>
            </a:r>
          </a:p>
        </p:txBody>
      </p:sp>
      <p:sp>
        <p:nvSpPr>
          <p:cNvPr id="18" name="TextBox 17"/>
          <p:cNvSpPr txBox="1"/>
          <p:nvPr/>
        </p:nvSpPr>
        <p:spPr>
          <a:xfrm>
            <a:off x="804672" y="4754880"/>
            <a:ext cx="4892040" cy="384047"/>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Pages, thème, formatage et objets de dashboard.</a:t>
            </a:r>
          </a:p>
        </p:txBody>
      </p:sp>
      <p:sp>
        <p:nvSpPr>
          <p:cNvPr id="19" name="Rounded Rectangle 18"/>
          <p:cNvSpPr/>
          <p:nvPr/>
        </p:nvSpPr>
        <p:spPr>
          <a:xfrm>
            <a:off x="6272784" y="4151376"/>
            <a:ext cx="5312664" cy="107899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3096" y="4315968"/>
            <a:ext cx="4892040"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Interaction</a:t>
            </a:r>
          </a:p>
        </p:txBody>
      </p:sp>
      <p:sp>
        <p:nvSpPr>
          <p:cNvPr id="21" name="TextBox 20"/>
          <p:cNvSpPr txBox="1"/>
          <p:nvPr/>
        </p:nvSpPr>
        <p:spPr>
          <a:xfrm>
            <a:off x="6483096" y="4754880"/>
            <a:ext cx="4892040" cy="384047"/>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Slicers, filtres, signets, navigation et tooltips.</a:t>
            </a:r>
          </a:p>
        </p:txBody>
      </p:sp>
      <p:sp>
        <p:nvSpPr>
          <p:cNvPr id="22" name="Rounded Rectangle 21"/>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Custom visuals, interactions et rendu exact : disponibilité et recette à confirmer.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DAX &amp; POWER QUERY M</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De la formule Tableau au bon contexte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Classifier avant de convertir : une mesure et une colonne n'ont pas la même sémantique.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DAX &amp; Power Query M</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10</a:t>
            </a:r>
          </a:p>
        </p:txBody>
      </p:sp>
      <p:sp>
        <p:nvSpPr>
          <p:cNvPr id="7" name="Rounded Rectangle 6"/>
          <p:cNvSpPr/>
          <p:nvPr/>
        </p:nvSpPr>
        <p:spPr>
          <a:xfrm>
            <a:off x="594360" y="2944368"/>
            <a:ext cx="2468880" cy="1261872"/>
          </a:xfrm>
          <a:prstGeom prst="roundRect">
            <a:avLst>
              <a:gd name="adj" fmla="val 12000"/>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3118104"/>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Formule Tableau</a:t>
            </a:r>
          </a:p>
        </p:txBody>
      </p:sp>
      <p:sp>
        <p:nvSpPr>
          <p:cNvPr id="9" name="TextBox 8"/>
          <p:cNvSpPr txBox="1"/>
          <p:nvPr/>
        </p:nvSpPr>
        <p:spPr>
          <a:xfrm>
            <a:off x="758952" y="3621024"/>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Références et agrégations</a:t>
            </a:r>
          </a:p>
        </p:txBody>
      </p:sp>
      <p:sp>
        <p:nvSpPr>
          <p:cNvPr id="10" name="Chevron 9"/>
          <p:cNvSpPr/>
          <p:nvPr/>
        </p:nvSpPr>
        <p:spPr>
          <a:xfrm>
            <a:off x="3163824" y="347472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20440" y="2944368"/>
            <a:ext cx="2468880" cy="1261872"/>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2" y="3118104"/>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Classification</a:t>
            </a:r>
          </a:p>
        </p:txBody>
      </p:sp>
      <p:sp>
        <p:nvSpPr>
          <p:cNvPr id="13" name="TextBox 12"/>
          <p:cNvSpPr txBox="1"/>
          <p:nvPr/>
        </p:nvSpPr>
        <p:spPr>
          <a:xfrm>
            <a:off x="3685032" y="3621024"/>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Mesure ou colonne</a:t>
            </a:r>
          </a:p>
        </p:txBody>
      </p:sp>
      <p:cxnSp>
        <p:nvCxnSpPr>
          <p:cNvPr id="14" name="Connector 13"/>
          <p:cNvCxnSpPr/>
          <p:nvPr/>
        </p:nvCxnSpPr>
        <p:spPr>
          <a:xfrm>
            <a:off x="5989320" y="3575304"/>
            <a:ext cx="411480" cy="0"/>
          </a:xfrm>
          <a:prstGeom prst="line">
            <a:avLst/>
          </a:prstGeom>
          <a:ln w="25400">
            <a:solidFill>
              <a:srgbClr val="007F7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2788920"/>
            <a:ext cx="0" cy="1728216"/>
          </a:xfrm>
          <a:prstGeom prst="line">
            <a:avLst/>
          </a:prstGeom>
          <a:ln w="25400">
            <a:solidFill>
              <a:srgbClr val="007F7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400800" y="2788920"/>
            <a:ext cx="457200" cy="0"/>
          </a:xfrm>
          <a:prstGeom prst="line">
            <a:avLst/>
          </a:prstGeom>
          <a:ln w="25400">
            <a:solidFill>
              <a:srgbClr val="007F7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00800" y="4517136"/>
            <a:ext cx="457200" cy="0"/>
          </a:xfrm>
          <a:prstGeom prst="line">
            <a:avLst/>
          </a:prstGeom>
          <a:ln w="25400">
            <a:solidFill>
              <a:srgbClr val="007F7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58000" y="2304288"/>
            <a:ext cx="4709160" cy="1143000"/>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22592" y="2478024"/>
            <a:ext cx="437997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Mesure → DAX</a:t>
            </a:r>
          </a:p>
        </p:txBody>
      </p:sp>
      <p:sp>
        <p:nvSpPr>
          <p:cNvPr id="20" name="TextBox 19"/>
          <p:cNvSpPr txBox="1"/>
          <p:nvPr/>
        </p:nvSpPr>
        <p:spPr>
          <a:xfrm>
            <a:off x="7022592" y="2980944"/>
            <a:ext cx="4379976" cy="402335"/>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Agrégation et contexte de filtre</a:t>
            </a:r>
          </a:p>
        </p:txBody>
      </p:sp>
      <p:sp>
        <p:nvSpPr>
          <p:cNvPr id="21" name="Rounded Rectangle 20"/>
          <p:cNvSpPr/>
          <p:nvPr/>
        </p:nvSpPr>
        <p:spPr>
          <a:xfrm>
            <a:off x="6858000" y="4041648"/>
            <a:ext cx="4709160" cy="1143000"/>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22592" y="4215384"/>
            <a:ext cx="437997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Colonne → M si convertible</a:t>
            </a:r>
          </a:p>
        </p:txBody>
      </p:sp>
      <p:sp>
        <p:nvSpPr>
          <p:cNvPr id="23" name="TextBox 22"/>
          <p:cNvSpPr txBox="1"/>
          <p:nvPr/>
        </p:nvSpPr>
        <p:spPr>
          <a:xfrm>
            <a:off x="7022592" y="4718304"/>
            <a:ext cx="4379976" cy="402335"/>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Sinon DAX ; cas inter-tables à contrôler</a:t>
            </a:r>
          </a:p>
        </p:txBody>
      </p:sp>
      <p:sp>
        <p:nvSpPr>
          <p:cNvPr id="24" name="Rounded Rectangle 23"/>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133+ conversions référencées ; LOD et calculs de table peuvent nécessiter une reprise.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MULTI-CLASSEURS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Consolider sans effacer les conflits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Une route de modèle partagé distincte du batch de projets indépendants.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Multi-classeurs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11</a:t>
            </a:r>
          </a:p>
        </p:txBody>
      </p:sp>
      <p:sp>
        <p:nvSpPr>
          <p:cNvPr id="7" name="Rounded Rectangle 6"/>
          <p:cNvSpPr/>
          <p:nvPr/>
        </p:nvSpPr>
        <p:spPr>
          <a:xfrm>
            <a:off x="594360" y="2514600"/>
            <a:ext cx="2468880" cy="1261872"/>
          </a:xfrm>
          <a:prstGeom prst="roundRect">
            <a:avLst>
              <a:gd name="adj" fmla="val 12000"/>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688336"/>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Classeurs A / B / C</a:t>
            </a:r>
          </a:p>
        </p:txBody>
      </p:sp>
      <p:sp>
        <p:nvSpPr>
          <p:cNvPr id="9" name="TextBox 8"/>
          <p:cNvSpPr txBox="1"/>
          <p:nvPr/>
        </p:nvSpPr>
        <p:spPr>
          <a:xfrm>
            <a:off x="758952" y="3191256"/>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Schémas et calculs</a:t>
            </a:r>
          </a:p>
        </p:txBody>
      </p:sp>
      <p:sp>
        <p:nvSpPr>
          <p:cNvPr id="10" name="Chevron 9"/>
          <p:cNvSpPr/>
          <p:nvPr/>
        </p:nvSpPr>
        <p:spPr>
          <a:xfrm>
            <a:off x="3163824" y="3054096"/>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20440" y="2514600"/>
            <a:ext cx="3794760" cy="1261872"/>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2" y="2688336"/>
            <a:ext cx="346557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Matching + résolution</a:t>
            </a:r>
          </a:p>
        </p:txBody>
      </p:sp>
      <p:sp>
        <p:nvSpPr>
          <p:cNvPr id="13" name="TextBox 12"/>
          <p:cNvSpPr txBox="1"/>
          <p:nvPr/>
        </p:nvSpPr>
        <p:spPr>
          <a:xfrm>
            <a:off x="3685032" y="3191256"/>
            <a:ext cx="346557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Empreintes, colonnes, noms et conflits</a:t>
            </a:r>
          </a:p>
        </p:txBody>
      </p:sp>
      <p:sp>
        <p:nvSpPr>
          <p:cNvPr id="14" name="Chevron 13"/>
          <p:cNvSpPr/>
          <p:nvPr/>
        </p:nvSpPr>
        <p:spPr>
          <a:xfrm>
            <a:off x="7434072" y="3054096"/>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818120" y="2514600"/>
            <a:ext cx="3749039"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688336"/>
            <a:ext cx="341985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Modèle commun</a:t>
            </a:r>
          </a:p>
        </p:txBody>
      </p:sp>
      <p:sp>
        <p:nvSpPr>
          <p:cNvPr id="17" name="TextBox 16"/>
          <p:cNvSpPr txBox="1"/>
          <p:nvPr/>
        </p:nvSpPr>
        <p:spPr>
          <a:xfrm>
            <a:off x="7982712" y="3191256"/>
            <a:ext cx="341985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Rapports fins par classeur</a:t>
            </a:r>
          </a:p>
        </p:txBody>
      </p:sp>
      <p:sp>
        <p:nvSpPr>
          <p:cNvPr id="18" name="Rounded Rectangle 17"/>
          <p:cNvSpPr/>
          <p:nvPr/>
        </p:nvSpPr>
        <p:spPr>
          <a:xfrm>
            <a:off x="594360" y="4270248"/>
            <a:ext cx="5312664" cy="9875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434840"/>
            <a:ext cx="4892040"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Décisions explicites</a:t>
            </a:r>
          </a:p>
        </p:txBody>
      </p:sp>
      <p:sp>
        <p:nvSpPr>
          <p:cNvPr id="20" name="TextBox 19"/>
          <p:cNvSpPr txBox="1"/>
          <p:nvPr/>
        </p:nvSpPr>
        <p:spPr>
          <a:xfrm>
            <a:off x="804672" y="4873752"/>
            <a:ext cx="4892040" cy="292608"/>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Mesures, tables et paramètres.</a:t>
            </a:r>
          </a:p>
        </p:txBody>
      </p:sp>
      <p:sp>
        <p:nvSpPr>
          <p:cNvPr id="21" name="Rounded Rectangle 20"/>
          <p:cNvSpPr/>
          <p:nvPr/>
        </p:nvSpPr>
        <p:spPr>
          <a:xfrm>
            <a:off x="6272784" y="4270248"/>
            <a:ext cx="5312664" cy="98755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4434840"/>
            <a:ext cx="4892040"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Contrôles renforcés</a:t>
            </a:r>
          </a:p>
        </p:txBody>
      </p:sp>
      <p:sp>
        <p:nvSpPr>
          <p:cNvPr id="23" name="TextBox 22"/>
          <p:cNvSpPr txBox="1"/>
          <p:nvPr/>
        </p:nvSpPr>
        <p:spPr>
          <a:xfrm>
            <a:off x="6483096" y="4873752"/>
            <a:ext cx="4892040" cy="292608"/>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RLS, relations et sémantique métier.</a:t>
            </a:r>
          </a:p>
        </p:txBody>
      </p:sp>
      <p:sp>
        <p:nvSpPr>
          <p:cNvPr id="24" name="Rounded Rectangle 23"/>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Un score de rapprochement ne suffit pas à prouver l'identité métier de deux tables.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TABLEAU PREP</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Prep autonome : M, sources et lignage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Pas de PBIP généré pour les fichiers .tfl / .tflx autonomes.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Tableau Prep</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12</a:t>
            </a:r>
          </a:p>
        </p:txBody>
      </p:sp>
      <p:sp>
        <p:nvSpPr>
          <p:cNvPr id="7" name="Rounded Rectangle 6"/>
          <p:cNvSpPr/>
          <p:nvPr/>
        </p:nvSpPr>
        <p:spPr>
          <a:xfrm>
            <a:off x="594360" y="2532888"/>
            <a:ext cx="3429000" cy="1472184"/>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706624"/>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Analyser le DAG</a:t>
            </a:r>
          </a:p>
        </p:txBody>
      </p:sp>
      <p:sp>
        <p:nvSpPr>
          <p:cNvPr id="9" name="TextBox 8"/>
          <p:cNvSpPr txBox="1"/>
          <p:nvPr/>
        </p:nvSpPr>
        <p:spPr>
          <a:xfrm>
            <a:off x="758952" y="3209544"/>
            <a:ext cx="3099816" cy="731520"/>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Entrées, transformations, sorties</a:t>
            </a:r>
          </a:p>
        </p:txBody>
      </p:sp>
      <p:sp>
        <p:nvSpPr>
          <p:cNvPr id="10" name="Chevron 9"/>
          <p:cNvSpPr/>
          <p:nvPr/>
        </p:nvSpPr>
        <p:spPr>
          <a:xfrm>
            <a:off x="4123944" y="3136392"/>
            <a:ext cx="15544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79976" y="2532888"/>
            <a:ext cx="3429000" cy="1472184"/>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706624"/>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Exporter</a:t>
            </a:r>
          </a:p>
        </p:txBody>
      </p:sp>
      <p:sp>
        <p:nvSpPr>
          <p:cNvPr id="13" name="TextBox 12"/>
          <p:cNvSpPr txBox="1"/>
          <p:nvPr/>
        </p:nvSpPr>
        <p:spPr>
          <a:xfrm>
            <a:off x="4544568" y="3209544"/>
            <a:ext cx="3099816" cy="731520"/>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PowerQuery/*.pq ; Sources/*.json</a:t>
            </a:r>
          </a:p>
        </p:txBody>
      </p:sp>
      <p:sp>
        <p:nvSpPr>
          <p:cNvPr id="14" name="Chevron 13"/>
          <p:cNvSpPr/>
          <p:nvPr/>
        </p:nvSpPr>
        <p:spPr>
          <a:xfrm>
            <a:off x="7909560" y="3136392"/>
            <a:ext cx="15544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65592" y="2532888"/>
            <a:ext cx="3429000" cy="1472184"/>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3" y="2706624"/>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Évaluer &amp; relier</a:t>
            </a:r>
          </a:p>
        </p:txBody>
      </p:sp>
      <p:sp>
        <p:nvSpPr>
          <p:cNvPr id="17" name="TextBox 16"/>
          <p:cNvSpPr txBox="1"/>
          <p:nvPr/>
        </p:nvSpPr>
        <p:spPr>
          <a:xfrm>
            <a:off x="8330183" y="3209544"/>
            <a:ext cx="3099816" cy="731520"/>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assessment.json ; lignage inter-flows</a:t>
            </a:r>
          </a:p>
        </p:txBody>
      </p:sp>
      <p:sp>
        <p:nvSpPr>
          <p:cNvPr id="18" name="TextBox 17"/>
          <p:cNvSpPr txBox="1"/>
          <p:nvPr/>
        </p:nvSpPr>
        <p:spPr>
          <a:xfrm>
            <a:off x="658368" y="4507992"/>
            <a:ext cx="10789920" cy="649224"/>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82630"/>
                </a:solidFill>
                <a:latin typeface="Aptos"/>
              </a:rPr>
              <a:t>Lignage croisé automatique si au moins 2 flows réussissent.</a:t>
            </a:r>
          </a:p>
          <a:p>
            <a:pPr algn="l">
              <a:lnSpc>
                <a:spcPct val="108000"/>
              </a:lnSpc>
              <a:spcBef>
                <a:spcPts val="0"/>
              </a:spcBef>
              <a:spcAft>
                <a:spcPts val="500"/>
              </a:spcAft>
            </a:pPr>
            <a:r>
              <a:rPr sz="1800" b="0">
                <a:solidFill>
                  <a:srgbClr val="182630"/>
                </a:solidFill>
                <a:latin typeface="Aptos"/>
              </a:rPr>
              <a:t>Parser et dialectes bornés : opérations non prises en charge à revoir.</a:t>
            </a:r>
          </a:p>
        </p:txBody>
      </p:sp>
      <p:sp>
        <p:nvSpPr>
          <p:cNvPr id="19" name="Rounded Rectangle 18"/>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Joins, agrégations et expressions converties doivent être validés sur les données.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SORTIE FABRIC</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Fabric : un scaffold à configurer et déployer</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Les artefacts sont générés localement ; la présence d'un fichier n'est pas une exécution cloud.</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Sortie Fabric</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13</a:t>
            </a:r>
          </a:p>
        </p:txBody>
      </p:sp>
      <p:sp>
        <p:nvSpPr>
          <p:cNvPr id="7" name="Rounded Rectangle 6"/>
          <p:cNvSpPr/>
          <p:nvPr/>
        </p:nvSpPr>
        <p:spPr>
          <a:xfrm>
            <a:off x="594360" y="2496312"/>
            <a:ext cx="3429000" cy="1261872"/>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670048"/>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Dataflow Gen2</a:t>
            </a:r>
          </a:p>
        </p:txBody>
      </p:sp>
      <p:sp>
        <p:nvSpPr>
          <p:cNvPr id="9" name="TextBox 8"/>
          <p:cNvSpPr txBox="1"/>
          <p:nvPr/>
        </p:nvSpPr>
        <p:spPr>
          <a:xfrm>
            <a:off x="758952" y="3172968"/>
            <a:ext cx="309981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Ingestion M</a:t>
            </a:r>
          </a:p>
        </p:txBody>
      </p:sp>
      <p:sp>
        <p:nvSpPr>
          <p:cNvPr id="10" name="Chevron 9"/>
          <p:cNvSpPr/>
          <p:nvPr/>
        </p:nvSpPr>
        <p:spPr>
          <a:xfrm>
            <a:off x="4123944" y="3035808"/>
            <a:ext cx="15544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79976" y="2496312"/>
            <a:ext cx="3429000"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670048"/>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Notebook</a:t>
            </a:r>
          </a:p>
        </p:txBody>
      </p:sp>
      <p:sp>
        <p:nvSpPr>
          <p:cNvPr id="13" name="TextBox 12"/>
          <p:cNvSpPr txBox="1"/>
          <p:nvPr/>
        </p:nvSpPr>
        <p:spPr>
          <a:xfrm>
            <a:off x="4544568" y="3172968"/>
            <a:ext cx="309981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ETL / transformations</a:t>
            </a:r>
          </a:p>
        </p:txBody>
      </p:sp>
      <p:sp>
        <p:nvSpPr>
          <p:cNvPr id="14" name="Chevron 13"/>
          <p:cNvSpPr/>
          <p:nvPr/>
        </p:nvSpPr>
        <p:spPr>
          <a:xfrm>
            <a:off x="7909560" y="3035808"/>
            <a:ext cx="15544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65592" y="2496312"/>
            <a:ext cx="3429000"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3" y="2670048"/>
            <a:ext cx="309981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DirectLake</a:t>
            </a:r>
          </a:p>
        </p:txBody>
      </p:sp>
      <p:sp>
        <p:nvSpPr>
          <p:cNvPr id="17" name="TextBox 16"/>
          <p:cNvSpPr txBox="1"/>
          <p:nvPr/>
        </p:nvSpPr>
        <p:spPr>
          <a:xfrm>
            <a:off x="8330183" y="3172968"/>
            <a:ext cx="309981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Modèle sémantique</a:t>
            </a:r>
          </a:p>
        </p:txBody>
      </p:sp>
      <p:sp>
        <p:nvSpPr>
          <p:cNvPr id="18" name="Rounded Rectangle 17"/>
          <p:cNvSpPr/>
          <p:nvPr/>
        </p:nvSpPr>
        <p:spPr>
          <a:xfrm>
            <a:off x="594360" y="4233672"/>
            <a:ext cx="11000232" cy="512064"/>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352544"/>
            <a:ext cx="10543032" cy="265176"/>
          </a:xfrm>
          <a:prstGeom prst="rect">
            <a:avLst/>
          </a:prstGeom>
          <a:noFill/>
        </p:spPr>
        <p:txBody>
          <a:bodyPr wrap="square" lIns="0" rIns="0" tIns="0" bIns="0" anchor="t">
            <a:noAutofit/>
          </a:bodyPr>
          <a:lstStyle/>
          <a:p>
            <a:pPr algn="l">
              <a:lnSpc>
                <a:spcPct val="108000"/>
              </a:lnSpc>
              <a:spcBef>
                <a:spcPts val="0"/>
              </a:spcBef>
              <a:spcAft>
                <a:spcPts val="500"/>
              </a:spcAft>
            </a:pPr>
            <a:r>
              <a:rPr sz="1700" b="1">
                <a:solidFill>
                  <a:srgbClr val="007F79"/>
                </a:solidFill>
                <a:latin typeface="Aptos"/>
              </a:rPr>
              <a:t>Lakehouse / OneLake : tables Delta et staging propres à la route Fabric</a:t>
            </a:r>
          </a:p>
        </p:txBody>
      </p:sp>
      <p:sp>
        <p:nvSpPr>
          <p:cNvPr id="20" name="TextBox 19"/>
          <p:cNvSpPr txBox="1"/>
          <p:nvPr/>
        </p:nvSpPr>
        <p:spPr>
          <a:xfrm>
            <a:off x="658368" y="5010912"/>
            <a:ext cx="10789920" cy="347472"/>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182630"/>
                </a:solidFill>
                <a:latin typeface="Aptos"/>
              </a:rPr>
              <a:t>Pipeline : Dataflow → Notebook → refresh du modèle ; identifiants à renseigner.</a:t>
            </a:r>
          </a:p>
        </p:txBody>
      </p:sp>
      <p:sp>
        <p:nvSpPr>
          <p:cNvPr id="21" name="Rounded Rectangle 20"/>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Connexions, capacité, identités, IDs d'activités et exécution restent à configurer.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QUALITÉ &amp; RECETTE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Empiler les preuves, sans les confondre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Une vérification non exécutée reste not_run ; un PASS statique ne la remplace pas.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Qualité &amp; recette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14</a:t>
            </a:r>
          </a:p>
        </p:txBody>
      </p:sp>
      <p:sp>
        <p:nvSpPr>
          <p:cNvPr id="7" name="Rounded Rectangle 6"/>
          <p:cNvSpPr/>
          <p:nvPr/>
        </p:nvSpPr>
        <p:spPr>
          <a:xfrm>
            <a:off x="594360" y="2505456"/>
            <a:ext cx="2468880" cy="1755648"/>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679192"/>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Structure</a:t>
            </a:r>
          </a:p>
        </p:txBody>
      </p:sp>
      <p:sp>
        <p:nvSpPr>
          <p:cNvPr id="9" name="TextBox 8"/>
          <p:cNvSpPr txBox="1"/>
          <p:nvPr/>
        </p:nvSpPr>
        <p:spPr>
          <a:xfrm>
            <a:off x="758952" y="3182112"/>
            <a:ext cx="2139696" cy="1014983"/>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JSON, TMDL,</a:t>
            </a:r>
          </a:p>
          <a:p>
            <a:pPr algn="ctr">
              <a:lnSpc>
                <a:spcPct val="108000"/>
              </a:lnSpc>
              <a:spcBef>
                <a:spcPts val="0"/>
              </a:spcBef>
              <a:spcAft>
                <a:spcPts val="500"/>
              </a:spcAft>
            </a:pPr>
            <a:r>
              <a:rPr sz="1400" b="0">
                <a:solidFill>
                  <a:srgbClr val="FFFFFF"/>
                </a:solidFill>
                <a:latin typeface="Aptos"/>
              </a:rPr>
              <a:t>références et schémas</a:t>
            </a:r>
          </a:p>
        </p:txBody>
      </p:sp>
      <p:sp>
        <p:nvSpPr>
          <p:cNvPr id="10" name="Chevron 9"/>
          <p:cNvSpPr/>
          <p:nvPr/>
        </p:nvSpPr>
        <p:spPr>
          <a:xfrm>
            <a:off x="3145536" y="3264408"/>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2505456"/>
            <a:ext cx="2468880" cy="175564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679192"/>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Modèle</a:t>
            </a:r>
          </a:p>
        </p:txBody>
      </p:sp>
      <p:sp>
        <p:nvSpPr>
          <p:cNvPr id="13" name="TextBox 12"/>
          <p:cNvSpPr txBox="1"/>
          <p:nvPr/>
        </p:nvSpPr>
        <p:spPr>
          <a:xfrm>
            <a:off x="3593592" y="3182112"/>
            <a:ext cx="2139696" cy="1014983"/>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Moteur DAX,</a:t>
            </a:r>
          </a:p>
          <a:p>
            <a:pPr algn="ctr">
              <a:lnSpc>
                <a:spcPct val="108000"/>
              </a:lnSpc>
              <a:spcBef>
                <a:spcPts val="0"/>
              </a:spcBef>
              <a:spcAft>
                <a:spcPts val="500"/>
              </a:spcAft>
            </a:pPr>
            <a:r>
              <a:rPr sz="1400" b="0">
                <a:solidFill>
                  <a:srgbClr val="FFFFFF"/>
                </a:solidFill>
                <a:latin typeface="Aptos"/>
              </a:rPr>
              <a:t>relations et RLS</a:t>
            </a:r>
          </a:p>
        </p:txBody>
      </p:sp>
      <p:sp>
        <p:nvSpPr>
          <p:cNvPr id="14" name="Chevron 13"/>
          <p:cNvSpPr/>
          <p:nvPr/>
        </p:nvSpPr>
        <p:spPr>
          <a:xfrm>
            <a:off x="5980176" y="3264408"/>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2505456"/>
            <a:ext cx="2468880" cy="175564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679192"/>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Refresh</a:t>
            </a:r>
          </a:p>
        </p:txBody>
      </p:sp>
      <p:sp>
        <p:nvSpPr>
          <p:cNvPr id="17" name="TextBox 16"/>
          <p:cNvSpPr txBox="1"/>
          <p:nvPr/>
        </p:nvSpPr>
        <p:spPr>
          <a:xfrm>
            <a:off x="6428232" y="3182112"/>
            <a:ext cx="2139696" cy="1014983"/>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Accès, données,</a:t>
            </a:r>
          </a:p>
          <a:p>
            <a:pPr algn="ctr">
              <a:lnSpc>
                <a:spcPct val="108000"/>
              </a:lnSpc>
              <a:spcBef>
                <a:spcPts val="0"/>
              </a:spcBef>
              <a:spcAft>
                <a:spcPts val="500"/>
              </a:spcAft>
            </a:pPr>
            <a:r>
              <a:rPr sz="1400" b="0">
                <a:solidFill>
                  <a:srgbClr val="FFFFFF"/>
                </a:solidFill>
                <a:latin typeface="Aptos"/>
              </a:rPr>
              <a:t>sauvegarde / réouverture</a:t>
            </a:r>
          </a:p>
        </p:txBody>
      </p:sp>
      <p:sp>
        <p:nvSpPr>
          <p:cNvPr id="18" name="Chevron 17"/>
          <p:cNvSpPr/>
          <p:nvPr/>
        </p:nvSpPr>
        <p:spPr>
          <a:xfrm>
            <a:off x="8814816" y="3264408"/>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98280" y="2505456"/>
            <a:ext cx="2468880" cy="175564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2872" y="2679192"/>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Parité</a:t>
            </a:r>
          </a:p>
        </p:txBody>
      </p:sp>
      <p:sp>
        <p:nvSpPr>
          <p:cNvPr id="21" name="TextBox 20"/>
          <p:cNvSpPr txBox="1"/>
          <p:nvPr/>
        </p:nvSpPr>
        <p:spPr>
          <a:xfrm>
            <a:off x="9262872" y="3182112"/>
            <a:ext cx="2139696" cy="1014983"/>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Valeurs, captures,</a:t>
            </a:r>
          </a:p>
          <a:p>
            <a:pPr algn="ctr">
              <a:lnSpc>
                <a:spcPct val="108000"/>
              </a:lnSpc>
              <a:spcBef>
                <a:spcPts val="0"/>
              </a:spcBef>
              <a:spcAft>
                <a:spcPts val="500"/>
              </a:spcAft>
            </a:pPr>
            <a:r>
              <a:rPr sz="1400" b="0">
                <a:solidFill>
                  <a:srgbClr val="FFFFFF"/>
                </a:solidFill>
                <a:latin typeface="Aptos"/>
              </a:rPr>
              <a:t>interactions métier</a:t>
            </a:r>
          </a:p>
        </p:txBody>
      </p:sp>
      <p:sp>
        <p:nvSpPr>
          <p:cNvPr id="22" name="TextBox 21"/>
          <p:cNvSpPr txBox="1"/>
          <p:nvPr/>
        </p:nvSpPr>
        <p:spPr>
          <a:xfrm>
            <a:off x="658368" y="4718304"/>
            <a:ext cx="10789920" cy="457200"/>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82630"/>
                </a:solidFill>
                <a:latin typeface="Aptos"/>
              </a:rPr>
              <a:t>Puis validation opérationnelle et publication autorisée — chacune avec ses critères.</a:t>
            </a:r>
          </a:p>
        </p:txBody>
      </p:sp>
      <p:sp>
        <p:nvSpPr>
          <p:cNvPr id="23" name="Rounded Rectangle 22"/>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Validation Microsoft PBIR optionnelle ≠ validation du moteur modèle ou du runtime Desktop.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PREUVES DATÉES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Une preuve statique, pas une promesse de parité</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Observations locales du 23.10.2026 sur un corpus public / synthétique.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Preuves datées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15</a:t>
            </a:r>
          </a:p>
        </p:txBody>
      </p:sp>
      <p:sp>
        <p:nvSpPr>
          <p:cNvPr id="7" name="Rounded Rectangle 6"/>
          <p:cNvSpPr/>
          <p:nvPr/>
        </p:nvSpPr>
        <p:spPr>
          <a:xfrm>
            <a:off x="594360" y="2542032"/>
            <a:ext cx="3429000" cy="1920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752344"/>
            <a:ext cx="3008376" cy="603504"/>
          </a:xfrm>
          <a:prstGeom prst="rect">
            <a:avLst/>
          </a:prstGeom>
          <a:noFill/>
        </p:spPr>
        <p:txBody>
          <a:bodyPr wrap="square" lIns="0" rIns="0" tIns="0" bIns="0" anchor="t">
            <a:noAutofit/>
          </a:bodyPr>
          <a:lstStyle/>
          <a:p>
            <a:pPr algn="l">
              <a:lnSpc>
                <a:spcPct val="108000"/>
              </a:lnSpc>
              <a:spcBef>
                <a:spcPts val="0"/>
              </a:spcBef>
              <a:spcAft>
                <a:spcPts val="500"/>
              </a:spcAft>
            </a:pPr>
            <a:r>
              <a:rPr sz="3500" b="1">
                <a:solidFill>
                  <a:srgbClr val="007F79"/>
                </a:solidFill>
                <a:latin typeface="Aptos"/>
              </a:rPr>
              <a:t>4 → 10 / 10</a:t>
            </a:r>
          </a:p>
        </p:txBody>
      </p:sp>
      <p:sp>
        <p:nvSpPr>
          <p:cNvPr id="9" name="TextBox 8"/>
          <p:cNvSpPr txBox="1"/>
          <p:nvPr/>
        </p:nvSpPr>
        <p:spPr>
          <a:xfrm>
            <a:off x="804672" y="3520440"/>
            <a:ext cx="3008376" cy="301752"/>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182630"/>
                </a:solidFill>
                <a:latin typeface="Aptos"/>
              </a:rPr>
              <a:t>Rapports validés</a:t>
            </a:r>
          </a:p>
        </p:txBody>
      </p:sp>
      <p:sp>
        <p:nvSpPr>
          <p:cNvPr id="10" name="TextBox 9"/>
          <p:cNvSpPr txBox="1"/>
          <p:nvPr/>
        </p:nvSpPr>
        <p:spPr>
          <a:xfrm>
            <a:off x="804672" y="3950208"/>
            <a:ext cx="3008376" cy="329184"/>
          </a:xfrm>
          <a:prstGeom prst="rect">
            <a:avLst/>
          </a:prstGeom>
          <a:noFill/>
        </p:spPr>
        <p:txBody>
          <a:bodyPr wrap="square" lIns="0" rIns="0" tIns="0" bIns="0" anchor="t">
            <a:noAutofit/>
          </a:bodyPr>
          <a:lstStyle/>
          <a:p>
            <a:pPr algn="l">
              <a:lnSpc>
                <a:spcPct val="108000"/>
              </a:lnSpc>
              <a:spcBef>
                <a:spcPts val="0"/>
              </a:spcBef>
              <a:spcAft>
                <a:spcPts val="500"/>
              </a:spcAft>
            </a:pPr>
            <a:r>
              <a:rPr sz="1200" b="0">
                <a:solidFill>
                  <a:srgbClr val="52616C"/>
                </a:solidFill>
                <a:latin typeface="Aptos"/>
              </a:rPr>
              <a:t>Validation Microsoft PBIR</a:t>
            </a:r>
          </a:p>
        </p:txBody>
      </p:sp>
      <p:sp>
        <p:nvSpPr>
          <p:cNvPr id="11" name="Rounded Rectangle 10"/>
          <p:cNvSpPr/>
          <p:nvPr/>
        </p:nvSpPr>
        <p:spPr>
          <a:xfrm>
            <a:off x="4379976" y="2542032"/>
            <a:ext cx="3429000" cy="1920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2752344"/>
            <a:ext cx="3008376" cy="603504"/>
          </a:xfrm>
          <a:prstGeom prst="rect">
            <a:avLst/>
          </a:prstGeom>
          <a:noFill/>
        </p:spPr>
        <p:txBody>
          <a:bodyPr wrap="square" lIns="0" rIns="0" tIns="0" bIns="0" anchor="t">
            <a:noAutofit/>
          </a:bodyPr>
          <a:lstStyle/>
          <a:p>
            <a:pPr algn="l">
              <a:lnSpc>
                <a:spcPct val="108000"/>
              </a:lnSpc>
              <a:spcBef>
                <a:spcPts val="0"/>
              </a:spcBef>
              <a:spcAft>
                <a:spcPts val="500"/>
              </a:spcAft>
            </a:pPr>
            <a:r>
              <a:rPr sz="3500" b="1">
                <a:solidFill>
                  <a:srgbClr val="007F79"/>
                </a:solidFill>
                <a:latin typeface="Aptos"/>
              </a:rPr>
              <a:t>22 → 0</a:t>
            </a:r>
          </a:p>
        </p:txBody>
      </p:sp>
      <p:sp>
        <p:nvSpPr>
          <p:cNvPr id="13" name="TextBox 12"/>
          <p:cNvSpPr txBox="1"/>
          <p:nvPr/>
        </p:nvSpPr>
        <p:spPr>
          <a:xfrm>
            <a:off x="4590288" y="3520440"/>
            <a:ext cx="3008376" cy="301752"/>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182630"/>
                </a:solidFill>
                <a:latin typeface="Aptos"/>
              </a:rPr>
              <a:t>Erreurs CLI</a:t>
            </a:r>
          </a:p>
        </p:txBody>
      </p:sp>
      <p:sp>
        <p:nvSpPr>
          <p:cNvPr id="14" name="TextBox 13"/>
          <p:cNvSpPr txBox="1"/>
          <p:nvPr/>
        </p:nvSpPr>
        <p:spPr>
          <a:xfrm>
            <a:off x="4590288" y="3950208"/>
            <a:ext cx="3008376" cy="329184"/>
          </a:xfrm>
          <a:prstGeom prst="rect">
            <a:avLst/>
          </a:prstGeom>
          <a:noFill/>
        </p:spPr>
        <p:txBody>
          <a:bodyPr wrap="square" lIns="0" rIns="0" tIns="0" bIns="0" anchor="t">
            <a:noAutofit/>
          </a:bodyPr>
          <a:lstStyle/>
          <a:p>
            <a:pPr algn="l">
              <a:lnSpc>
                <a:spcPct val="108000"/>
              </a:lnSpc>
              <a:spcBef>
                <a:spcPts val="0"/>
              </a:spcBef>
              <a:spcAft>
                <a:spcPts val="500"/>
              </a:spcAft>
            </a:pPr>
            <a:r>
              <a:rPr sz="1200" b="0">
                <a:solidFill>
                  <a:srgbClr val="52616C"/>
                </a:solidFill>
                <a:latin typeface="Aptos"/>
              </a:rPr>
              <a:t>Schémas activés ; 0 warning final</a:t>
            </a:r>
          </a:p>
        </p:txBody>
      </p:sp>
      <p:sp>
        <p:nvSpPr>
          <p:cNvPr id="15" name="Rounded Rectangle 14"/>
          <p:cNvSpPr/>
          <p:nvPr/>
        </p:nvSpPr>
        <p:spPr>
          <a:xfrm>
            <a:off x="8165592" y="2542032"/>
            <a:ext cx="3429000" cy="1920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5904" y="2752344"/>
            <a:ext cx="3008376" cy="603504"/>
          </a:xfrm>
          <a:prstGeom prst="rect">
            <a:avLst/>
          </a:prstGeom>
          <a:noFill/>
        </p:spPr>
        <p:txBody>
          <a:bodyPr wrap="square" lIns="0" rIns="0" tIns="0" bIns="0" anchor="t">
            <a:noAutofit/>
          </a:bodyPr>
          <a:lstStyle/>
          <a:p>
            <a:pPr algn="l">
              <a:lnSpc>
                <a:spcPct val="108000"/>
              </a:lnSpc>
              <a:spcBef>
                <a:spcPts val="0"/>
              </a:spcBef>
              <a:spcAft>
                <a:spcPts val="500"/>
              </a:spcAft>
            </a:pPr>
            <a:r>
              <a:rPr sz="3500" b="1">
                <a:solidFill>
                  <a:srgbClr val="007F79"/>
                </a:solidFill>
                <a:latin typeface="Aptos"/>
              </a:rPr>
              <a:t>11 850</a:t>
            </a:r>
          </a:p>
        </p:txBody>
      </p:sp>
      <p:sp>
        <p:nvSpPr>
          <p:cNvPr id="17" name="TextBox 16"/>
          <p:cNvSpPr txBox="1"/>
          <p:nvPr/>
        </p:nvSpPr>
        <p:spPr>
          <a:xfrm>
            <a:off x="8375904" y="3520440"/>
            <a:ext cx="3008376" cy="301752"/>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182630"/>
                </a:solidFill>
                <a:latin typeface="Aptos"/>
              </a:rPr>
              <a:t>Tests locaux réussis</a:t>
            </a:r>
          </a:p>
        </p:txBody>
      </p:sp>
      <p:sp>
        <p:nvSpPr>
          <p:cNvPr id="18" name="TextBox 17"/>
          <p:cNvSpPr txBox="1"/>
          <p:nvPr/>
        </p:nvSpPr>
        <p:spPr>
          <a:xfrm>
            <a:off x="8375904" y="3950208"/>
            <a:ext cx="3008376" cy="329184"/>
          </a:xfrm>
          <a:prstGeom prst="rect">
            <a:avLst/>
          </a:prstGeom>
          <a:noFill/>
        </p:spPr>
        <p:txBody>
          <a:bodyPr wrap="square" lIns="0" rIns="0" tIns="0" bIns="0" anchor="t">
            <a:noAutofit/>
          </a:bodyPr>
          <a:lstStyle/>
          <a:p>
            <a:pPr algn="l">
              <a:lnSpc>
                <a:spcPct val="108000"/>
              </a:lnSpc>
              <a:spcBef>
                <a:spcPts val="0"/>
              </a:spcBef>
              <a:spcAft>
                <a:spcPts val="500"/>
              </a:spcAft>
            </a:pPr>
            <a:r>
              <a:rPr sz="1200" b="0">
                <a:solidFill>
                  <a:srgbClr val="52616C"/>
                </a:solidFill>
                <a:latin typeface="Aptos"/>
              </a:rPr>
              <a:t>66 skipped ; 1 xfailed ; 1 warning</a:t>
            </a:r>
          </a:p>
        </p:txBody>
      </p:sp>
      <p:sp>
        <p:nvSpPr>
          <p:cNvPr id="19" name="TextBox 18"/>
          <p:cNvSpPr txBox="1"/>
          <p:nvPr/>
        </p:nvSpPr>
        <p:spPr>
          <a:xfrm>
            <a:off x="658368" y="4818888"/>
            <a:ext cx="10789920" cy="329184"/>
          </a:xfrm>
          <a:prstGeom prst="rect">
            <a:avLst/>
          </a:prstGeom>
          <a:noFill/>
        </p:spPr>
        <p:txBody>
          <a:bodyPr wrap="square" lIns="0" rIns="0" tIns="0" bIns="0" anchor="t">
            <a:noAutofit/>
          </a:bodyPr>
          <a:lstStyle/>
          <a:p>
            <a:pPr algn="l">
              <a:lnSpc>
                <a:spcPct val="108000"/>
              </a:lnSpc>
              <a:spcBef>
                <a:spcPts val="0"/>
              </a:spcBef>
              <a:spcAft>
                <a:spcPts val="500"/>
              </a:spcAft>
            </a:pPr>
            <a:r>
              <a:rPr sz="1700" b="1">
                <a:solidFill>
                  <a:srgbClr val="182630"/>
                </a:solidFill>
                <a:latin typeface="Aptos"/>
              </a:rPr>
              <a:t>Qualité unifiée : 4 PASS / 6 WARN / 0 FAIL — les réserves restent visibles.</a:t>
            </a:r>
          </a:p>
        </p:txBody>
      </p:sp>
      <p:sp>
        <p:nvSpPr>
          <p:cNvPr id="20" name="Rounded Rectangle 19"/>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Moteur modèle, ouverture Desktop, refresh, parité et déploiement : preuves séparées.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AUTO-RÉPARATION &amp; OWNERSHIP</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Réparer avec une trace et une nouvelle preuve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Les réparations déterministes et les experts n'ont pas le même rôle.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Auto-réparation &amp; ownership</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16</a:t>
            </a:r>
          </a:p>
        </p:txBody>
      </p:sp>
      <p:sp>
        <p:nvSpPr>
          <p:cNvPr id="7" name="Rounded Rectangle 6"/>
          <p:cNvSpPr/>
          <p:nvPr/>
        </p:nvSpPr>
        <p:spPr>
          <a:xfrm>
            <a:off x="594360" y="2450592"/>
            <a:ext cx="2468880" cy="1243584"/>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62432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Détecter</a:t>
            </a:r>
          </a:p>
        </p:txBody>
      </p:sp>
      <p:sp>
        <p:nvSpPr>
          <p:cNvPr id="9" name="TextBox 8"/>
          <p:cNvSpPr txBox="1"/>
          <p:nvPr/>
        </p:nvSpPr>
        <p:spPr>
          <a:xfrm>
            <a:off x="758952" y="3127248"/>
            <a:ext cx="2139696" cy="502920"/>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Erreurs et écarts</a:t>
            </a:r>
          </a:p>
        </p:txBody>
      </p:sp>
      <p:sp>
        <p:nvSpPr>
          <p:cNvPr id="10" name="Chevron 9"/>
          <p:cNvSpPr/>
          <p:nvPr/>
        </p:nvSpPr>
        <p:spPr>
          <a:xfrm>
            <a:off x="3145536" y="297180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2450592"/>
            <a:ext cx="2468880" cy="1243584"/>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62432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Corriger</a:t>
            </a:r>
          </a:p>
        </p:txBody>
      </p:sp>
      <p:sp>
        <p:nvSpPr>
          <p:cNvPr id="13" name="TextBox 12"/>
          <p:cNvSpPr txBox="1"/>
          <p:nvPr/>
        </p:nvSpPr>
        <p:spPr>
          <a:xfrm>
            <a:off x="3593592" y="3127248"/>
            <a:ext cx="2139696" cy="502920"/>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Règles déterministes</a:t>
            </a:r>
          </a:p>
        </p:txBody>
      </p:sp>
      <p:sp>
        <p:nvSpPr>
          <p:cNvPr id="14" name="Chevron 13"/>
          <p:cNvSpPr/>
          <p:nvPr/>
        </p:nvSpPr>
        <p:spPr>
          <a:xfrm>
            <a:off x="5980176" y="297180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2450592"/>
            <a:ext cx="2468880" cy="1243584"/>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62432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Revalider</a:t>
            </a:r>
          </a:p>
        </p:txBody>
      </p:sp>
      <p:sp>
        <p:nvSpPr>
          <p:cNvPr id="17" name="TextBox 16"/>
          <p:cNvSpPr txBox="1"/>
          <p:nvPr/>
        </p:nvSpPr>
        <p:spPr>
          <a:xfrm>
            <a:off x="6428232" y="3127248"/>
            <a:ext cx="2139696" cy="502920"/>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Contrôles ciblés</a:t>
            </a:r>
          </a:p>
        </p:txBody>
      </p:sp>
      <p:sp>
        <p:nvSpPr>
          <p:cNvPr id="18" name="Chevron 17"/>
          <p:cNvSpPr/>
          <p:nvPr/>
        </p:nvSpPr>
        <p:spPr>
          <a:xfrm>
            <a:off x="8814816" y="297180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98280" y="2450592"/>
            <a:ext cx="2468880" cy="1243584"/>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2872" y="262432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Tracer</a:t>
            </a:r>
          </a:p>
        </p:txBody>
      </p:sp>
      <p:sp>
        <p:nvSpPr>
          <p:cNvPr id="21" name="TextBox 20"/>
          <p:cNvSpPr txBox="1"/>
          <p:nvPr/>
        </p:nvSpPr>
        <p:spPr>
          <a:xfrm>
            <a:off x="9262872" y="3127248"/>
            <a:ext cx="2139696" cy="502920"/>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Preuves et réserves</a:t>
            </a:r>
          </a:p>
        </p:txBody>
      </p:sp>
      <p:sp>
        <p:nvSpPr>
          <p:cNvPr id="22" name="Rounded Rectangle 21"/>
          <p:cNvSpPr/>
          <p:nvPr/>
        </p:nvSpPr>
        <p:spPr>
          <a:xfrm>
            <a:off x="594360" y="4133087"/>
            <a:ext cx="5312664" cy="11338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297679"/>
            <a:ext cx="4892040"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17 spécialistes + 2 rôles de gouvernance</a:t>
            </a:r>
          </a:p>
        </p:txBody>
      </p:sp>
      <p:sp>
        <p:nvSpPr>
          <p:cNvPr id="24" name="TextBox 23"/>
          <p:cNvSpPr txBox="1"/>
          <p:nvPr/>
        </p:nvSpPr>
        <p:spPr>
          <a:xfrm>
            <a:off x="804672" y="4736592"/>
            <a:ext cx="4892040" cy="438912"/>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Propriété par fichier ; handoff explicite.</a:t>
            </a:r>
          </a:p>
        </p:txBody>
      </p:sp>
      <p:sp>
        <p:nvSpPr>
          <p:cNvPr id="25" name="Rounded Rectangle 24"/>
          <p:cNvSpPr/>
          <p:nvPr/>
        </p:nvSpPr>
        <p:spPr>
          <a:xfrm>
            <a:off x="6272784" y="4133087"/>
            <a:ext cx="5312664" cy="113385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83096" y="4297679"/>
            <a:ext cx="4892040"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Pas de dispatch automatique des experts</a:t>
            </a:r>
          </a:p>
        </p:txBody>
      </p:sp>
      <p:sp>
        <p:nvSpPr>
          <p:cNvPr id="27" name="TextBox 26"/>
          <p:cNvSpPr txBox="1"/>
          <p:nvPr/>
        </p:nvSpPr>
        <p:spPr>
          <a:xfrm>
            <a:off x="6483096" y="4736592"/>
            <a:ext cx="4892040" cy="438912"/>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Batch / shared-model n'invoquent pas le preceptor.</a:t>
            </a:r>
          </a:p>
        </p:txBody>
      </p:sp>
      <p:sp>
        <p:nvSpPr>
          <p:cNvPr id="28" name="Rounded Rectangle 27"/>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Une suggestion ou un ACK de handoff ne constitue pas une correction durable appliquée.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ASSISTANCE OPTIONNELLE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Skills Microsoft, MCP et cœur déterministe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Les références officielles améliorent l'authoring ; elles ne remplacent pas la recette.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Assistance optionnelle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17</a:t>
            </a:r>
          </a:p>
        </p:txBody>
      </p:sp>
      <p:sp>
        <p:nvSpPr>
          <p:cNvPr id="7" name="Rounded Rectangle 6"/>
          <p:cNvSpPr/>
          <p:nvPr/>
        </p:nvSpPr>
        <p:spPr>
          <a:xfrm>
            <a:off x="594360" y="2423160"/>
            <a:ext cx="3429000" cy="2697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4672" y="262432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5633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1</a:t>
            </a:r>
          </a:p>
        </p:txBody>
      </p:sp>
      <p:sp>
        <p:nvSpPr>
          <p:cNvPr id="10" name="TextBox 9"/>
          <p:cNvSpPr txBox="1"/>
          <p:nvPr/>
        </p:nvSpPr>
        <p:spPr>
          <a:xfrm>
            <a:off x="1289304" y="258775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Références officielles</a:t>
            </a:r>
          </a:p>
        </p:txBody>
      </p:sp>
      <p:sp>
        <p:nvSpPr>
          <p:cNvPr id="11" name="TextBox 10"/>
          <p:cNvSpPr txBox="1"/>
          <p:nvPr/>
        </p:nvSpPr>
        <p:spPr>
          <a:xfrm>
            <a:off x="804672" y="3310128"/>
            <a:ext cx="3008376" cy="1719072"/>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skills-for-fabric.</a:t>
            </a:r>
          </a:p>
          <a:p>
            <a:pPr algn="l">
              <a:lnSpc>
                <a:spcPct val="108000"/>
              </a:lnSpc>
              <a:spcBef>
                <a:spcPts val="0"/>
              </a:spcBef>
              <a:spcAft>
                <a:spcPts val="500"/>
              </a:spcAft>
            </a:pPr>
            <a:r>
              <a:rPr sz="1600" b="0">
                <a:solidFill>
                  <a:srgbClr val="182630"/>
                </a:solidFill>
                <a:latin typeface="Aptos"/>
              </a:rPr>
              <a:t>Métadonnées de rôles et formatage.</a:t>
            </a:r>
          </a:p>
          <a:p>
            <a:pPr algn="l">
              <a:lnSpc>
                <a:spcPct val="108000"/>
              </a:lnSpc>
              <a:spcBef>
                <a:spcPts val="0"/>
              </a:spcBef>
              <a:spcAft>
                <a:spcPts val="500"/>
              </a:spcAft>
            </a:pPr>
            <a:r>
              <a:rPr sz="1600" b="0">
                <a:solidFill>
                  <a:srgbClr val="182630"/>
                </a:solidFill>
                <a:latin typeface="Aptos"/>
              </a:rPr>
              <a:t>CLI Microsoft de validation PBIR.</a:t>
            </a:r>
          </a:p>
        </p:txBody>
      </p:sp>
      <p:sp>
        <p:nvSpPr>
          <p:cNvPr id="12" name="Rounded Rectangle 11"/>
          <p:cNvSpPr/>
          <p:nvPr/>
        </p:nvSpPr>
        <p:spPr>
          <a:xfrm>
            <a:off x="4379976" y="2423160"/>
            <a:ext cx="3429000" cy="2697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90288" y="262432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65633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2</a:t>
            </a:r>
          </a:p>
        </p:txBody>
      </p:sp>
      <p:sp>
        <p:nvSpPr>
          <p:cNvPr id="15" name="TextBox 14"/>
          <p:cNvSpPr txBox="1"/>
          <p:nvPr/>
        </p:nvSpPr>
        <p:spPr>
          <a:xfrm>
            <a:off x="5074920" y="258775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Outils &amp; suggestions</a:t>
            </a:r>
          </a:p>
        </p:txBody>
      </p:sp>
      <p:sp>
        <p:nvSpPr>
          <p:cNvPr id="16" name="TextBox 15"/>
          <p:cNvSpPr txBox="1"/>
          <p:nvPr/>
        </p:nvSpPr>
        <p:spPr>
          <a:xfrm>
            <a:off x="4590288" y="3310128"/>
            <a:ext cx="3008376" cy="1719072"/>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MCP borné et assistance LLM optionnelle.</a:t>
            </a:r>
          </a:p>
          <a:p>
            <a:pPr algn="l">
              <a:lnSpc>
                <a:spcPct val="108000"/>
              </a:lnSpc>
              <a:spcBef>
                <a:spcPts val="0"/>
              </a:spcBef>
              <a:spcAft>
                <a:spcPts val="500"/>
              </a:spcAft>
            </a:pPr>
            <a:r>
              <a:rPr sz="1600" b="0">
                <a:solidFill>
                  <a:srgbClr val="182630"/>
                </a:solidFill>
                <a:latin typeface="Aptos"/>
              </a:rPr>
              <a:t>Contexte, masquage des données sensibles et contrôle humain.</a:t>
            </a:r>
          </a:p>
        </p:txBody>
      </p:sp>
      <p:sp>
        <p:nvSpPr>
          <p:cNvPr id="17" name="Rounded Rectangle 16"/>
          <p:cNvSpPr/>
          <p:nvPr/>
        </p:nvSpPr>
        <p:spPr>
          <a:xfrm>
            <a:off x="8165592" y="2423160"/>
            <a:ext cx="3429000" cy="2697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75904" y="262432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75904" y="265633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3</a:t>
            </a:r>
          </a:p>
        </p:txBody>
      </p:sp>
      <p:sp>
        <p:nvSpPr>
          <p:cNvPr id="20" name="TextBox 19"/>
          <p:cNvSpPr txBox="1"/>
          <p:nvPr/>
        </p:nvSpPr>
        <p:spPr>
          <a:xfrm>
            <a:off x="8860536" y="258775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Production vérifiable</a:t>
            </a:r>
          </a:p>
        </p:txBody>
      </p:sp>
      <p:sp>
        <p:nvSpPr>
          <p:cNvPr id="21" name="TextBox 20"/>
          <p:cNvSpPr txBox="1"/>
          <p:nvPr/>
        </p:nvSpPr>
        <p:spPr>
          <a:xfrm>
            <a:off x="8375904" y="3310128"/>
            <a:ext cx="3008376" cy="1719072"/>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Générateurs déterministes.</a:t>
            </a:r>
          </a:p>
          <a:p>
            <a:pPr algn="l">
              <a:lnSpc>
                <a:spcPct val="108000"/>
              </a:lnSpc>
              <a:spcBef>
                <a:spcPts val="0"/>
              </a:spcBef>
              <a:spcAft>
                <a:spcPts val="500"/>
              </a:spcAft>
            </a:pPr>
            <a:r>
              <a:rPr sz="1600" b="0">
                <a:solidFill>
                  <a:srgbClr val="182630"/>
                </a:solidFill>
                <a:latin typeface="Aptos"/>
              </a:rPr>
              <a:t>Tests de non-régression.</a:t>
            </a:r>
          </a:p>
          <a:p>
            <a:pPr algn="l">
              <a:lnSpc>
                <a:spcPct val="108000"/>
              </a:lnSpc>
              <a:spcBef>
                <a:spcPts val="0"/>
              </a:spcBef>
              <a:spcAft>
                <a:spcPts val="500"/>
              </a:spcAft>
            </a:pPr>
            <a:r>
              <a:rPr sz="1600" b="0">
                <a:solidFill>
                  <a:srgbClr val="182630"/>
                </a:solidFill>
                <a:latin typeface="Aptos"/>
              </a:rPr>
              <a:t>Écarts et preuves persistés.</a:t>
            </a:r>
          </a:p>
        </p:txBody>
      </p:sp>
      <p:sp>
        <p:nvSpPr>
          <p:cNvPr id="22" name="Rounded Rectangle 21"/>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EULA du MCP modèle non acceptée : aucun résultat d'exécution moteur n'est revendiqué.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GOUVERNANCE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Séparer génération, accès et publication</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L'exploitation sécurisée dépend aussi des identités et de l'environnement cible.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Gouvernance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18</a:t>
            </a:r>
          </a:p>
        </p:txBody>
      </p:sp>
      <p:sp>
        <p:nvSpPr>
          <p:cNvPr id="7" name="Rounded Rectangle 6"/>
          <p:cNvSpPr/>
          <p:nvPr/>
        </p:nvSpPr>
        <p:spPr>
          <a:xfrm>
            <a:off x="594360" y="2423160"/>
            <a:ext cx="5312664" cy="2743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587752"/>
            <a:ext cx="4892040"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Protections dans le pipeline</a:t>
            </a:r>
          </a:p>
        </p:txBody>
      </p:sp>
      <p:sp>
        <p:nvSpPr>
          <p:cNvPr id="9" name="TextBox 8"/>
          <p:cNvSpPr txBox="1"/>
          <p:nvPr/>
        </p:nvSpPr>
        <p:spPr>
          <a:xfrm>
            <a:off x="804672" y="3310128"/>
            <a:ext cx="4892040" cy="1764792"/>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Validation des chemins et archives.</a:t>
            </a:r>
          </a:p>
          <a:p>
            <a:pPr algn="l">
              <a:lnSpc>
                <a:spcPct val="108000"/>
              </a:lnSpc>
              <a:spcBef>
                <a:spcPts val="0"/>
              </a:spcBef>
              <a:spcAft>
                <a:spcPts val="500"/>
              </a:spcAft>
            </a:pPr>
            <a:r>
              <a:rPr sz="1600" b="0">
                <a:solidFill>
                  <a:srgbClr val="182630"/>
                </a:solidFill>
                <a:latin typeface="Aptos"/>
              </a:rPr>
              <a:t>Parsing XML protégé.</a:t>
            </a:r>
          </a:p>
          <a:p>
            <a:pPr algn="l">
              <a:lnSpc>
                <a:spcPct val="108000"/>
              </a:lnSpc>
              <a:spcBef>
                <a:spcPts val="0"/>
              </a:spcBef>
              <a:spcAft>
                <a:spcPts val="500"/>
              </a:spcAft>
            </a:pPr>
            <a:r>
              <a:rPr sz="1600" b="0">
                <a:solidFill>
                  <a:srgbClr val="182630"/>
                </a:solidFill>
                <a:latin typeface="Aptos"/>
              </a:rPr>
              <a:t>Détection / masquage des identifiants sensibles.</a:t>
            </a:r>
          </a:p>
          <a:p>
            <a:pPr algn="l">
              <a:lnSpc>
                <a:spcPct val="108000"/>
              </a:lnSpc>
              <a:spcBef>
                <a:spcPts val="0"/>
              </a:spcBef>
              <a:spcAft>
                <a:spcPts val="500"/>
              </a:spcAft>
            </a:pPr>
            <a:r>
              <a:rPr sz="1600" b="0">
                <a:solidFill>
                  <a:srgbClr val="182630"/>
                </a:solidFill>
                <a:latin typeface="Aptos"/>
              </a:rPr>
              <a:t>Journaux et preuves à conserver.</a:t>
            </a:r>
          </a:p>
        </p:txBody>
      </p:sp>
      <p:sp>
        <p:nvSpPr>
          <p:cNvPr id="10" name="Rounded Rectangle 9"/>
          <p:cNvSpPr/>
          <p:nvPr/>
        </p:nvSpPr>
        <p:spPr>
          <a:xfrm>
            <a:off x="6272784" y="2423160"/>
            <a:ext cx="5312664" cy="27432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587752"/>
            <a:ext cx="4892040"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Responsabilités d'exploitation</a:t>
            </a:r>
          </a:p>
        </p:txBody>
      </p:sp>
      <p:sp>
        <p:nvSpPr>
          <p:cNvPr id="12" name="TextBox 11"/>
          <p:cNvSpPr txBox="1"/>
          <p:nvPr/>
        </p:nvSpPr>
        <p:spPr>
          <a:xfrm>
            <a:off x="6483096" y="3310128"/>
            <a:ext cx="4892040" cy="1764792"/>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Secrets hors dépôt et accès minimaux.</a:t>
            </a:r>
          </a:p>
          <a:p>
            <a:pPr algn="l">
              <a:lnSpc>
                <a:spcPct val="108000"/>
              </a:lnSpc>
              <a:spcBef>
                <a:spcPts val="0"/>
              </a:spcBef>
              <a:spcAft>
                <a:spcPts val="500"/>
              </a:spcAft>
            </a:pPr>
            <a:r>
              <a:rPr sz="1600" b="0">
                <a:solidFill>
                  <a:srgbClr val="182630"/>
                </a:solidFill>
                <a:latin typeface="Aptos"/>
              </a:rPr>
              <a:t>Identités, gateways et RLS testés.</a:t>
            </a:r>
          </a:p>
          <a:p>
            <a:pPr algn="l">
              <a:lnSpc>
                <a:spcPct val="108000"/>
              </a:lnSpc>
              <a:spcBef>
                <a:spcPts val="0"/>
              </a:spcBef>
              <a:spcAft>
                <a:spcPts val="500"/>
              </a:spcAft>
            </a:pPr>
            <a:r>
              <a:rPr sz="1600" b="0">
                <a:solidFill>
                  <a:srgbClr val="182630"/>
                </a:solidFill>
                <a:latin typeface="Aptos"/>
              </a:rPr>
              <a:t>Politique de rétention des exports Hyper.</a:t>
            </a:r>
          </a:p>
          <a:p>
            <a:pPr algn="l">
              <a:lnSpc>
                <a:spcPct val="108000"/>
              </a:lnSpc>
              <a:spcBef>
                <a:spcPts val="0"/>
              </a:spcBef>
              <a:spcAft>
                <a:spcPts val="500"/>
              </a:spcAft>
            </a:pPr>
            <a:r>
              <a:rPr sz="1600" b="0">
                <a:solidFill>
                  <a:srgbClr val="182630"/>
                </a:solidFill>
                <a:latin typeface="Aptos"/>
              </a:rPr>
              <a:t>Approbation explicite de publication.</a:t>
            </a:r>
          </a:p>
        </p:txBody>
      </p:sp>
      <p:sp>
        <p:nvSpPr>
          <p:cNvPr id="13" name="Rounded Rectangle 12"/>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Des contrôles intégrés ne remplacent pas une revue de sécurité propre au déploiement.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DÉPLOIEMENT</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Publier seulement après la recette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La génération locale ne crée pas implicitement une mise en production.</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Déploiement</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19</a:t>
            </a:r>
          </a:p>
        </p:txBody>
      </p:sp>
      <p:sp>
        <p:nvSpPr>
          <p:cNvPr id="7" name="Rounded Rectangle 6"/>
          <p:cNvSpPr/>
          <p:nvPr/>
        </p:nvSpPr>
        <p:spPr>
          <a:xfrm>
            <a:off x="594360" y="2587752"/>
            <a:ext cx="2468880" cy="1828800"/>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Configurer</a:t>
            </a:r>
          </a:p>
        </p:txBody>
      </p:sp>
      <p:sp>
        <p:nvSpPr>
          <p:cNvPr id="9" name="TextBox 8"/>
          <p:cNvSpPr txBox="1"/>
          <p:nvPr/>
        </p:nvSpPr>
        <p:spPr>
          <a:xfrm>
            <a:off x="758952" y="3264408"/>
            <a:ext cx="2139696" cy="1088136"/>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Workspace, identité,</a:t>
            </a:r>
          </a:p>
          <a:p>
            <a:pPr algn="ctr">
              <a:lnSpc>
                <a:spcPct val="108000"/>
              </a:lnSpc>
              <a:spcBef>
                <a:spcPts val="0"/>
              </a:spcBef>
              <a:spcAft>
                <a:spcPts val="500"/>
              </a:spcAft>
            </a:pPr>
            <a:r>
              <a:rPr sz="1400" b="0">
                <a:solidFill>
                  <a:srgbClr val="FFFFFF"/>
                </a:solidFill>
                <a:latin typeface="Aptos"/>
              </a:rPr>
              <a:t>connexions, gateway</a:t>
            </a:r>
          </a:p>
        </p:txBody>
      </p:sp>
      <p:sp>
        <p:nvSpPr>
          <p:cNvPr id="10" name="Chevron 9"/>
          <p:cNvSpPr/>
          <p:nvPr/>
        </p:nvSpPr>
        <p:spPr>
          <a:xfrm>
            <a:off x="3145536" y="338328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2587752"/>
            <a:ext cx="2468880" cy="1828800"/>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Prévisualiser</a:t>
            </a:r>
          </a:p>
        </p:txBody>
      </p:sp>
      <p:sp>
        <p:nvSpPr>
          <p:cNvPr id="13" name="TextBox 12"/>
          <p:cNvSpPr txBox="1"/>
          <p:nvPr/>
        </p:nvSpPr>
        <p:spPr>
          <a:xfrm>
            <a:off x="3593592" y="3264408"/>
            <a:ext cx="2139696" cy="1088136"/>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Artefacts, dépendances,</a:t>
            </a:r>
          </a:p>
          <a:p>
            <a:pPr algn="ctr">
              <a:lnSpc>
                <a:spcPct val="108000"/>
              </a:lnSpc>
              <a:spcBef>
                <a:spcPts val="0"/>
              </a:spcBef>
              <a:spcAft>
                <a:spcPts val="500"/>
              </a:spcAft>
            </a:pPr>
            <a:r>
              <a:rPr sz="1400" b="0">
                <a:solidFill>
                  <a:srgbClr val="FFFFFF"/>
                </a:solidFill>
                <a:latin typeface="Aptos"/>
              </a:rPr>
              <a:t>permissions et coûts</a:t>
            </a:r>
          </a:p>
        </p:txBody>
      </p:sp>
      <p:sp>
        <p:nvSpPr>
          <p:cNvPr id="14" name="Chevron 13"/>
          <p:cNvSpPr/>
          <p:nvPr/>
        </p:nvSpPr>
        <p:spPr>
          <a:xfrm>
            <a:off x="5980176" y="338328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2587752"/>
            <a:ext cx="2468880" cy="1828800"/>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Autoriser</a:t>
            </a:r>
          </a:p>
        </p:txBody>
      </p:sp>
      <p:sp>
        <p:nvSpPr>
          <p:cNvPr id="17" name="TextBox 16"/>
          <p:cNvSpPr txBox="1"/>
          <p:nvPr/>
        </p:nvSpPr>
        <p:spPr>
          <a:xfrm>
            <a:off x="6428232" y="3264408"/>
            <a:ext cx="2139696" cy="1088136"/>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Déploiement séparé,</a:t>
            </a:r>
          </a:p>
          <a:p>
            <a:pPr algn="ctr">
              <a:lnSpc>
                <a:spcPct val="108000"/>
              </a:lnSpc>
              <a:spcBef>
                <a:spcPts val="0"/>
              </a:spcBef>
              <a:spcAft>
                <a:spcPts val="500"/>
              </a:spcAft>
            </a:pPr>
            <a:r>
              <a:rPr sz="1400" b="0">
                <a:solidFill>
                  <a:srgbClr val="FFFFFF"/>
                </a:solidFill>
                <a:latin typeface="Aptos"/>
              </a:rPr>
              <a:t>acceptation du périmètre</a:t>
            </a:r>
          </a:p>
        </p:txBody>
      </p:sp>
      <p:sp>
        <p:nvSpPr>
          <p:cNvPr id="18" name="Chevron 17"/>
          <p:cNvSpPr/>
          <p:nvPr/>
        </p:nvSpPr>
        <p:spPr>
          <a:xfrm>
            <a:off x="8814816" y="338328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98280" y="2587752"/>
            <a:ext cx="2468880" cy="1828800"/>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287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Vérifier</a:t>
            </a:r>
          </a:p>
        </p:txBody>
      </p:sp>
      <p:sp>
        <p:nvSpPr>
          <p:cNvPr id="21" name="TextBox 20"/>
          <p:cNvSpPr txBox="1"/>
          <p:nvPr/>
        </p:nvSpPr>
        <p:spPr>
          <a:xfrm>
            <a:off x="9262872" y="3264408"/>
            <a:ext cx="2139696" cy="1088136"/>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Refresh, supervision,</a:t>
            </a:r>
          </a:p>
          <a:p>
            <a:pPr algn="ctr">
              <a:lnSpc>
                <a:spcPct val="108000"/>
              </a:lnSpc>
              <a:spcBef>
                <a:spcPts val="0"/>
              </a:spcBef>
              <a:spcAft>
                <a:spcPts val="500"/>
              </a:spcAft>
            </a:pPr>
            <a:r>
              <a:rPr sz="1400" b="0">
                <a:solidFill>
                  <a:srgbClr val="FFFFFF"/>
                </a:solidFill>
                <a:latin typeface="Aptos"/>
              </a:rPr>
              <a:t>reprise et rollback</a:t>
            </a:r>
          </a:p>
        </p:txBody>
      </p:sp>
      <p:sp>
        <p:nvSpPr>
          <p:cNvPr id="22" name="Rounded Rectangle 21"/>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Licences Power BI / capacité Fabric et coûts d'exploitation restent à budgéter.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DÉMARRAGE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Les commandes qui correspondent aux routes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Exemples depuis la racine du dépôt ; dossiers source et sortie distincts.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Démarrage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20</a:t>
            </a:r>
          </a:p>
        </p:txBody>
      </p:sp>
      <p:sp>
        <p:nvSpPr>
          <p:cNvPr id="7" name="TextBox 6"/>
          <p:cNvSpPr txBox="1"/>
          <p:nvPr/>
        </p:nvSpPr>
        <p:spPr>
          <a:xfrm>
            <a:off x="594360" y="2286000"/>
            <a:ext cx="11000232" cy="237744"/>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007F79"/>
                </a:solidFill>
                <a:latin typeface="Aptos"/>
              </a:rPr>
              <a:t>Navigateur local</a:t>
            </a:r>
          </a:p>
        </p:txBody>
      </p:sp>
      <p:sp>
        <p:nvSpPr>
          <p:cNvPr id="8" name="Rounded Rectangle 7"/>
          <p:cNvSpPr/>
          <p:nvPr/>
        </p:nvSpPr>
        <p:spPr>
          <a:xfrm>
            <a:off x="594360" y="2596896"/>
            <a:ext cx="11000232" cy="38404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670048"/>
            <a:ext cx="10597896" cy="228600"/>
          </a:xfrm>
          <a:prstGeom prst="rect">
            <a:avLst/>
          </a:prstGeom>
          <a:noFill/>
        </p:spPr>
        <p:txBody>
          <a:bodyPr wrap="square" lIns="0" rIns="0" tIns="0" bIns="0" anchor="t">
            <a:noAutofit/>
          </a:bodyPr>
          <a:lstStyle/>
          <a:p>
            <a:pPr algn="l">
              <a:lnSpc>
                <a:spcPct val="108000"/>
              </a:lnSpc>
              <a:spcBef>
                <a:spcPts val="0"/>
              </a:spcBef>
              <a:spcAft>
                <a:spcPts val="500"/>
              </a:spcAft>
            </a:pPr>
            <a:r>
              <a:rPr sz="1300" b="0">
                <a:solidFill>
                  <a:srgbClr val="FFFFFF"/>
                </a:solidFill>
                <a:latin typeface="Cascadia Code"/>
              </a:rPr>
              <a:t>.\run_web_ui.ps1</a:t>
            </a:r>
          </a:p>
        </p:txBody>
      </p:sp>
      <p:sp>
        <p:nvSpPr>
          <p:cNvPr id="10" name="TextBox 9"/>
          <p:cNvSpPr txBox="1"/>
          <p:nvPr/>
        </p:nvSpPr>
        <p:spPr>
          <a:xfrm>
            <a:off x="594360" y="3118104"/>
            <a:ext cx="11000232" cy="237744"/>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007F79"/>
                </a:solidFill>
                <a:latin typeface="Aptos"/>
              </a:rPr>
              <a:t>Batch, même pour 1 classeur</a:t>
            </a:r>
          </a:p>
        </p:txBody>
      </p:sp>
      <p:sp>
        <p:nvSpPr>
          <p:cNvPr id="11" name="Rounded Rectangle 10"/>
          <p:cNvSpPr/>
          <p:nvPr/>
        </p:nvSpPr>
        <p:spPr>
          <a:xfrm>
            <a:off x="594360" y="3429000"/>
            <a:ext cx="11000232" cy="38404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502152"/>
            <a:ext cx="10597896" cy="228600"/>
          </a:xfrm>
          <a:prstGeom prst="rect">
            <a:avLst/>
          </a:prstGeom>
          <a:noFill/>
        </p:spPr>
        <p:txBody>
          <a:bodyPr wrap="square" lIns="0" rIns="0" tIns="0" bIns="0" anchor="t">
            <a:noAutofit/>
          </a:bodyPr>
          <a:lstStyle/>
          <a:p>
            <a:pPr algn="l">
              <a:lnSpc>
                <a:spcPct val="108000"/>
              </a:lnSpc>
              <a:spcBef>
                <a:spcPts val="0"/>
              </a:spcBef>
              <a:spcAft>
                <a:spcPts val="500"/>
              </a:spcAft>
            </a:pPr>
            <a:r>
              <a:rPr sz="1300" b="0">
                <a:solidFill>
                  <a:srgbClr val="FFFFFF"/>
                </a:solidFill>
                <a:latin typeface="Cascadia Code"/>
              </a:rPr>
              <a:t>python migrate.py batch .\workbooks --output-dir .\output</a:t>
            </a:r>
          </a:p>
        </p:txBody>
      </p:sp>
      <p:sp>
        <p:nvSpPr>
          <p:cNvPr id="13" name="TextBox 12"/>
          <p:cNvSpPr txBox="1"/>
          <p:nvPr/>
        </p:nvSpPr>
        <p:spPr>
          <a:xfrm>
            <a:off x="594360" y="3950208"/>
            <a:ext cx="11000232" cy="237744"/>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007F79"/>
                </a:solidFill>
                <a:latin typeface="Aptos"/>
              </a:rPr>
              <a:t>Forcer Import</a:t>
            </a:r>
          </a:p>
        </p:txBody>
      </p:sp>
      <p:sp>
        <p:nvSpPr>
          <p:cNvPr id="14" name="Rounded Rectangle 13"/>
          <p:cNvSpPr/>
          <p:nvPr/>
        </p:nvSpPr>
        <p:spPr>
          <a:xfrm>
            <a:off x="594360" y="4261104"/>
            <a:ext cx="11000232" cy="38404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4334256"/>
            <a:ext cx="10597896" cy="228600"/>
          </a:xfrm>
          <a:prstGeom prst="rect">
            <a:avLst/>
          </a:prstGeom>
          <a:noFill/>
        </p:spPr>
        <p:txBody>
          <a:bodyPr wrap="square" lIns="0" rIns="0" tIns="0" bIns="0" anchor="t">
            <a:noAutofit/>
          </a:bodyPr>
          <a:lstStyle/>
          <a:p>
            <a:pPr algn="l">
              <a:lnSpc>
                <a:spcPct val="108000"/>
              </a:lnSpc>
              <a:spcBef>
                <a:spcPts val="0"/>
              </a:spcBef>
              <a:spcAft>
                <a:spcPts val="500"/>
              </a:spcAft>
            </a:pPr>
            <a:r>
              <a:rPr sz="1300" b="0">
                <a:solidFill>
                  <a:srgbClr val="FFFFFF"/>
                </a:solidFill>
                <a:latin typeface="Cascadia Code"/>
              </a:rPr>
              <a:t>python migrate.py batch .\workbooks --mode import --output-dir .\output</a:t>
            </a:r>
          </a:p>
        </p:txBody>
      </p:sp>
      <p:sp>
        <p:nvSpPr>
          <p:cNvPr id="16" name="TextBox 15"/>
          <p:cNvSpPr txBox="1"/>
          <p:nvPr/>
        </p:nvSpPr>
        <p:spPr>
          <a:xfrm>
            <a:off x="594360" y="4782312"/>
            <a:ext cx="11000232" cy="237744"/>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007F79"/>
                </a:solidFill>
                <a:latin typeface="Aptos"/>
              </a:rPr>
              <a:t>Assessment sans génération</a:t>
            </a:r>
          </a:p>
        </p:txBody>
      </p:sp>
      <p:sp>
        <p:nvSpPr>
          <p:cNvPr id="17" name="Rounded Rectangle 16"/>
          <p:cNvSpPr/>
          <p:nvPr/>
        </p:nvSpPr>
        <p:spPr>
          <a:xfrm>
            <a:off x="594360" y="5093208"/>
            <a:ext cx="11000232" cy="38404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5166360"/>
            <a:ext cx="10597896" cy="228600"/>
          </a:xfrm>
          <a:prstGeom prst="rect">
            <a:avLst/>
          </a:prstGeom>
          <a:noFill/>
        </p:spPr>
        <p:txBody>
          <a:bodyPr wrap="square" lIns="0" rIns="0" tIns="0" bIns="0" anchor="t">
            <a:noAutofit/>
          </a:bodyPr>
          <a:lstStyle/>
          <a:p>
            <a:pPr algn="l">
              <a:lnSpc>
                <a:spcPct val="108000"/>
              </a:lnSpc>
              <a:spcBef>
                <a:spcPts val="0"/>
              </a:spcBef>
              <a:spcAft>
                <a:spcPts val="500"/>
              </a:spcAft>
            </a:pPr>
            <a:r>
              <a:rPr sz="1300" b="0">
                <a:solidFill>
                  <a:srgbClr val="FFFFFF"/>
                </a:solidFill>
                <a:latin typeface="Cascadia Code"/>
              </a:rPr>
              <a:t>python migrate.py assess .\workbook.twbx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CRITÈRES D'ACCEPTATION</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Un contrat de recette avant l'industrialisation</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Les approximations et prérequis deviennent des éléments de décision, pas des surprises.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Critères d'acceptation</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21</a:t>
            </a:r>
          </a:p>
        </p:txBody>
      </p:sp>
      <p:sp>
        <p:nvSpPr>
          <p:cNvPr id="7" name="Rounded Rectangle 6"/>
          <p:cNvSpPr/>
          <p:nvPr/>
        </p:nvSpPr>
        <p:spPr>
          <a:xfrm>
            <a:off x="594360" y="2423160"/>
            <a:ext cx="5312664" cy="27249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587752"/>
            <a:ext cx="4892040"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Vérifier sur un échantillon</a:t>
            </a:r>
          </a:p>
        </p:txBody>
      </p:sp>
      <p:sp>
        <p:nvSpPr>
          <p:cNvPr id="9" name="TextBox 8"/>
          <p:cNvSpPr txBox="1"/>
          <p:nvPr/>
        </p:nvSpPr>
        <p:spPr>
          <a:xfrm>
            <a:off x="804672" y="3310128"/>
            <a:ext cx="4892040" cy="1746503"/>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Sources représentatives et accès réels.</a:t>
            </a:r>
          </a:p>
          <a:p>
            <a:pPr algn="l">
              <a:lnSpc>
                <a:spcPct val="108000"/>
              </a:lnSpc>
              <a:spcBef>
                <a:spcPts val="0"/>
              </a:spcBef>
              <a:spcAft>
                <a:spcPts val="500"/>
              </a:spcAft>
            </a:pPr>
            <a:r>
              <a:rPr sz="1600" b="0">
                <a:solidFill>
                  <a:srgbClr val="182630"/>
                </a:solidFill>
                <a:latin typeface="Aptos"/>
              </a:rPr>
              <a:t>Refresh, sauvegarde / réouverture.</a:t>
            </a:r>
          </a:p>
          <a:p>
            <a:pPr algn="l">
              <a:lnSpc>
                <a:spcPct val="108000"/>
              </a:lnSpc>
              <a:spcBef>
                <a:spcPts val="0"/>
              </a:spcBef>
              <a:spcAft>
                <a:spcPts val="500"/>
              </a:spcAft>
            </a:pPr>
            <a:r>
              <a:rPr sz="1600" b="0">
                <a:solidFill>
                  <a:srgbClr val="182630"/>
                </a:solidFill>
                <a:latin typeface="Aptos"/>
              </a:rPr>
              <a:t>Valeurs aux tolérances convenues.</a:t>
            </a:r>
          </a:p>
          <a:p>
            <a:pPr algn="l">
              <a:lnSpc>
                <a:spcPct val="108000"/>
              </a:lnSpc>
              <a:spcBef>
                <a:spcPts val="0"/>
              </a:spcBef>
              <a:spcAft>
                <a:spcPts val="500"/>
              </a:spcAft>
            </a:pPr>
            <a:r>
              <a:rPr sz="1600" b="0">
                <a:solidFill>
                  <a:srgbClr val="182630"/>
                </a:solidFill>
                <a:latin typeface="Aptos"/>
              </a:rPr>
              <a:t>Captures comparées et interactions.</a:t>
            </a:r>
          </a:p>
        </p:txBody>
      </p:sp>
      <p:sp>
        <p:nvSpPr>
          <p:cNvPr id="10" name="Rounded Rectangle 9"/>
          <p:cNvSpPr/>
          <p:nvPr/>
        </p:nvSpPr>
        <p:spPr>
          <a:xfrm>
            <a:off x="6272784" y="2423160"/>
            <a:ext cx="5312664" cy="272491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587752"/>
            <a:ext cx="4892040"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Documenter ce qui reste ouvert</a:t>
            </a:r>
          </a:p>
        </p:txBody>
      </p:sp>
      <p:sp>
        <p:nvSpPr>
          <p:cNvPr id="12" name="TextBox 11"/>
          <p:cNvSpPr txBox="1"/>
          <p:nvPr/>
        </p:nvSpPr>
        <p:spPr>
          <a:xfrm>
            <a:off x="6483096" y="3310128"/>
            <a:ext cx="4892040" cy="1746503"/>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DAX / LOD, contexte et cardinalités.</a:t>
            </a:r>
          </a:p>
          <a:p>
            <a:pPr algn="l">
              <a:lnSpc>
                <a:spcPct val="108000"/>
              </a:lnSpc>
              <a:spcBef>
                <a:spcPts val="0"/>
              </a:spcBef>
              <a:spcAft>
                <a:spcPts val="500"/>
              </a:spcAft>
            </a:pPr>
            <a:r>
              <a:rPr sz="1600" b="0">
                <a:solidFill>
                  <a:srgbClr val="182630"/>
                </a:solidFill>
                <a:latin typeface="Aptos"/>
              </a:rPr>
              <a:t>Custom visuals et connecteurs requis.</a:t>
            </a:r>
          </a:p>
          <a:p>
            <a:pPr algn="l">
              <a:lnSpc>
                <a:spcPct val="108000"/>
              </a:lnSpc>
              <a:spcBef>
                <a:spcPts val="0"/>
              </a:spcBef>
              <a:spcAft>
                <a:spcPts val="500"/>
              </a:spcAft>
            </a:pPr>
            <a:r>
              <a:rPr sz="1600" b="0">
                <a:solidFill>
                  <a:srgbClr val="182630"/>
                </a:solidFill>
                <a:latin typeface="Aptos"/>
              </a:rPr>
              <a:t>Dialectes Prep non pris en charge.</a:t>
            </a:r>
          </a:p>
          <a:p>
            <a:pPr algn="l">
              <a:lnSpc>
                <a:spcPct val="108000"/>
              </a:lnSpc>
              <a:spcBef>
                <a:spcPts val="0"/>
              </a:spcBef>
              <a:spcAft>
                <a:spcPts val="500"/>
              </a:spcAft>
            </a:pPr>
            <a:r>
              <a:rPr sz="1600" b="0">
                <a:solidFill>
                  <a:srgbClr val="182630"/>
                </a:solidFill>
                <a:latin typeface="Aptos"/>
              </a:rPr>
              <a:t>RLS, parité et contrôles not_run.</a:t>
            </a:r>
          </a:p>
        </p:txBody>
      </p:sp>
      <p:sp>
        <p:nvSpPr>
          <p:cNvPr id="13" name="Rounded Rectangle 12"/>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97 clés de dispatch, alias inclus → 55 fonctions de connecteurs distinctes ; pas 97 garanties.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RÉFÉRENCES TECHNIQUES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Sources, hypothèses et périmètre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Les notes de chaque diapositive conservent les références et précautions utiles.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Références techniques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22</a:t>
            </a:r>
          </a:p>
        </p:txBody>
      </p:sp>
      <p:sp>
        <p:nvSpPr>
          <p:cNvPr id="7" name="Rounded Rectangle 6"/>
          <p:cNvSpPr/>
          <p:nvPr/>
        </p:nvSpPr>
        <p:spPr>
          <a:xfrm>
            <a:off x="594360" y="2359152"/>
            <a:ext cx="5029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95728"/>
            <a:ext cx="3200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01</a:t>
            </a:r>
          </a:p>
        </p:txBody>
      </p:sp>
      <p:sp>
        <p:nvSpPr>
          <p:cNvPr id="9" name="TextBox 8"/>
          <p:cNvSpPr txBox="1"/>
          <p:nvPr/>
        </p:nvSpPr>
        <p:spPr>
          <a:xfrm>
            <a:off x="1353312" y="2368296"/>
            <a:ext cx="9966960" cy="310896"/>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266A0"/>
                </a:solidFill>
                <a:latin typeface="Aptos"/>
                <a:hlinkClick r:id="rId3"/>
              </a:rPr>
              <a:t>Architecture &amp; modes de source</a:t>
            </a:r>
          </a:p>
        </p:txBody>
      </p:sp>
      <p:sp>
        <p:nvSpPr>
          <p:cNvPr id="10" name="Rounded Rectangle 9"/>
          <p:cNvSpPr/>
          <p:nvPr/>
        </p:nvSpPr>
        <p:spPr>
          <a:xfrm>
            <a:off x="594360" y="2980944"/>
            <a:ext cx="5029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017520"/>
            <a:ext cx="3200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02</a:t>
            </a:r>
          </a:p>
        </p:txBody>
      </p:sp>
      <p:sp>
        <p:nvSpPr>
          <p:cNvPr id="12" name="TextBox 11"/>
          <p:cNvSpPr txBox="1"/>
          <p:nvPr/>
        </p:nvSpPr>
        <p:spPr>
          <a:xfrm>
            <a:off x="1353312" y="2990088"/>
            <a:ext cx="9966960" cy="310896"/>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266A0"/>
                </a:solidFill>
                <a:latin typeface="Aptos"/>
                <a:hlinkClick r:id="rId4"/>
              </a:rPr>
              <a:t>Fonctionnalités &amp; preuves du 23.10.2026</a:t>
            </a:r>
          </a:p>
        </p:txBody>
      </p:sp>
      <p:sp>
        <p:nvSpPr>
          <p:cNvPr id="13" name="Rounded Rectangle 12"/>
          <p:cNvSpPr/>
          <p:nvPr/>
        </p:nvSpPr>
        <p:spPr>
          <a:xfrm>
            <a:off x="594360" y="3602736"/>
            <a:ext cx="5029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39312"/>
            <a:ext cx="3200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03</a:t>
            </a:r>
          </a:p>
        </p:txBody>
      </p:sp>
      <p:sp>
        <p:nvSpPr>
          <p:cNvPr id="15" name="TextBox 14"/>
          <p:cNvSpPr txBox="1"/>
          <p:nvPr/>
        </p:nvSpPr>
        <p:spPr>
          <a:xfrm>
            <a:off x="1353312" y="3611880"/>
            <a:ext cx="9966960" cy="310896"/>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266A0"/>
                </a:solidFill>
                <a:latin typeface="Aptos"/>
                <a:hlinkClick r:id="rId5"/>
              </a:rPr>
              <a:t>Checklist de recette &amp; limites connues</a:t>
            </a:r>
          </a:p>
        </p:txBody>
      </p:sp>
      <p:sp>
        <p:nvSpPr>
          <p:cNvPr id="16" name="Rounded Rectangle 15"/>
          <p:cNvSpPr/>
          <p:nvPr/>
        </p:nvSpPr>
        <p:spPr>
          <a:xfrm>
            <a:off x="594360" y="4224528"/>
            <a:ext cx="5029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261104"/>
            <a:ext cx="3200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04</a:t>
            </a:r>
          </a:p>
        </p:txBody>
      </p:sp>
      <p:sp>
        <p:nvSpPr>
          <p:cNvPr id="18" name="TextBox 17"/>
          <p:cNvSpPr txBox="1"/>
          <p:nvPr/>
        </p:nvSpPr>
        <p:spPr>
          <a:xfrm>
            <a:off x="1353312" y="4233672"/>
            <a:ext cx="9966960" cy="310896"/>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266A0"/>
                </a:solidFill>
                <a:latin typeface="Aptos"/>
                <a:hlinkClick r:id="rId6"/>
              </a:rPr>
              <a:t>Validation Microsoft optionnelle</a:t>
            </a:r>
          </a:p>
        </p:txBody>
      </p:sp>
      <p:sp>
        <p:nvSpPr>
          <p:cNvPr id="19" name="TextBox 18"/>
          <p:cNvSpPr txBox="1"/>
          <p:nvPr/>
        </p:nvSpPr>
        <p:spPr>
          <a:xfrm>
            <a:off x="594360" y="5138928"/>
            <a:ext cx="11000232" cy="658368"/>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La date d'édition n'est pas une version livrée.</a:t>
            </a:r>
          </a:p>
          <a:p>
            <a:pPr algn="l">
              <a:lnSpc>
                <a:spcPct val="108000"/>
              </a:lnSpc>
              <a:spcBef>
                <a:spcPts val="0"/>
              </a:spcBef>
              <a:spcAft>
                <a:spcPts val="500"/>
              </a:spcAft>
            </a:pPr>
            <a:r>
              <a:rPr sz="1500" b="0">
                <a:solidFill>
                  <a:srgbClr val="52616C"/>
                </a:solidFill>
                <a:latin typeface="Aptos"/>
              </a:rPr>
              <a:t>Les mappings ne garantissent ni la fidélité rendue ni la disponibilité des connecteurs.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D26"/>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F2C811"/>
                </a:solidFill>
                <a:latin typeface="Aptos"/>
              </a:rPr>
              <a:t>SYNTHÈSE TECHNIQUE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FFFFFF"/>
                </a:solidFill>
                <a:latin typeface="Aptos Display"/>
              </a:rPr>
              <a:t/>
            </a:r>
          </a:p>
        </p:txBody>
      </p:sp>
      <p:sp>
        <p:nvSpPr>
          <p:cNvPr id="4" name="TextBox 3"/>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C9D8DF"/>
                </a:solidFill>
                <a:latin typeface="Aptos"/>
              </a:rPr>
              <a:t>Tableau to Power BI  |  Édition 26.10.2026  |  Synthèse technique</a:t>
            </a:r>
          </a:p>
        </p:txBody>
      </p:sp>
      <p:sp>
        <p:nvSpPr>
          <p:cNvPr id="5" name="TextBox 4"/>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C9D8DF"/>
                </a:solidFill>
                <a:latin typeface="Aptos"/>
              </a:rPr>
              <a:t>23</a:t>
            </a:r>
          </a:p>
        </p:txBody>
      </p:sp>
      <p:sp>
        <p:nvSpPr>
          <p:cNvPr id="6" name="Closing title"/>
          <p:cNvSpPr txBox="1"/>
          <p:nvPr/>
        </p:nvSpPr>
        <p:spPr>
          <a:xfrm>
            <a:off x="594360" y="1417320"/>
            <a:ext cx="10607040" cy="1554480"/>
          </a:xfrm>
          <a:prstGeom prst="rect">
            <a:avLst/>
          </a:prstGeom>
          <a:noFill/>
        </p:spPr>
        <p:txBody>
          <a:bodyPr wrap="square" lIns="0" rIns="0" tIns="0" bIns="0" anchor="t">
            <a:noAutofit/>
          </a:bodyPr>
          <a:lstStyle/>
          <a:p>
            <a:pPr algn="l">
              <a:lnSpc>
                <a:spcPct val="108000"/>
              </a:lnSpc>
              <a:spcBef>
                <a:spcPts val="0"/>
              </a:spcBef>
              <a:spcAft>
                <a:spcPts val="500"/>
              </a:spcAft>
            </a:pPr>
            <a:r>
              <a:rPr sz="4400" b="1">
                <a:solidFill>
                  <a:srgbClr val="FFFFFF"/>
                </a:solidFill>
                <a:latin typeface="Aptos Display"/>
              </a:rPr>
              <a:t>Un socle généré.</a:t>
            </a:r>
          </a:p>
          <a:p>
            <a:pPr algn="l">
              <a:lnSpc>
                <a:spcPct val="108000"/>
              </a:lnSpc>
              <a:spcBef>
                <a:spcPts val="0"/>
              </a:spcBef>
              <a:spcAft>
                <a:spcPts val="500"/>
              </a:spcAft>
            </a:pPr>
            <a:r>
              <a:rPr sz="4400" b="1">
                <a:solidFill>
                  <a:srgbClr val="FFFFFF"/>
                </a:solidFill>
                <a:latin typeface="Aptos Display"/>
              </a:rPr>
              <a:t>Une acceptation à démontrer.</a:t>
            </a:r>
          </a:p>
        </p:txBody>
      </p:sp>
      <p:sp>
        <p:nvSpPr>
          <p:cNvPr id="7" name="TextBox 6"/>
          <p:cNvSpPr txBox="1"/>
          <p:nvPr/>
        </p:nvSpPr>
        <p:spPr>
          <a:xfrm>
            <a:off x="594360" y="3474720"/>
            <a:ext cx="10607040" cy="694944"/>
          </a:xfrm>
          <a:prstGeom prst="rect">
            <a:avLst/>
          </a:prstGeom>
          <a:noFill/>
        </p:spPr>
        <p:txBody>
          <a:bodyPr wrap="square" lIns="0" rIns="0" tIns="0" bIns="0" anchor="t">
            <a:noAutofit/>
          </a:bodyPr>
          <a:lstStyle/>
          <a:p>
            <a:pPr algn="l">
              <a:lnSpc>
                <a:spcPct val="108000"/>
              </a:lnSpc>
              <a:spcBef>
                <a:spcPts val="0"/>
              </a:spcBef>
              <a:spcAft>
                <a:spcPts val="500"/>
              </a:spcAft>
            </a:pPr>
            <a:r>
              <a:rPr sz="2300" b="0">
                <a:solidFill>
                  <a:srgbClr val="C9D8DF"/>
                </a:solidFill>
                <a:latin typeface="Aptos"/>
              </a:rPr>
              <a:t>Métadonnées → projets éditables → preuves → décision humaine.</a:t>
            </a:r>
          </a:p>
        </p:txBody>
      </p:sp>
      <p:sp>
        <p:nvSpPr>
          <p:cNvPr id="8" name="Rounded Rectangle 7"/>
          <p:cNvSpPr/>
          <p:nvPr/>
        </p:nvSpPr>
        <p:spPr>
          <a:xfrm>
            <a:off x="594360" y="4809744"/>
            <a:ext cx="2468880" cy="320040"/>
          </a:xfrm>
          <a:prstGeom prst="roundRect">
            <a:avLst>
              <a:gd name="adj" fmla="val 12000"/>
            </a:avLst>
          </a:prstGeom>
          <a:solidFill>
            <a:srgbClr val="203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846320"/>
            <a:ext cx="22860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FFFFFF"/>
                </a:solidFill>
                <a:latin typeface="Aptos"/>
              </a:rPr>
              <a:t>EXTRAIRE</a:t>
            </a:r>
          </a:p>
        </p:txBody>
      </p:sp>
      <p:sp>
        <p:nvSpPr>
          <p:cNvPr id="10" name="Rounded Rectangle 9"/>
          <p:cNvSpPr/>
          <p:nvPr/>
        </p:nvSpPr>
        <p:spPr>
          <a:xfrm>
            <a:off x="3429000" y="4809744"/>
            <a:ext cx="2468880" cy="320040"/>
          </a:xfrm>
          <a:prstGeom prst="roundRect">
            <a:avLst>
              <a:gd name="adj" fmla="val 12000"/>
            </a:avLst>
          </a:prstGeom>
          <a:solidFill>
            <a:srgbClr val="203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4846320"/>
            <a:ext cx="22860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FFFFFF"/>
                </a:solidFill>
                <a:latin typeface="Aptos"/>
              </a:rPr>
              <a:t>GÉNÉRER</a:t>
            </a:r>
          </a:p>
        </p:txBody>
      </p:sp>
      <p:sp>
        <p:nvSpPr>
          <p:cNvPr id="12" name="Rounded Rectangle 11"/>
          <p:cNvSpPr/>
          <p:nvPr/>
        </p:nvSpPr>
        <p:spPr>
          <a:xfrm>
            <a:off x="6263640" y="4809744"/>
            <a:ext cx="2468880" cy="320040"/>
          </a:xfrm>
          <a:prstGeom prst="roundRect">
            <a:avLst>
              <a:gd name="adj" fmla="val 12000"/>
            </a:avLst>
          </a:prstGeom>
          <a:solidFill>
            <a:srgbClr val="F2C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846320"/>
            <a:ext cx="22860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182630"/>
                </a:solidFill>
                <a:latin typeface="Aptos"/>
              </a:rPr>
              <a:t>VALIDER</a:t>
            </a:r>
          </a:p>
        </p:txBody>
      </p:sp>
      <p:sp>
        <p:nvSpPr>
          <p:cNvPr id="14" name="Rounded Rectangle 13"/>
          <p:cNvSpPr/>
          <p:nvPr/>
        </p:nvSpPr>
        <p:spPr>
          <a:xfrm>
            <a:off x="9098280" y="4809744"/>
            <a:ext cx="2468880" cy="320040"/>
          </a:xfrm>
          <a:prstGeom prst="roundRect">
            <a:avLst>
              <a:gd name="adj" fmla="val 12000"/>
            </a:avLst>
          </a:prstGeom>
          <a:solidFill>
            <a:srgbClr val="203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4846320"/>
            <a:ext cx="22860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FFFFFF"/>
                </a:solidFill>
                <a:latin typeface="Aptos"/>
              </a:rPr>
              <a:t>AUTORISER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Power BI — Architecture et workflows</dc:title>
  <dc:subject>Édition 26.10.2026 ; preuves datées ; hypothèses commerciales illustratives</dc:subject>
  <dc:creator>TableauToPowerBI project</dc:creator>
  <cp:keywords>Tableau, Power BI, PBIP, architecture, migration</cp:keywords>
  <dc:description>Generated by docs/generate_pptx.py</dc:description>
  <cp:lastModifiedBy>TableauToPowerBI project</cp:lastModifiedBy>
  <cp:revision>1</cp:revision>
  <dcterms:created xsi:type="dcterms:W3CDTF">2026-10-26T00:00:00Z</dcterms:created>
  <dcterms:modified xsi:type="dcterms:W3CDTF">2026-10-26T00:00:00Z</dcterms:modified>
  <cp:category/>
</cp:coreProperties>
</file>